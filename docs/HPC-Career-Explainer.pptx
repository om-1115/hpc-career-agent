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d2f3e27-06d9-4757-6832-22cb4c06b8ea}">
          <p14:sldIdLst>
            <p14:sldId id="256"/>
          </p14:sldIdLst>
        </p14:section>
        <p14:section name="Problem" id="{c559f56c-289c-2679-26e5-657df3519051}">
          <p14:sldIdLst>
            <p14:sldId id="257"/>
            <p14:sldId id="258"/>
          </p14:sldIdLst>
        </p14:section>
        <p14:section name="Solution" id="{c2c7fa41-af78-a78a-d75c-b12d2dd07144}">
          <p14:sldIdLst>
            <p14:sldId id="259"/>
            <p14:sldId id="260"/>
            <p14:sldId id="261"/>
            <p14:sldId id="262"/>
            <p14:sldId id="263"/>
          </p14:sldIdLst>
        </p14:section>
        <p14:section name="How it works" id="{9f881d37-51b4-20da-1c39-f00280f3b327}">
          <p14:sldIdLst>
            <p14:sldId id="264"/>
            <p14:sldId id="265"/>
          </p14:sldIdLst>
        </p14:section>
        <p14:section name="Impact" id="{b2acad74-121d-d960-34c7-914ff0ab6f92}">
          <p14:sldIdLst>
            <p14:sldId id="266"/>
            <p14:sldId id="267"/>
          </p14:sldIdLst>
        </p14:section>
        <p14:section name="Close" id="{817bb377-0331-52aa-38cd-b448a479c2f7}">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puts career guidance inside the Holistic Progress Card. A student takes a ten-minute test on a phone, gets a report they can actually read, and sees real careers with the route to each from Class 10. Their teacher sees the whole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India has about 24.8 crore school students. In one survey of ten thousand students, 93 percent knew only seven career options, out of roughly 250. And among low-income students in Classes 9 to 12, fewer than one in ten had ever received any career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stream decision comes at fifteen, and it is mostly made on advice from home: family is the top influence, teachers a distant second. Meanwhile, NEP 2020 replaced marks-only report cards with the Holistic Progress Card. It describes the whole child, but it does not yet help with the question every Class 10 student faces: what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adds a Career tab to the progress card. Students take a short test, read a report written for them, explore careers with real Indian routes, and can ask a counsellor chat about streams and exams. Teachers get a class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journey. The student signs in with the code their school gives them, takes the test one question at a time, reads their report, and explores careers sorted by how well they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has 56 questions and takes about ten minutes. Thirty-six interest questions, six for each RIASEC type, ask about everyday activities. Twenty personality questions come from the public-domain Mini-IPIP. It is built for a shared phone, and it is scored only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report is written for the student. It names their interest code, describes their personality as strengths, lists six careers that fit with the route to each, and ends with next steps. It prints cleanly so the family can discuss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Teachers see who has finished, where the class’s interests lie, and each student’s interest code: a ready starting point for a one-to-one or a parent meeting. Students can also ask the counsellor chat about streams and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simple to run: a phone web app, one small server, and a scoring module with unit tests. Accounts and results start in a single file. The counsellor is scripted today, with one function where an AI model plugs in. Passwords are hashed, accounts lock after five wrong tries, and every page is gated by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honest about what a ten-minute test can say. The report calls itself a conversation starter. Every trait is described as a strength. The personality items are public domain and everything else is open source. Only the student and their teacher see a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we map to the four judging criteria. The size is every school student in India. The severity is a stream chosen at fifteen with almost no guidance. Quality comes from tested, accessible, open code. And for proven impact, we will pilot in a school and measure completion, conversations at home and teacher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built and open now. In progress: the counsellor becomes an AI agent, built in AgentFoundry, that reads the student’s result, finds careers and saves a plan. Next, a pilot with a partner school to measure real use and outcomes. Then Hindi and other Indian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 Career is open source. Clone it, seed the demo school, and sign in as a student or a teacher. Every student deserves a career conversation, and this puts one in their pocket.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rtlCol="0"/>
          <a:lstStyle>
            <a:lvl1pPr algn="l" indent="0" marL="0">
              <a:buNone/>
              <a:defRPr lang="en-US" sz="1600" dirty="0">
                <a:solidFill>
                  <a:schemeClr val="accent4"/>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nvSpPr>
        <p:spPr>
          <a:xfrm>
            <a:off x="457200" y="4773168"/>
            <a:ext cx="5486400" cy="228600"/>
          </a:xfrm>
          <a:prstGeom prst="rect">
            <a:avLst/>
          </a:prstGeom>
          <a:noFill/>
          <a:ln/>
        </p:spPr>
        <p:txBody>
          <a:bodyPr wrap="square" lIns="0" tIns="0" rIns="0" bIns="0" rtlCol="0" anchor="ctr"/>
          <a:lstStyle/>
          <a:p>
            <a:pPr indent="0" marL="0">
              <a:buNone/>
            </a:pPr>
            <a:r>
              <a:rPr lang="en-US" sz="900" dirty="0">
                <a:solidFill>
                  <a:schemeClr val="accent5"/>
                </a:solidFill>
              </a:rPr>
              <a:t>HPC Career · Code for a Billion 2026 · Education</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Every student deserves a career conversation</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dirty="0">
                <a:solidFill>
                  <a:schemeClr val="accent4"/>
                </a:solidFill>
              </a:rPr>
              <a:t>HPC Career — a Holistic Progress Card with career guidance built in: a 10-minute test, a report students can read, and careers with real routes from Class 10.</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Code for a Billion 2026 · Impact area 01 · Education</a:t>
            </a:r>
            <a:endParaRPr lang="en-US" sz="1600" dirty="0"/>
          </a:p>
        </p:txBody>
      </p:sp>
      <p:sp>
        <p:nvSpPr>
          <p:cNvPr id="4" name="Career report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report screen" descr="Career report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Crores of students choose a stream with almost no guidance</a:t>
            </a:r>
            <a:endParaRPr lang="en-US" sz="2800" dirty="0"/>
          </a:p>
        </p:txBody>
      </p:sp>
      <p:sp>
        <p:nvSpPr>
          <p:cNvPr id="3" name="stat card 1"/>
          <p:cNvSpPr/>
          <p:nvPr/>
        </p:nvSpPr>
        <p:spPr>
          <a:xfrm>
            <a:off x="457200" y="1188720"/>
            <a:ext cx="2606040" cy="2971800"/>
          </a:xfrm>
          <a:prstGeom prst="roundRect">
            <a:avLst>
              <a:gd name="adj" fmla="val 5263"/>
            </a:avLst>
          </a:prstGeom>
          <a:solidFill>
            <a:schemeClr val="bg2"/>
          </a:solidFill>
          <a:ln/>
        </p:spPr>
      </p:sp>
      <p:sp>
        <p:nvSpPr>
          <p:cNvPr id="4" name="Text 2"/>
          <p:cNvSpPr txBox="1"/>
          <p:nvPr/>
        </p:nvSpPr>
        <p:spPr>
          <a:xfrm>
            <a:off x="685800" y="1417320"/>
            <a:ext cx="2240280" cy="822960"/>
          </a:xfrm>
          <a:prstGeom prst="rect">
            <a:avLst/>
          </a:prstGeom>
          <a:noFill/>
          <a:ln/>
        </p:spPr>
        <p:txBody>
          <a:bodyPr wrap="square" lIns="0" tIns="0" rIns="0" bIns="0" rtlCol="0" anchor="ctr"/>
          <a:lstStyle/>
          <a:p>
            <a:pPr indent="0" marL="0">
              <a:buNone/>
            </a:pPr>
            <a:r>
              <a:rPr lang="en-US" sz="3000" b="1" dirty="0">
                <a:solidFill>
                  <a:schemeClr val="tx2"/>
                </a:solidFill>
                <a:latin typeface="Arial" pitchFamily="34" charset="0"/>
                <a:ea typeface="Arial" pitchFamily="34" charset="-122"/>
                <a:cs typeface="Arial" pitchFamily="34" charset="-120"/>
              </a:rPr>
              <a:t>24.8 crore</a:t>
            </a:r>
            <a:endParaRPr lang="en-US" sz="3000" dirty="0"/>
          </a:p>
        </p:txBody>
      </p:sp>
      <p:sp>
        <p:nvSpPr>
          <p:cNvPr id="5" name="Text 3"/>
          <p:cNvSpPr txBox="1"/>
          <p:nvPr/>
        </p:nvSpPr>
        <p:spPr>
          <a:xfrm>
            <a:off x="68580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students in Indian schools</a:t>
            </a:r>
            <a:endParaRPr lang="en-US" sz="1500" dirty="0"/>
          </a:p>
        </p:txBody>
      </p:sp>
      <p:sp>
        <p:nvSpPr>
          <p:cNvPr id="6" name="Text 4"/>
          <p:cNvSpPr txBox="1"/>
          <p:nvPr/>
        </p:nvSpPr>
        <p:spPr>
          <a:xfrm>
            <a:off x="68580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UDISE+ 2023-24</a:t>
            </a:r>
            <a:endParaRPr lang="en-US" sz="1100" dirty="0"/>
          </a:p>
        </p:txBody>
      </p:sp>
      <p:sp>
        <p:nvSpPr>
          <p:cNvPr id="7" name="stat card 2"/>
          <p:cNvSpPr/>
          <p:nvPr/>
        </p:nvSpPr>
        <p:spPr>
          <a:xfrm>
            <a:off x="3246120" y="1188720"/>
            <a:ext cx="2606040" cy="2971800"/>
          </a:xfrm>
          <a:prstGeom prst="roundRect">
            <a:avLst>
              <a:gd name="adj" fmla="val 5263"/>
            </a:avLst>
          </a:prstGeom>
          <a:solidFill>
            <a:schemeClr val="bg2"/>
          </a:solidFill>
          <a:ln/>
        </p:spPr>
      </p:sp>
      <p:sp>
        <p:nvSpPr>
          <p:cNvPr id="8" name="Text 6"/>
          <p:cNvSpPr txBox="1"/>
          <p:nvPr/>
        </p:nvSpPr>
        <p:spPr>
          <a:xfrm>
            <a:off x="3474720" y="1417320"/>
            <a:ext cx="2240280" cy="82296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93%</a:t>
            </a:r>
            <a:endParaRPr lang="en-US" sz="3000" dirty="0"/>
          </a:p>
        </p:txBody>
      </p:sp>
      <p:sp>
        <p:nvSpPr>
          <p:cNvPr id="9" name="Text 7"/>
          <p:cNvSpPr txBox="1"/>
          <p:nvPr/>
        </p:nvSpPr>
        <p:spPr>
          <a:xfrm>
            <a:off x="347472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of 10,000 students surveyed knew only 7 career options — out of about 250</a:t>
            </a:r>
            <a:endParaRPr lang="en-US" sz="1500" dirty="0"/>
          </a:p>
        </p:txBody>
      </p:sp>
      <p:sp>
        <p:nvSpPr>
          <p:cNvPr id="10" name="Text 8"/>
          <p:cNvSpPr txBox="1"/>
          <p:nvPr/>
        </p:nvSpPr>
        <p:spPr>
          <a:xfrm>
            <a:off x="347472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Mindler survey, 2019</a:t>
            </a:r>
            <a:endParaRPr lang="en-US" sz="1100" dirty="0"/>
          </a:p>
        </p:txBody>
      </p:sp>
      <p:sp>
        <p:nvSpPr>
          <p:cNvPr id="11" name="stat card 3"/>
          <p:cNvSpPr/>
          <p:nvPr/>
        </p:nvSpPr>
        <p:spPr>
          <a:xfrm>
            <a:off x="6035040" y="1188720"/>
            <a:ext cx="2606040" cy="2971800"/>
          </a:xfrm>
          <a:prstGeom prst="roundRect">
            <a:avLst>
              <a:gd name="adj" fmla="val 5263"/>
            </a:avLst>
          </a:prstGeom>
          <a:solidFill>
            <a:schemeClr val="bg2"/>
          </a:solidFill>
          <a:ln/>
        </p:spPr>
      </p:sp>
      <p:sp>
        <p:nvSpPr>
          <p:cNvPr id="12" name="Text 10"/>
          <p:cNvSpPr txBox="1"/>
          <p:nvPr/>
        </p:nvSpPr>
        <p:spPr>
          <a:xfrm>
            <a:off x="6263640" y="1417320"/>
            <a:ext cx="2240280" cy="822960"/>
          </a:xfrm>
          <a:prstGeom prst="rect">
            <a:avLst/>
          </a:prstGeom>
          <a:noFill/>
          <a:ln/>
        </p:spPr>
        <p:txBody>
          <a:bodyPr wrap="square" lIns="0" tIns="0" rIns="0" bIns="0" rtlCol="0" anchor="ctr"/>
          <a:lstStyle/>
          <a:p>
            <a:pPr indent="0" marL="0">
              <a:buNone/>
            </a:pPr>
            <a:r>
              <a:rPr lang="en-US" sz="3000" b="1" dirty="0">
                <a:solidFill>
                  <a:schemeClr val="accent2"/>
                </a:solidFill>
                <a:latin typeface="Arial" pitchFamily="34" charset="0"/>
                <a:ea typeface="Arial" pitchFamily="34" charset="-122"/>
                <a:cs typeface="Arial" pitchFamily="34" charset="-120"/>
              </a:rPr>
              <a:t>&lt; 1 in 10</a:t>
            </a:r>
            <a:endParaRPr lang="en-US" sz="3000" dirty="0"/>
          </a:p>
        </p:txBody>
      </p:sp>
      <p:sp>
        <p:nvSpPr>
          <p:cNvPr id="13" name="Text 11"/>
          <p:cNvSpPr txBox="1"/>
          <p:nvPr/>
        </p:nvSpPr>
        <p:spPr>
          <a:xfrm>
            <a:off x="6263640" y="2331720"/>
            <a:ext cx="2194560" cy="1234440"/>
          </a:xfrm>
          <a:prstGeom prst="rect">
            <a:avLst/>
          </a:prstGeom>
          <a:noFill/>
          <a:ln/>
        </p:spPr>
        <p:txBody>
          <a:bodyPr wrap="square" lIns="0" tIns="0" rIns="0" bIns="0" rtlCol="0" anchor="t"/>
          <a:lstStyle/>
          <a:p>
            <a:pPr indent="0" marL="0">
              <a:buNone/>
            </a:pPr>
            <a:r>
              <a:rPr lang="en-US" sz="1500" dirty="0">
                <a:solidFill>
                  <a:schemeClr val="tx1"/>
                </a:solidFill>
              </a:rPr>
              <a:t>low-income Class 9–12 students had ever received career guidance (9.36%)</a:t>
            </a:r>
            <a:endParaRPr lang="en-US" sz="1500" dirty="0"/>
          </a:p>
        </p:txBody>
      </p:sp>
      <p:sp>
        <p:nvSpPr>
          <p:cNvPr id="14" name="Text 12"/>
          <p:cNvSpPr txBox="1"/>
          <p:nvPr/>
        </p:nvSpPr>
        <p:spPr>
          <a:xfrm>
            <a:off x="6263640" y="3657600"/>
            <a:ext cx="2194560" cy="320040"/>
          </a:xfrm>
          <a:prstGeom prst="rect">
            <a:avLst/>
          </a:prstGeom>
          <a:noFill/>
          <a:ln/>
        </p:spPr>
        <p:txBody>
          <a:bodyPr wrap="square" lIns="0" tIns="0" rIns="0" bIns="0" rtlCol="0" anchor="ctr"/>
          <a:lstStyle/>
          <a:p>
            <a:pPr indent="0" marL="0">
              <a:buNone/>
            </a:pPr>
            <a:r>
              <a:rPr lang="en-US" sz="1100" i="1" dirty="0">
                <a:solidFill>
                  <a:schemeClr val="accent5"/>
                </a:solidFill>
              </a:rPr>
              <a:t>Bharat Career Aspiration Report 2024</a:t>
            </a:r>
            <a:endParaRPr lang="en-US" sz="11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Ministry of Education, UDISE+ 2023-24 · Mindler survey of 10,000 students aged 14–21 (2019) · Bharat Career Aspiration Report 2024, UNICEF YuWaah &amp; iDreamCareer (4,968 students, 25 states)</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big decision comes at 15, mostly on advice from home</a:t>
            </a:r>
            <a:endParaRPr lang="en-US" sz="2800" dirty="0"/>
          </a:p>
        </p:txBody>
      </p:sp>
      <p:sp>
        <p:nvSpPr>
          <p:cNvPr id="3" name="Text 1"/>
          <p:cNvSpPr txBox="1"/>
          <p:nvPr/>
        </p:nvSpPr>
        <p:spPr>
          <a:xfrm>
            <a:off x="457200" y="1143000"/>
            <a:ext cx="4023360" cy="365760"/>
          </a:xfrm>
          <a:prstGeom prst="rect">
            <a:avLst/>
          </a:prstGeom>
          <a:noFill/>
          <a:ln/>
        </p:spPr>
        <p:txBody>
          <a:bodyPr wrap="square" lIns="0" tIns="0" rIns="0" bIns="0" rtlCol="0" anchor="ctr"/>
          <a:lstStyle/>
          <a:p>
            <a:pPr indent="0" marL="0">
              <a:buNone/>
            </a:pPr>
            <a:r>
              <a:rPr lang="en-US" sz="1600" b="1" dirty="0">
                <a:solidFill>
                  <a:schemeClr val="tx2"/>
                </a:solidFill>
              </a:rPr>
              <a:t>Who students say shapes their career choice</a:t>
            </a:r>
            <a:endParaRPr lang="en-US" sz="1600" dirty="0"/>
          </a:p>
        </p:txBody>
      </p:sp>
      <p:sp>
        <p:nvSpPr>
          <p:cNvPr id="4" name="influence 1 circle"/>
          <p:cNvSpPr/>
          <p:nvPr/>
        </p:nvSpPr>
        <p:spPr>
          <a:xfrm>
            <a:off x="457200" y="1691640"/>
            <a:ext cx="548640" cy="548640"/>
          </a:xfrm>
          <a:prstGeom prst="ellipse">
            <a:avLst/>
          </a:prstGeom>
          <a:solidFill>
            <a:schemeClr val="accent2"/>
          </a:solidFill>
          <a:ln/>
        </p:spPr>
      </p:sp>
      <p:pic>
        <p:nvPicPr>
          <p:cNvPr id="5" name="influence 1 icon" descr="preencoded.png">    </p:cNvPr>
          <p:cNvPicPr>
            <a:picLocks noChangeAspect="1"/>
          </p:cNvPicPr>
          <p:nvPr/>
        </p:nvPicPr>
        <p:blipFill>
          <a:blip r:embed="rId1"/>
          <a:stretch>
            <a:fillRect/>
          </a:stretch>
        </p:blipFill>
        <p:spPr>
          <a:xfrm>
            <a:off x="599846" y="1834286"/>
            <a:ext cx="263347" cy="263347"/>
          </a:xfrm>
          <a:prstGeom prst="rect">
            <a:avLst/>
          </a:prstGeom>
        </p:spPr>
      </p:pic>
      <p:sp>
        <p:nvSpPr>
          <p:cNvPr id="6" name="Text 3"/>
          <p:cNvSpPr txBox="1"/>
          <p:nvPr/>
        </p:nvSpPr>
        <p:spPr>
          <a:xfrm>
            <a:off x="1188720" y="1691640"/>
            <a:ext cx="822960" cy="548640"/>
          </a:xfrm>
          <a:prstGeom prst="rect">
            <a:avLst/>
          </a:prstGeom>
          <a:noFill/>
          <a:ln/>
        </p:spPr>
        <p:txBody>
          <a:bodyPr wrap="square" lIns="0" tIns="0" rIns="0" bIns="0" rtlCol="0" anchor="ctr"/>
          <a:lstStyle/>
          <a:p>
            <a:pPr indent="0" marL="0">
              <a:buNone/>
            </a:pPr>
            <a:r>
              <a:rPr lang="en-US" sz="2400" b="1" dirty="0">
                <a:solidFill>
                  <a:schemeClr val="accent2"/>
                </a:solidFill>
              </a:rPr>
              <a:t>30%</a:t>
            </a:r>
            <a:endParaRPr lang="en-US" sz="2400" dirty="0"/>
          </a:p>
        </p:txBody>
      </p:sp>
      <p:sp>
        <p:nvSpPr>
          <p:cNvPr id="7" name="Text 4"/>
          <p:cNvSpPr txBox="1"/>
          <p:nvPr/>
        </p:nvSpPr>
        <p:spPr>
          <a:xfrm>
            <a:off x="2011680" y="1691640"/>
            <a:ext cx="2468880" cy="548640"/>
          </a:xfrm>
          <a:prstGeom prst="rect">
            <a:avLst/>
          </a:prstGeom>
          <a:noFill/>
          <a:ln/>
        </p:spPr>
        <p:txBody>
          <a:bodyPr wrap="square" lIns="0" tIns="0" rIns="0" bIns="0" rtlCol="0" anchor="ctr"/>
          <a:lstStyle/>
          <a:p>
            <a:pPr indent="0" marL="0">
              <a:buNone/>
            </a:pPr>
            <a:r>
              <a:rPr lang="en-US" sz="1500" dirty="0">
                <a:solidFill>
                  <a:schemeClr val="tx1"/>
                </a:solidFill>
              </a:rPr>
              <a:t>Family members — the top influence</a:t>
            </a:r>
            <a:endParaRPr lang="en-US" sz="1500" dirty="0"/>
          </a:p>
        </p:txBody>
      </p:sp>
      <p:sp>
        <p:nvSpPr>
          <p:cNvPr id="8" name="influence 2 circle"/>
          <p:cNvSpPr/>
          <p:nvPr/>
        </p:nvSpPr>
        <p:spPr>
          <a:xfrm>
            <a:off x="457200" y="2468880"/>
            <a:ext cx="548640" cy="548640"/>
          </a:xfrm>
          <a:prstGeom prst="ellipse">
            <a:avLst/>
          </a:prstGeom>
          <a:solidFill>
            <a:schemeClr val="accent1"/>
          </a:solidFill>
          <a:ln/>
        </p:spPr>
      </p:sp>
      <p:pic>
        <p:nvPicPr>
          <p:cNvPr id="9" name="influence 2 icon" descr="preencoded.png">    </p:cNvPr>
          <p:cNvPicPr>
            <a:picLocks noChangeAspect="1"/>
          </p:cNvPicPr>
          <p:nvPr/>
        </p:nvPicPr>
        <p:blipFill>
          <a:blip r:embed="rId2"/>
          <a:stretch>
            <a:fillRect/>
          </a:stretch>
        </p:blipFill>
        <p:spPr>
          <a:xfrm>
            <a:off x="599846" y="2611526"/>
            <a:ext cx="263347" cy="263347"/>
          </a:xfrm>
          <a:prstGeom prst="rect">
            <a:avLst/>
          </a:prstGeom>
        </p:spPr>
      </p:pic>
      <p:sp>
        <p:nvSpPr>
          <p:cNvPr id="10" name="Text 6"/>
          <p:cNvSpPr txBox="1"/>
          <p:nvPr/>
        </p:nvSpPr>
        <p:spPr>
          <a:xfrm>
            <a:off x="1188720" y="2468880"/>
            <a:ext cx="822960" cy="548640"/>
          </a:xfrm>
          <a:prstGeom prst="rect">
            <a:avLst/>
          </a:prstGeom>
          <a:noFill/>
          <a:ln/>
        </p:spPr>
        <p:txBody>
          <a:bodyPr wrap="square" lIns="0" tIns="0" rIns="0" bIns="0" rtlCol="0" anchor="ctr"/>
          <a:lstStyle/>
          <a:p>
            <a:pPr indent="0" marL="0">
              <a:buNone/>
            </a:pPr>
            <a:r>
              <a:rPr lang="en-US" sz="2400" b="1" dirty="0">
                <a:solidFill>
                  <a:schemeClr val="accent1"/>
                </a:solidFill>
              </a:rPr>
              <a:t>13%</a:t>
            </a:r>
            <a:endParaRPr lang="en-US" sz="2400" dirty="0"/>
          </a:p>
        </p:txBody>
      </p:sp>
      <p:sp>
        <p:nvSpPr>
          <p:cNvPr id="11" name="Text 7"/>
          <p:cNvSpPr txBox="1"/>
          <p:nvPr/>
        </p:nvSpPr>
        <p:spPr>
          <a:xfrm>
            <a:off x="2011680" y="2468880"/>
            <a:ext cx="2468880" cy="548640"/>
          </a:xfrm>
          <a:prstGeom prst="rect">
            <a:avLst/>
          </a:prstGeom>
          <a:noFill/>
          <a:ln/>
        </p:spPr>
        <p:txBody>
          <a:bodyPr wrap="square" lIns="0" tIns="0" rIns="0" bIns="0" rtlCol="0" anchor="ctr"/>
          <a:lstStyle/>
          <a:p>
            <a:pPr indent="0" marL="0">
              <a:buNone/>
            </a:pPr>
            <a:r>
              <a:rPr lang="en-US" sz="1500" dirty="0">
                <a:solidFill>
                  <a:schemeClr val="tx1"/>
                </a:solidFill>
              </a:rPr>
              <a:t>School teachers</a:t>
            </a:r>
            <a:endParaRPr lang="en-US" sz="1500" dirty="0"/>
          </a:p>
        </p:txBody>
      </p:sp>
      <p:sp>
        <p:nvSpPr>
          <p:cNvPr id="12" name="influence 3 circle"/>
          <p:cNvSpPr/>
          <p:nvPr/>
        </p:nvSpPr>
        <p:spPr>
          <a:xfrm>
            <a:off x="457200" y="3246120"/>
            <a:ext cx="548640" cy="548640"/>
          </a:xfrm>
          <a:prstGeom prst="ellipse">
            <a:avLst/>
          </a:prstGeom>
          <a:solidFill>
            <a:schemeClr val="accent5"/>
          </a:solidFill>
          <a:ln/>
        </p:spPr>
      </p:sp>
      <p:pic>
        <p:nvPicPr>
          <p:cNvPr id="13" name="influence 3 icon" descr="preencoded.png">    </p:cNvPr>
          <p:cNvPicPr>
            <a:picLocks noChangeAspect="1"/>
          </p:cNvPicPr>
          <p:nvPr/>
        </p:nvPicPr>
        <p:blipFill>
          <a:blip r:embed="rId3"/>
          <a:stretch>
            <a:fillRect/>
          </a:stretch>
        </p:blipFill>
        <p:spPr>
          <a:xfrm>
            <a:off x="599846" y="3388766"/>
            <a:ext cx="263347" cy="263347"/>
          </a:xfrm>
          <a:prstGeom prst="rect">
            <a:avLst/>
          </a:prstGeom>
        </p:spPr>
      </p:pic>
      <p:sp>
        <p:nvSpPr>
          <p:cNvPr id="14" name="Text 9"/>
          <p:cNvSpPr txBox="1"/>
          <p:nvPr/>
        </p:nvSpPr>
        <p:spPr>
          <a:xfrm>
            <a:off x="1188720" y="3246120"/>
            <a:ext cx="3291840" cy="548640"/>
          </a:xfrm>
          <a:prstGeom prst="rect">
            <a:avLst/>
          </a:prstGeom>
          <a:noFill/>
          <a:ln/>
        </p:spPr>
        <p:txBody>
          <a:bodyPr wrap="square" lIns="0" tIns="0" rIns="0" bIns="0" rtlCol="0" anchor="ctr"/>
          <a:lstStyle/>
          <a:p>
            <a:pPr indent="0" marL="0">
              <a:buNone/>
            </a:pPr>
            <a:r>
              <a:rPr lang="en-US" sz="1500" dirty="0">
                <a:solidFill>
                  <a:schemeClr val="tx1"/>
                </a:solidFill>
              </a:rPr>
              <a:t>Most others: friends, marks and what relatives did</a:t>
            </a:r>
            <a:endParaRPr lang="en-US" sz="1500" dirty="0"/>
          </a:p>
        </p:txBody>
      </p:sp>
      <p:sp>
        <p:nvSpPr>
          <p:cNvPr id="15" name="gap card"/>
          <p:cNvSpPr/>
          <p:nvPr/>
        </p:nvSpPr>
        <p:spPr>
          <a:xfrm>
            <a:off x="4846320" y="1143000"/>
            <a:ext cx="3840480" cy="3063240"/>
          </a:xfrm>
          <a:prstGeom prst="roundRect">
            <a:avLst>
              <a:gd name="adj" fmla="val 4478"/>
            </a:avLst>
          </a:prstGeom>
          <a:solidFill>
            <a:schemeClr val="tx2"/>
          </a:solidFill>
          <a:ln/>
        </p:spPr>
      </p:sp>
      <p:sp>
        <p:nvSpPr>
          <p:cNvPr id="16" name="NEP circle"/>
          <p:cNvSpPr/>
          <p:nvPr/>
        </p:nvSpPr>
        <p:spPr>
          <a:xfrm>
            <a:off x="5120640" y="1371600"/>
            <a:ext cx="548640" cy="548640"/>
          </a:xfrm>
          <a:prstGeom prst="ellipse">
            <a:avLst/>
          </a:prstGeom>
          <a:solidFill>
            <a:schemeClr val="accent2"/>
          </a:solidFill>
          <a:ln/>
        </p:spPr>
      </p:sp>
      <p:pic>
        <p:nvPicPr>
          <p:cNvPr id="17" name="NEP icon" descr="preencoded.png">    </p:cNvPr>
          <p:cNvPicPr>
            <a:picLocks noChangeAspect="1"/>
          </p:cNvPicPr>
          <p:nvPr/>
        </p:nvPicPr>
        <p:blipFill>
          <a:blip r:embed="rId4"/>
          <a:stretch>
            <a:fillRect/>
          </a:stretch>
        </p:blipFill>
        <p:spPr>
          <a:xfrm>
            <a:off x="5263286" y="1514246"/>
            <a:ext cx="263347" cy="263347"/>
          </a:xfrm>
          <a:prstGeom prst="rect">
            <a:avLst/>
          </a:prstGeom>
        </p:spPr>
      </p:pic>
      <p:sp>
        <p:nvSpPr>
          <p:cNvPr id="18" name="Text 12"/>
          <p:cNvSpPr txBox="1"/>
          <p:nvPr/>
        </p:nvSpPr>
        <p:spPr>
          <a:xfrm>
            <a:off x="5120640" y="2011680"/>
            <a:ext cx="3337560" cy="777240"/>
          </a:xfrm>
          <a:prstGeom prst="rect">
            <a:avLst/>
          </a:prstGeom>
          <a:noFill/>
          <a:ln/>
        </p:spPr>
        <p:txBody>
          <a:bodyPr wrap="square" lIns="0" tIns="0" rIns="0" bIns="0" rtlCol="0" anchor="t"/>
          <a:lstStyle/>
          <a:p>
            <a:pPr indent="0" marL="0">
              <a:buNone/>
            </a:pPr>
            <a:r>
              <a:rPr lang="en-US" sz="1600" b="1" dirty="0">
                <a:solidFill>
                  <a:schemeClr val="bg1"/>
                </a:solidFill>
              </a:rPr>
              <a:t>NEP 2020 replaced marks-only report cards with the Holistic Progress Card</a:t>
            </a:r>
            <a:endParaRPr lang="en-US" sz="1600" dirty="0"/>
          </a:p>
        </p:txBody>
      </p:sp>
      <p:sp>
        <p:nvSpPr>
          <p:cNvPr id="19" name="Text 13"/>
          <p:cNvSpPr txBox="1"/>
          <p:nvPr/>
        </p:nvSpPr>
        <p:spPr>
          <a:xfrm>
            <a:off x="5120640" y="2834640"/>
            <a:ext cx="3337560" cy="1188720"/>
          </a:xfrm>
          <a:prstGeom prst="rect">
            <a:avLst/>
          </a:prstGeom>
          <a:noFill/>
          <a:ln/>
        </p:spPr>
        <p:txBody>
          <a:bodyPr wrap="square" lIns="0" tIns="0" rIns="0" bIns="0" rtlCol="0" anchor="t"/>
          <a:lstStyle/>
          <a:p>
            <a:pPr indent="0" marL="0">
              <a:buNone/>
            </a:pPr>
            <a:r>
              <a:rPr lang="en-US" sz="1400" dirty="0">
                <a:solidFill>
                  <a:schemeClr val="accent6"/>
                </a:solidFill>
              </a:rPr>
              <a:t>PARAKH sent the HPC to every state in 2023. It describes the whole child — but it stops short of the question every Class 10 student faces: what next?</a:t>
            </a:r>
            <a:endParaRPr lang="en-US" sz="1400" dirty="0"/>
          </a:p>
        </p:txBody>
      </p:sp>
      <p:sp>
        <p:nvSpPr>
          <p:cNvPr id="20" name="Text 14"/>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Sources: Bharat Career Aspiration Report 2024 (UNICEF YuWaah &amp; iDreamCareer) · NCERT PARAKH Holistic Progress Card, shared with states and UTs in September 2023</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HPC Career: the progress card that helps students choose what’s next</a:t>
            </a:r>
            <a:endParaRPr lang="en-US" sz="2800" dirty="0"/>
          </a:p>
        </p:txBody>
      </p:sp>
      <p:sp>
        <p:nvSpPr>
          <p:cNvPr id="3" name="Career tab screen frame"/>
          <p:cNvSpPr/>
          <p:nvPr/>
        </p:nvSpPr>
        <p:spPr>
          <a:xfrm>
            <a:off x="512064" y="1060704"/>
            <a:ext cx="1699185" cy="3593592"/>
          </a:xfrm>
          <a:prstGeom prst="roundRect">
            <a:avLst>
              <a:gd name="adj" fmla="val 8610"/>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Career tab screen" descr="Career tab screen">    </p:cNvPr>
          <p:cNvPicPr>
            <a:picLocks noChangeAspect="1"/>
          </p:cNvPicPr>
          <p:nvPr/>
        </p:nvPicPr>
        <p:blipFill>
          <a:blip r:embed="rId1"/>
          <a:stretch>
            <a:fillRect/>
          </a:stretch>
        </p:blipFill>
        <p:spPr>
          <a:xfrm>
            <a:off x="548640" y="1097280"/>
            <a:ext cx="1626033" cy="3520440"/>
          </a:xfrm>
          <a:prstGeom prst="rect">
            <a:avLst/>
          </a:prstGeom>
        </p:spPr>
      </p:pic>
      <p:sp>
        <p:nvSpPr>
          <p:cNvPr id="5" name="feature card 1"/>
          <p:cNvSpPr/>
          <p:nvPr/>
        </p:nvSpPr>
        <p:spPr>
          <a:xfrm>
            <a:off x="2697480" y="1097280"/>
            <a:ext cx="2834640" cy="1417320"/>
          </a:xfrm>
          <a:prstGeom prst="roundRect">
            <a:avLst>
              <a:gd name="adj" fmla="val 7742"/>
            </a:avLst>
          </a:prstGeom>
          <a:solidFill>
            <a:schemeClr val="bg2"/>
          </a:solidFill>
          <a:ln/>
        </p:spPr>
      </p:sp>
      <p:sp>
        <p:nvSpPr>
          <p:cNvPr id="6" name="feature 1 circle"/>
          <p:cNvSpPr/>
          <p:nvPr/>
        </p:nvSpPr>
        <p:spPr>
          <a:xfrm>
            <a:off x="2880360" y="1280160"/>
            <a:ext cx="457200" cy="457200"/>
          </a:xfrm>
          <a:prstGeom prst="ellipse">
            <a:avLst/>
          </a:prstGeom>
          <a:solidFill>
            <a:schemeClr val="accent1"/>
          </a:solidFill>
          <a:ln/>
        </p:spPr>
      </p:sp>
      <p:pic>
        <p:nvPicPr>
          <p:cNvPr id="7" name="feature 1 icon" descr="preencoded.png">    </p:cNvPr>
          <p:cNvPicPr>
            <a:picLocks noChangeAspect="1"/>
          </p:cNvPicPr>
          <p:nvPr/>
        </p:nvPicPr>
        <p:blipFill>
          <a:blip r:embed="rId2"/>
          <a:stretch>
            <a:fillRect/>
          </a:stretch>
        </p:blipFill>
        <p:spPr>
          <a:xfrm>
            <a:off x="2999232" y="1399032"/>
            <a:ext cx="219456" cy="219456"/>
          </a:xfrm>
          <a:prstGeom prst="rect">
            <a:avLst/>
          </a:prstGeom>
        </p:spPr>
      </p:pic>
      <p:sp>
        <p:nvSpPr>
          <p:cNvPr id="8" name="Text 4"/>
          <p:cNvSpPr txBox="1"/>
          <p:nvPr/>
        </p:nvSpPr>
        <p:spPr>
          <a:xfrm>
            <a:off x="347472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Career test</a:t>
            </a:r>
            <a:endParaRPr lang="en-US" sz="1600" dirty="0"/>
          </a:p>
        </p:txBody>
      </p:sp>
      <p:sp>
        <p:nvSpPr>
          <p:cNvPr id="9" name="Text 5"/>
          <p:cNvSpPr txBox="1"/>
          <p:nvPr/>
        </p:nvSpPr>
        <p:spPr>
          <a:xfrm>
            <a:off x="288036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56 quick questions on interests and personality, about 10 minutes, one per screen.</a:t>
            </a:r>
            <a:endParaRPr lang="en-US" sz="1300" dirty="0"/>
          </a:p>
        </p:txBody>
      </p:sp>
      <p:sp>
        <p:nvSpPr>
          <p:cNvPr id="10" name="feature card 2"/>
          <p:cNvSpPr/>
          <p:nvPr/>
        </p:nvSpPr>
        <p:spPr>
          <a:xfrm>
            <a:off x="5715000" y="1097280"/>
            <a:ext cx="2834640" cy="1417320"/>
          </a:xfrm>
          <a:prstGeom prst="roundRect">
            <a:avLst>
              <a:gd name="adj" fmla="val 7742"/>
            </a:avLst>
          </a:prstGeom>
          <a:solidFill>
            <a:schemeClr val="bg2"/>
          </a:solidFill>
          <a:ln/>
        </p:spPr>
      </p:sp>
      <p:sp>
        <p:nvSpPr>
          <p:cNvPr id="11" name="feature 2 circle"/>
          <p:cNvSpPr/>
          <p:nvPr/>
        </p:nvSpPr>
        <p:spPr>
          <a:xfrm>
            <a:off x="5897880" y="1280160"/>
            <a:ext cx="457200" cy="457200"/>
          </a:xfrm>
          <a:prstGeom prst="ellipse">
            <a:avLst/>
          </a:prstGeom>
          <a:solidFill>
            <a:schemeClr val="accent2"/>
          </a:solidFill>
          <a:ln/>
        </p:spPr>
      </p:sp>
      <p:pic>
        <p:nvPicPr>
          <p:cNvPr id="12" name="feature 2 icon" descr="preencoded.png">    </p:cNvPr>
          <p:cNvPicPr>
            <a:picLocks noChangeAspect="1"/>
          </p:cNvPicPr>
          <p:nvPr/>
        </p:nvPicPr>
        <p:blipFill>
          <a:blip r:embed="rId3"/>
          <a:stretch>
            <a:fillRect/>
          </a:stretch>
        </p:blipFill>
        <p:spPr>
          <a:xfrm>
            <a:off x="6016752" y="1399032"/>
            <a:ext cx="219456" cy="219456"/>
          </a:xfrm>
          <a:prstGeom prst="rect">
            <a:avLst/>
          </a:prstGeom>
        </p:spPr>
      </p:pic>
      <p:sp>
        <p:nvSpPr>
          <p:cNvPr id="13" name="Text 8"/>
          <p:cNvSpPr txBox="1"/>
          <p:nvPr/>
        </p:nvSpPr>
        <p:spPr>
          <a:xfrm>
            <a:off x="6492240" y="12801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 report they can read</a:t>
            </a:r>
            <a:endParaRPr lang="en-US" sz="1600" dirty="0"/>
          </a:p>
        </p:txBody>
      </p:sp>
      <p:sp>
        <p:nvSpPr>
          <p:cNvPr id="14" name="Text 9"/>
          <p:cNvSpPr txBox="1"/>
          <p:nvPr/>
        </p:nvSpPr>
        <p:spPr>
          <a:xfrm>
            <a:off x="5897880" y="1810512"/>
            <a:ext cx="2514600" cy="640080"/>
          </a:xfrm>
          <a:prstGeom prst="rect">
            <a:avLst/>
          </a:prstGeom>
          <a:noFill/>
          <a:ln/>
        </p:spPr>
        <p:txBody>
          <a:bodyPr wrap="square" lIns="0" tIns="0" rIns="0" bIns="0" rtlCol="0" anchor="t"/>
          <a:lstStyle/>
          <a:p>
            <a:pPr indent="0" marL="0">
              <a:buNone/>
            </a:pPr>
            <a:r>
              <a:rPr lang="en-US" sz="1300" dirty="0">
                <a:solidFill>
                  <a:schemeClr val="tx1"/>
                </a:solidFill>
              </a:rPr>
              <a:t>An interest code, strengths, six careers that fit and the next steps.</a:t>
            </a:r>
            <a:endParaRPr lang="en-US" sz="1300" dirty="0"/>
          </a:p>
        </p:txBody>
      </p:sp>
      <p:sp>
        <p:nvSpPr>
          <p:cNvPr id="15" name="feature card 3"/>
          <p:cNvSpPr/>
          <p:nvPr/>
        </p:nvSpPr>
        <p:spPr>
          <a:xfrm>
            <a:off x="2697480" y="2697480"/>
            <a:ext cx="2834640" cy="1417320"/>
          </a:xfrm>
          <a:prstGeom prst="roundRect">
            <a:avLst>
              <a:gd name="adj" fmla="val 7742"/>
            </a:avLst>
          </a:prstGeom>
          <a:solidFill>
            <a:schemeClr val="bg2"/>
          </a:solidFill>
          <a:ln/>
        </p:spPr>
      </p:sp>
      <p:sp>
        <p:nvSpPr>
          <p:cNvPr id="16" name="feature 3 circle"/>
          <p:cNvSpPr/>
          <p:nvPr/>
        </p:nvSpPr>
        <p:spPr>
          <a:xfrm>
            <a:off x="2880360" y="2880360"/>
            <a:ext cx="457200" cy="457200"/>
          </a:xfrm>
          <a:prstGeom prst="ellipse">
            <a:avLst/>
          </a:prstGeom>
          <a:solidFill>
            <a:schemeClr val="accent3"/>
          </a:solidFill>
          <a:ln/>
        </p:spPr>
      </p:sp>
      <p:pic>
        <p:nvPicPr>
          <p:cNvPr id="17" name="feature 3 icon" descr="preencoded.png">    </p:cNvPr>
          <p:cNvPicPr>
            <a:picLocks noChangeAspect="1"/>
          </p:cNvPicPr>
          <p:nvPr/>
        </p:nvPicPr>
        <p:blipFill>
          <a:blip r:embed="rId4"/>
          <a:stretch>
            <a:fillRect/>
          </a:stretch>
        </p:blipFill>
        <p:spPr>
          <a:xfrm>
            <a:off x="2999232" y="2999232"/>
            <a:ext cx="219456" cy="219456"/>
          </a:xfrm>
          <a:prstGeom prst="rect">
            <a:avLst/>
          </a:prstGeom>
        </p:spPr>
      </p:pic>
      <p:sp>
        <p:nvSpPr>
          <p:cNvPr id="18" name="Text 12"/>
          <p:cNvSpPr txBox="1"/>
          <p:nvPr/>
        </p:nvSpPr>
        <p:spPr>
          <a:xfrm>
            <a:off x="347472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Explore careers</a:t>
            </a:r>
            <a:endParaRPr lang="en-US" sz="1600" dirty="0"/>
          </a:p>
        </p:txBody>
      </p:sp>
      <p:sp>
        <p:nvSpPr>
          <p:cNvPr id="19" name="Text 13"/>
          <p:cNvSpPr txBox="1"/>
          <p:nvPr/>
        </p:nvSpPr>
        <p:spPr>
          <a:xfrm>
            <a:off x="288036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36 careers with the route to each from Class 10 in India.</a:t>
            </a:r>
            <a:endParaRPr lang="en-US" sz="1300" dirty="0"/>
          </a:p>
        </p:txBody>
      </p:sp>
      <p:sp>
        <p:nvSpPr>
          <p:cNvPr id="20" name="feature card 4"/>
          <p:cNvSpPr/>
          <p:nvPr/>
        </p:nvSpPr>
        <p:spPr>
          <a:xfrm>
            <a:off x="5715000" y="2697480"/>
            <a:ext cx="2834640" cy="1417320"/>
          </a:xfrm>
          <a:prstGeom prst="roundRect">
            <a:avLst>
              <a:gd name="adj" fmla="val 7742"/>
            </a:avLst>
          </a:prstGeom>
          <a:solidFill>
            <a:schemeClr val="bg2"/>
          </a:solidFill>
          <a:ln/>
        </p:spPr>
      </p:sp>
      <p:sp>
        <p:nvSpPr>
          <p:cNvPr id="21" name="feature 4 circle"/>
          <p:cNvSpPr/>
          <p:nvPr/>
        </p:nvSpPr>
        <p:spPr>
          <a:xfrm>
            <a:off x="5897880" y="2880360"/>
            <a:ext cx="457200" cy="457200"/>
          </a:xfrm>
          <a:prstGeom prst="ellipse">
            <a:avLst/>
          </a:prstGeom>
          <a:solidFill>
            <a:schemeClr val="tx2"/>
          </a:solidFill>
          <a:ln/>
        </p:spPr>
      </p:sp>
      <p:pic>
        <p:nvPicPr>
          <p:cNvPr id="22" name="feature 4 icon" descr="preencoded.png">    </p:cNvPr>
          <p:cNvPicPr>
            <a:picLocks noChangeAspect="1"/>
          </p:cNvPicPr>
          <p:nvPr/>
        </p:nvPicPr>
        <p:blipFill>
          <a:blip r:embed="rId5"/>
          <a:stretch>
            <a:fillRect/>
          </a:stretch>
        </p:blipFill>
        <p:spPr>
          <a:xfrm>
            <a:off x="6016752" y="2999232"/>
            <a:ext cx="219456" cy="219456"/>
          </a:xfrm>
          <a:prstGeom prst="rect">
            <a:avLst/>
          </a:prstGeom>
        </p:spPr>
      </p:pic>
      <p:sp>
        <p:nvSpPr>
          <p:cNvPr id="23" name="Text 16"/>
          <p:cNvSpPr txBox="1"/>
          <p:nvPr/>
        </p:nvSpPr>
        <p:spPr>
          <a:xfrm>
            <a:off x="6492240" y="2880360"/>
            <a:ext cx="1920240" cy="457200"/>
          </a:xfrm>
          <a:prstGeom prst="rect">
            <a:avLst/>
          </a:prstGeom>
          <a:noFill/>
          <a:ln/>
        </p:spPr>
        <p:txBody>
          <a:bodyPr wrap="square" lIns="0" tIns="0" rIns="0" bIns="0" rtlCol="0" anchor="ctr"/>
          <a:lstStyle/>
          <a:p>
            <a:pPr indent="0" marL="0">
              <a:buNone/>
            </a:pPr>
            <a:r>
              <a:rPr lang="en-US" sz="1600" b="1" dirty="0">
                <a:solidFill>
                  <a:schemeClr val="tx2"/>
                </a:solidFill>
              </a:rPr>
              <a:t>Ask the counsellor</a:t>
            </a:r>
            <a:endParaRPr lang="en-US" sz="1600" dirty="0"/>
          </a:p>
        </p:txBody>
      </p:sp>
      <p:sp>
        <p:nvSpPr>
          <p:cNvPr id="24" name="Text 17"/>
          <p:cNvSpPr txBox="1"/>
          <p:nvPr/>
        </p:nvSpPr>
        <p:spPr>
          <a:xfrm>
            <a:off x="5897880" y="3410712"/>
            <a:ext cx="2514600" cy="640080"/>
          </a:xfrm>
          <a:prstGeom prst="rect">
            <a:avLst/>
          </a:prstGeom>
          <a:noFill/>
          <a:ln/>
        </p:spPr>
        <p:txBody>
          <a:bodyPr wrap="square" lIns="0" tIns="0" rIns="0" bIns="0" rtlCol="0" anchor="t"/>
          <a:lstStyle/>
          <a:p>
            <a:pPr indent="0" marL="0">
              <a:buNone/>
            </a:pPr>
            <a:r>
              <a:rPr lang="en-US" sz="1300" dirty="0">
                <a:solidFill>
                  <a:schemeClr val="tx1"/>
                </a:solidFill>
              </a:rPr>
              <a:t>A chat for questions about streams, subjects and exams.</a:t>
            </a:r>
            <a:endParaRPr lang="en-US" sz="1300" dirty="0"/>
          </a:p>
        </p:txBody>
      </p:sp>
      <p:sp>
        <p:nvSpPr>
          <p:cNvPr id="25" name="Text 18"/>
          <p:cNvSpPr txBox="1"/>
          <p:nvPr/>
        </p:nvSpPr>
        <p:spPr>
          <a:xfrm>
            <a:off x="2697480" y="4279392"/>
            <a:ext cx="5852160" cy="320040"/>
          </a:xfrm>
          <a:prstGeom prst="rect">
            <a:avLst/>
          </a:prstGeom>
          <a:noFill/>
          <a:ln/>
        </p:spPr>
        <p:txBody>
          <a:bodyPr wrap="square" lIns="0" tIns="0" rIns="0" bIns="0" rtlCol="0" anchor="ctr"/>
          <a:lstStyle/>
          <a:p>
            <a:pPr indent="0" marL="0">
              <a:buNone/>
            </a:pPr>
            <a:r>
              <a:rPr lang="en-US" sz="1400" b="1" dirty="0">
                <a:solidFill>
                  <a:schemeClr val="tx2"/>
                </a:solidFill>
              </a:rPr>
              <a:t>Plus a class view for teachers </a:t>
            </a:r>
            <a:pPr indent="0" marL="0">
              <a:buNone/>
            </a:pPr>
            <a:r>
              <a:rPr lang="en-US" sz="1400" dirty="0">
                <a:solidFill>
                  <a:schemeClr val="tx1"/>
                </a:solidFill>
              </a:rPr>
              <a:t>— who has finished, and where the class’s interests lie.</a:t>
            </a:r>
            <a:endParaRPr lang="en-US" sz="14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student’s journey in four steps</a:t>
            </a:r>
            <a:endParaRPr lang="en-US" sz="2800" dirty="0"/>
          </a:p>
        </p:txBody>
      </p:sp>
      <p:sp>
        <p:nvSpPr>
          <p:cNvPr id="3" name="Sign in screen frame"/>
          <p:cNvSpPr/>
          <p:nvPr/>
        </p:nvSpPr>
        <p:spPr>
          <a:xfrm>
            <a:off x="420624"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Sign in screen" descr="Sign in screen">    </p:cNvPr>
          <p:cNvPicPr>
            <a:picLocks noChangeAspect="1"/>
          </p:cNvPicPr>
          <p:nvPr/>
        </p:nvPicPr>
        <p:blipFill>
          <a:blip r:embed="rId1"/>
          <a:stretch>
            <a:fillRect/>
          </a:stretch>
        </p:blipFill>
        <p:spPr>
          <a:xfrm>
            <a:off x="457200" y="1097280"/>
            <a:ext cx="1288156" cy="2788920"/>
          </a:xfrm>
          <a:prstGeom prst="rect">
            <a:avLst/>
          </a:prstGeom>
        </p:spPr>
      </p:pic>
      <p:sp>
        <p:nvSpPr>
          <p:cNvPr id="5" name="step 1 marker"/>
          <p:cNvSpPr/>
          <p:nvPr/>
        </p:nvSpPr>
        <p:spPr>
          <a:xfrm>
            <a:off x="320040" y="960120"/>
            <a:ext cx="384048" cy="384048"/>
          </a:xfrm>
          <a:prstGeom prst="ellipse">
            <a:avLst/>
          </a:prstGeom>
          <a:solidFill>
            <a:schemeClr val="accent2"/>
          </a:solidFill>
          <a:ln w="25400">
            <a:solidFill>
              <a:schemeClr val="bg1"/>
            </a:solidFill>
            <a:prstDash val="solid"/>
          </a:ln>
        </p:spPr>
      </p:sp>
      <p:sp>
        <p:nvSpPr>
          <p:cNvPr id="6" name="Text 3"/>
          <p:cNvSpPr txBox="1"/>
          <p:nvPr/>
        </p:nvSpPr>
        <p:spPr>
          <a:xfrm>
            <a:off x="320040"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274320"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Sign in</a:t>
            </a:r>
            <a:endParaRPr lang="en-US" sz="1500" dirty="0"/>
          </a:p>
        </p:txBody>
      </p:sp>
      <p:sp>
        <p:nvSpPr>
          <p:cNvPr id="8" name="Text 5"/>
          <p:cNvSpPr txBox="1"/>
          <p:nvPr/>
        </p:nvSpPr>
        <p:spPr>
          <a:xfrm>
            <a:off x="228600"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With the code the school gives</a:t>
            </a:r>
            <a:endParaRPr lang="en-US" sz="1100" dirty="0"/>
          </a:p>
        </p:txBody>
      </p:sp>
      <p:sp>
        <p:nvSpPr>
          <p:cNvPr id="9" name="Take the test screen frame"/>
          <p:cNvSpPr/>
          <p:nvPr/>
        </p:nvSpPr>
        <p:spPr>
          <a:xfrm>
            <a:off x="2734439"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0" name="Take the test screen" descr="Take the test screen">    </p:cNvPr>
          <p:cNvPicPr>
            <a:picLocks noChangeAspect="1"/>
          </p:cNvPicPr>
          <p:nvPr/>
        </p:nvPicPr>
        <p:blipFill>
          <a:blip r:embed="rId2"/>
          <a:stretch>
            <a:fillRect/>
          </a:stretch>
        </p:blipFill>
        <p:spPr>
          <a:xfrm>
            <a:off x="2771015" y="1097280"/>
            <a:ext cx="1288156" cy="2788920"/>
          </a:xfrm>
          <a:prstGeom prst="rect">
            <a:avLst/>
          </a:prstGeom>
        </p:spPr>
      </p:pic>
      <p:sp>
        <p:nvSpPr>
          <p:cNvPr id="11" name="step 2 marker"/>
          <p:cNvSpPr/>
          <p:nvPr/>
        </p:nvSpPr>
        <p:spPr>
          <a:xfrm>
            <a:off x="2633855" y="960120"/>
            <a:ext cx="384048" cy="384048"/>
          </a:xfrm>
          <a:prstGeom prst="ellipse">
            <a:avLst/>
          </a:prstGeom>
          <a:solidFill>
            <a:schemeClr val="accent2"/>
          </a:solidFill>
          <a:ln w="25400">
            <a:solidFill>
              <a:schemeClr val="bg1"/>
            </a:solidFill>
            <a:prstDash val="solid"/>
          </a:ln>
        </p:spPr>
      </p:sp>
      <p:sp>
        <p:nvSpPr>
          <p:cNvPr id="12" name="Text 8"/>
          <p:cNvSpPr txBox="1"/>
          <p:nvPr/>
        </p:nvSpPr>
        <p:spPr>
          <a:xfrm>
            <a:off x="2633855"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2588135"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Take the test</a:t>
            </a:r>
            <a:endParaRPr lang="en-US" sz="1500" dirty="0"/>
          </a:p>
        </p:txBody>
      </p:sp>
      <p:sp>
        <p:nvSpPr>
          <p:cNvPr id="14" name="Text 10"/>
          <p:cNvSpPr txBox="1"/>
          <p:nvPr/>
        </p:nvSpPr>
        <p:spPr>
          <a:xfrm>
            <a:off x="2542415"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One question per screen</a:t>
            </a:r>
            <a:endParaRPr lang="en-US" sz="1100" dirty="0"/>
          </a:p>
        </p:txBody>
      </p:sp>
      <p:sp>
        <p:nvSpPr>
          <p:cNvPr id="15" name="Read the report screen frame"/>
          <p:cNvSpPr/>
          <p:nvPr/>
        </p:nvSpPr>
        <p:spPr>
          <a:xfrm>
            <a:off x="5048253"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Read the report screen" descr="Read the report screen">    </p:cNvPr>
          <p:cNvPicPr>
            <a:picLocks noChangeAspect="1"/>
          </p:cNvPicPr>
          <p:nvPr/>
        </p:nvPicPr>
        <p:blipFill>
          <a:blip r:embed="rId3"/>
          <a:stretch>
            <a:fillRect/>
          </a:stretch>
        </p:blipFill>
        <p:spPr>
          <a:xfrm>
            <a:off x="5084829" y="1097280"/>
            <a:ext cx="1288156" cy="2788920"/>
          </a:xfrm>
          <a:prstGeom prst="rect">
            <a:avLst/>
          </a:prstGeom>
        </p:spPr>
      </p:pic>
      <p:sp>
        <p:nvSpPr>
          <p:cNvPr id="17" name="step 3 marker"/>
          <p:cNvSpPr/>
          <p:nvPr/>
        </p:nvSpPr>
        <p:spPr>
          <a:xfrm>
            <a:off x="4947669" y="960120"/>
            <a:ext cx="384048" cy="384048"/>
          </a:xfrm>
          <a:prstGeom prst="ellipse">
            <a:avLst/>
          </a:prstGeom>
          <a:solidFill>
            <a:schemeClr val="accent2"/>
          </a:solidFill>
          <a:ln w="25400">
            <a:solidFill>
              <a:schemeClr val="bg1"/>
            </a:solidFill>
            <a:prstDash val="solid"/>
          </a:ln>
        </p:spPr>
      </p:sp>
      <p:sp>
        <p:nvSpPr>
          <p:cNvPr id="18" name="Text 13"/>
          <p:cNvSpPr txBox="1"/>
          <p:nvPr/>
        </p:nvSpPr>
        <p:spPr>
          <a:xfrm>
            <a:off x="4947669"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4"/>
          <p:cNvSpPr txBox="1"/>
          <p:nvPr/>
        </p:nvSpPr>
        <p:spPr>
          <a:xfrm>
            <a:off x="4901949"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Read the report</a:t>
            </a:r>
            <a:endParaRPr lang="en-US" sz="1500" dirty="0"/>
          </a:p>
        </p:txBody>
      </p:sp>
      <p:sp>
        <p:nvSpPr>
          <p:cNvPr id="20" name="Text 15"/>
          <p:cNvSpPr txBox="1"/>
          <p:nvPr/>
        </p:nvSpPr>
        <p:spPr>
          <a:xfrm>
            <a:off x="4856229"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Interest code and strengths</a:t>
            </a:r>
            <a:endParaRPr lang="en-US" sz="1100" dirty="0"/>
          </a:p>
        </p:txBody>
      </p:sp>
      <p:sp>
        <p:nvSpPr>
          <p:cNvPr id="21" name="Explore careers screen frame"/>
          <p:cNvSpPr/>
          <p:nvPr/>
        </p:nvSpPr>
        <p:spPr>
          <a:xfrm>
            <a:off x="7362068" y="1060704"/>
            <a:ext cx="1361308" cy="2862072"/>
          </a:xfrm>
          <a:prstGeom prst="roundRect">
            <a:avLst>
              <a:gd name="adj" fmla="val 10747"/>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Explore careers screen" descr="Explore careers screen">    </p:cNvPr>
          <p:cNvPicPr>
            <a:picLocks noChangeAspect="1"/>
          </p:cNvPicPr>
          <p:nvPr/>
        </p:nvPicPr>
        <p:blipFill>
          <a:blip r:embed="rId4"/>
          <a:stretch>
            <a:fillRect/>
          </a:stretch>
        </p:blipFill>
        <p:spPr>
          <a:xfrm>
            <a:off x="7398644" y="1097280"/>
            <a:ext cx="1288156" cy="2788920"/>
          </a:xfrm>
          <a:prstGeom prst="rect">
            <a:avLst/>
          </a:prstGeom>
        </p:spPr>
      </p:pic>
      <p:sp>
        <p:nvSpPr>
          <p:cNvPr id="23" name="step 4 marker"/>
          <p:cNvSpPr/>
          <p:nvPr/>
        </p:nvSpPr>
        <p:spPr>
          <a:xfrm>
            <a:off x="7261484" y="960120"/>
            <a:ext cx="384048" cy="384048"/>
          </a:xfrm>
          <a:prstGeom prst="ellipse">
            <a:avLst/>
          </a:prstGeom>
          <a:solidFill>
            <a:schemeClr val="accent2"/>
          </a:solidFill>
          <a:ln w="25400">
            <a:solidFill>
              <a:schemeClr val="bg1"/>
            </a:solidFill>
            <a:prstDash val="solid"/>
          </a:ln>
        </p:spPr>
      </p:sp>
      <p:sp>
        <p:nvSpPr>
          <p:cNvPr id="24" name="Text 18"/>
          <p:cNvSpPr txBox="1"/>
          <p:nvPr/>
        </p:nvSpPr>
        <p:spPr>
          <a:xfrm>
            <a:off x="7261484" y="960120"/>
            <a:ext cx="384048" cy="384048"/>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19"/>
          <p:cNvSpPr txBox="1"/>
          <p:nvPr/>
        </p:nvSpPr>
        <p:spPr>
          <a:xfrm>
            <a:off x="7215764" y="4005072"/>
            <a:ext cx="1653916" cy="292608"/>
          </a:xfrm>
          <a:prstGeom prst="rect">
            <a:avLst/>
          </a:prstGeom>
          <a:noFill/>
          <a:ln/>
        </p:spPr>
        <p:txBody>
          <a:bodyPr wrap="square" lIns="0" tIns="0" rIns="0" bIns="0" rtlCol="0" anchor="ctr"/>
          <a:lstStyle/>
          <a:p>
            <a:pPr algn="ctr" indent="0" marL="0">
              <a:buNone/>
            </a:pPr>
            <a:r>
              <a:rPr lang="en-US" sz="1500" b="1" dirty="0">
                <a:solidFill>
                  <a:schemeClr val="tx2"/>
                </a:solidFill>
              </a:rPr>
              <a:t>Explore careers</a:t>
            </a:r>
            <a:endParaRPr lang="en-US" sz="1500" dirty="0"/>
          </a:p>
        </p:txBody>
      </p:sp>
      <p:sp>
        <p:nvSpPr>
          <p:cNvPr id="26" name="Text 20"/>
          <p:cNvSpPr txBox="1"/>
          <p:nvPr/>
        </p:nvSpPr>
        <p:spPr>
          <a:xfrm>
            <a:off x="7170044" y="4279392"/>
            <a:ext cx="1745356" cy="274320"/>
          </a:xfrm>
          <a:prstGeom prst="rect">
            <a:avLst/>
          </a:prstGeom>
          <a:noFill/>
          <a:ln/>
        </p:spPr>
        <p:txBody>
          <a:bodyPr wrap="square" lIns="0" tIns="0" rIns="0" bIns="0" rtlCol="0" anchor="ctr"/>
          <a:lstStyle/>
          <a:p>
            <a:pPr algn="ctr" indent="0" marL="0">
              <a:buNone/>
            </a:pPr>
            <a:r>
              <a:rPr lang="en-US" sz="1100" dirty="0">
                <a:solidFill>
                  <a:schemeClr val="accent5"/>
                </a:solidFill>
              </a:rPr>
              <a:t>Best fit first, with routes</a:t>
            </a:r>
            <a:endParaRPr lang="en-US" sz="11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The test: 56 questions, about 10 minutes</a:t>
            </a:r>
            <a:endParaRPr lang="en-US" sz="2800" dirty="0"/>
          </a:p>
        </p:txBody>
      </p:sp>
      <p:sp>
        <p:nvSpPr>
          <p:cNvPr id="3" name="test point 1 circle"/>
          <p:cNvSpPr/>
          <p:nvPr/>
        </p:nvSpPr>
        <p:spPr>
          <a:xfrm>
            <a:off x="457200" y="1143000"/>
            <a:ext cx="502920" cy="502920"/>
          </a:xfrm>
          <a:prstGeom prst="ellipse">
            <a:avLst/>
          </a:prstGeom>
          <a:solidFill>
            <a:schemeClr val="accent1"/>
          </a:solidFill>
          <a:ln/>
        </p:spPr>
      </p:sp>
      <p:pic>
        <p:nvPicPr>
          <p:cNvPr id="4" name="test point 1 icon" descr="preencoded.png">    </p:cNvPr>
          <p:cNvPicPr>
            <a:picLocks noChangeAspect="1"/>
          </p:cNvPicPr>
          <p:nvPr/>
        </p:nvPicPr>
        <p:blipFill>
          <a:blip r:embed="rId1"/>
          <a:stretch>
            <a:fillRect/>
          </a:stretch>
        </p:blipFill>
        <p:spPr>
          <a:xfrm>
            <a:off x="587959" y="1273759"/>
            <a:ext cx="241402" cy="241402"/>
          </a:xfrm>
          <a:prstGeom prst="rect">
            <a:avLst/>
          </a:prstGeom>
        </p:spPr>
      </p:pic>
      <p:sp>
        <p:nvSpPr>
          <p:cNvPr id="5" name="Text 2"/>
          <p:cNvSpPr txBox="1"/>
          <p:nvPr/>
        </p:nvSpPr>
        <p:spPr>
          <a:xfrm>
            <a:off x="114300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36 interest questions</a:t>
            </a:r>
            <a:endParaRPr lang="en-US" sz="1600" dirty="0"/>
          </a:p>
        </p:txBody>
      </p:sp>
      <p:sp>
        <p:nvSpPr>
          <p:cNvPr id="6" name="Text 3"/>
          <p:cNvSpPr txBox="1"/>
          <p:nvPr/>
        </p:nvSpPr>
        <p:spPr>
          <a:xfrm>
            <a:off x="1143000" y="1389888"/>
            <a:ext cx="4023360" cy="502920"/>
          </a:xfrm>
          <a:prstGeom prst="rect">
            <a:avLst/>
          </a:prstGeom>
          <a:noFill/>
          <a:ln/>
        </p:spPr>
        <p:txBody>
          <a:bodyPr wrap="square" lIns="0" tIns="0" rIns="0" bIns="0" rtlCol="0" anchor="t"/>
          <a:lstStyle/>
          <a:p>
            <a:pPr indent="0" marL="0">
              <a:buNone/>
            </a:pPr>
            <a:r>
              <a:rPr lang="en-US" sz="1300" dirty="0">
                <a:solidFill>
                  <a:schemeClr val="tx1"/>
                </a:solidFill>
              </a:rPr>
              <a:t>Six per RIASEC type, about everyday activities — repairing a fan, helping a child study.</a:t>
            </a:r>
            <a:endParaRPr lang="en-US" sz="1300" dirty="0"/>
          </a:p>
        </p:txBody>
      </p:sp>
      <p:sp>
        <p:nvSpPr>
          <p:cNvPr id="7" name="test point 2 circle"/>
          <p:cNvSpPr/>
          <p:nvPr/>
        </p:nvSpPr>
        <p:spPr>
          <a:xfrm>
            <a:off x="457200" y="1984248"/>
            <a:ext cx="502920" cy="502920"/>
          </a:xfrm>
          <a:prstGeom prst="ellipse">
            <a:avLst/>
          </a:prstGeom>
          <a:solidFill>
            <a:schemeClr val="accent2"/>
          </a:solidFill>
          <a:ln/>
        </p:spPr>
      </p:sp>
      <p:pic>
        <p:nvPicPr>
          <p:cNvPr id="8" name="test point 2 icon" descr="preencoded.png">    </p:cNvPr>
          <p:cNvPicPr>
            <a:picLocks noChangeAspect="1"/>
          </p:cNvPicPr>
          <p:nvPr/>
        </p:nvPicPr>
        <p:blipFill>
          <a:blip r:embed="rId2"/>
          <a:stretch>
            <a:fillRect/>
          </a:stretch>
        </p:blipFill>
        <p:spPr>
          <a:xfrm>
            <a:off x="587959" y="2115007"/>
            <a:ext cx="241402" cy="241402"/>
          </a:xfrm>
          <a:prstGeom prst="rect">
            <a:avLst/>
          </a:prstGeom>
        </p:spPr>
      </p:pic>
      <p:sp>
        <p:nvSpPr>
          <p:cNvPr id="9" name="Text 5"/>
          <p:cNvSpPr txBox="1"/>
          <p:nvPr/>
        </p:nvSpPr>
        <p:spPr>
          <a:xfrm>
            <a:off x="1143000" y="1938528"/>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20 personality questions</a:t>
            </a:r>
            <a:endParaRPr lang="en-US" sz="1600" dirty="0"/>
          </a:p>
        </p:txBody>
      </p:sp>
      <p:sp>
        <p:nvSpPr>
          <p:cNvPr id="10" name="Text 6"/>
          <p:cNvSpPr txBox="1"/>
          <p:nvPr/>
        </p:nvSpPr>
        <p:spPr>
          <a:xfrm>
            <a:off x="1143000" y="2231136"/>
            <a:ext cx="4023360" cy="502920"/>
          </a:xfrm>
          <a:prstGeom prst="rect">
            <a:avLst/>
          </a:prstGeom>
          <a:noFill/>
          <a:ln/>
        </p:spPr>
        <p:txBody>
          <a:bodyPr wrap="square" lIns="0" tIns="0" rIns="0" bIns="0" rtlCol="0" anchor="t"/>
          <a:lstStyle/>
          <a:p>
            <a:pPr indent="0" marL="0">
              <a:buNone/>
            </a:pPr>
            <a:r>
              <a:rPr lang="en-US" sz="1300" dirty="0">
                <a:solidFill>
                  <a:schemeClr val="tx1"/>
                </a:solidFill>
              </a:rPr>
              <a:t>The Mini-IPIP Big Five, from the public-domain International Personality Item Pool.</a:t>
            </a:r>
            <a:endParaRPr lang="en-US" sz="1300" dirty="0"/>
          </a:p>
        </p:txBody>
      </p:sp>
      <p:sp>
        <p:nvSpPr>
          <p:cNvPr id="11" name="test point 3 circle"/>
          <p:cNvSpPr/>
          <p:nvPr/>
        </p:nvSpPr>
        <p:spPr>
          <a:xfrm>
            <a:off x="457200" y="2825496"/>
            <a:ext cx="502920" cy="502920"/>
          </a:xfrm>
          <a:prstGeom prst="ellipse">
            <a:avLst/>
          </a:prstGeom>
          <a:solidFill>
            <a:schemeClr val="accent3"/>
          </a:solidFill>
          <a:ln/>
        </p:spPr>
      </p:sp>
      <p:pic>
        <p:nvPicPr>
          <p:cNvPr id="12" name="test point 3 icon" descr="preencoded.png">    </p:cNvPr>
          <p:cNvPicPr>
            <a:picLocks noChangeAspect="1"/>
          </p:cNvPicPr>
          <p:nvPr/>
        </p:nvPicPr>
        <p:blipFill>
          <a:blip r:embed="rId3"/>
          <a:stretch>
            <a:fillRect/>
          </a:stretch>
        </p:blipFill>
        <p:spPr>
          <a:xfrm>
            <a:off x="587959" y="2956255"/>
            <a:ext cx="241402" cy="241402"/>
          </a:xfrm>
          <a:prstGeom prst="rect">
            <a:avLst/>
          </a:prstGeom>
        </p:spPr>
      </p:pic>
      <p:sp>
        <p:nvSpPr>
          <p:cNvPr id="13" name="Text 8"/>
          <p:cNvSpPr txBox="1"/>
          <p:nvPr/>
        </p:nvSpPr>
        <p:spPr>
          <a:xfrm>
            <a:off x="1143000" y="277977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Made for a shared phone</a:t>
            </a:r>
            <a:endParaRPr lang="en-US" sz="1600" dirty="0"/>
          </a:p>
        </p:txBody>
      </p:sp>
      <p:sp>
        <p:nvSpPr>
          <p:cNvPr id="14" name="Text 9"/>
          <p:cNvSpPr txBox="1"/>
          <p:nvPr/>
        </p:nvSpPr>
        <p:spPr>
          <a:xfrm>
            <a:off x="1143000" y="3072384"/>
            <a:ext cx="4023360" cy="502920"/>
          </a:xfrm>
          <a:prstGeom prst="rect">
            <a:avLst/>
          </a:prstGeom>
          <a:noFill/>
          <a:ln/>
        </p:spPr>
        <p:txBody>
          <a:bodyPr wrap="square" lIns="0" tIns="0" rIns="0" bIns="0" rtlCol="0" anchor="t"/>
          <a:lstStyle/>
          <a:p>
            <a:pPr indent="0" marL="0">
              <a:buNone/>
            </a:pPr>
            <a:r>
              <a:rPr lang="en-US" sz="1300" dirty="0">
                <a:solidFill>
                  <a:schemeClr val="tx1"/>
                </a:solidFill>
              </a:rPr>
              <a:t>Big tap targets, an emoji per activity, progress kept through a reload or a phone call.</a:t>
            </a:r>
            <a:endParaRPr lang="en-US" sz="1300" dirty="0"/>
          </a:p>
        </p:txBody>
      </p:sp>
      <p:sp>
        <p:nvSpPr>
          <p:cNvPr id="15" name="test point 4 circle"/>
          <p:cNvSpPr/>
          <p:nvPr/>
        </p:nvSpPr>
        <p:spPr>
          <a:xfrm>
            <a:off x="457200" y="3666744"/>
            <a:ext cx="502920" cy="502920"/>
          </a:xfrm>
          <a:prstGeom prst="ellipse">
            <a:avLst/>
          </a:prstGeom>
          <a:solidFill>
            <a:schemeClr val="tx2"/>
          </a:solidFill>
          <a:ln/>
        </p:spPr>
      </p:sp>
      <p:pic>
        <p:nvPicPr>
          <p:cNvPr id="16" name="test point 4 icon" descr="preencoded.png">    </p:cNvPr>
          <p:cNvPicPr>
            <a:picLocks noChangeAspect="1"/>
          </p:cNvPicPr>
          <p:nvPr/>
        </p:nvPicPr>
        <p:blipFill>
          <a:blip r:embed="rId4"/>
          <a:stretch>
            <a:fillRect/>
          </a:stretch>
        </p:blipFill>
        <p:spPr>
          <a:xfrm>
            <a:off x="587959" y="3797503"/>
            <a:ext cx="241402" cy="241402"/>
          </a:xfrm>
          <a:prstGeom prst="rect">
            <a:avLst/>
          </a:prstGeom>
        </p:spPr>
      </p:pic>
      <p:sp>
        <p:nvSpPr>
          <p:cNvPr id="17" name="Text 11"/>
          <p:cNvSpPr txBox="1"/>
          <p:nvPr/>
        </p:nvSpPr>
        <p:spPr>
          <a:xfrm>
            <a:off x="1143000" y="36210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Scored on the server</a:t>
            </a:r>
            <a:endParaRPr lang="en-US" sz="1600" dirty="0"/>
          </a:p>
        </p:txBody>
      </p:sp>
      <p:sp>
        <p:nvSpPr>
          <p:cNvPr id="18" name="Text 12"/>
          <p:cNvSpPr txBox="1"/>
          <p:nvPr/>
        </p:nvSpPr>
        <p:spPr>
          <a:xfrm>
            <a:off x="1143000" y="3913632"/>
            <a:ext cx="4023360" cy="502920"/>
          </a:xfrm>
          <a:prstGeom prst="rect">
            <a:avLst/>
          </a:prstGeom>
          <a:noFill/>
          <a:ln/>
        </p:spPr>
        <p:txBody>
          <a:bodyPr wrap="square" lIns="0" tIns="0" rIns="0" bIns="0" rtlCol="0" anchor="t"/>
          <a:lstStyle/>
          <a:p>
            <a:pPr indent="0" marL="0">
              <a:buNone/>
            </a:pPr>
            <a:r>
              <a:rPr lang="en-US" sz="1300" dirty="0">
                <a:solidFill>
                  <a:schemeClr val="tx1"/>
                </a:solidFill>
              </a:rPr>
              <a:t>The phone sends answers; the server scores and saves them, so nobody can edit a result.</a:t>
            </a:r>
            <a:endParaRPr lang="en-US" sz="1300" dirty="0"/>
          </a:p>
        </p:txBody>
      </p:sp>
      <p:sp>
        <p:nvSpPr>
          <p:cNvPr id="19" name="Interest question screen frame"/>
          <p:cNvSpPr/>
          <p:nvPr/>
        </p:nvSpPr>
        <p:spPr>
          <a:xfrm>
            <a:off x="54498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0" name="Interest question screen" descr="Interest question screen">    </p:cNvPr>
          <p:cNvPicPr>
            <a:picLocks noChangeAspect="1"/>
          </p:cNvPicPr>
          <p:nvPr/>
        </p:nvPicPr>
        <p:blipFill>
          <a:blip r:embed="rId5"/>
          <a:stretch>
            <a:fillRect/>
          </a:stretch>
        </p:blipFill>
        <p:spPr>
          <a:xfrm>
            <a:off x="5486400" y="1097280"/>
            <a:ext cx="1520446" cy="3291840"/>
          </a:xfrm>
          <a:prstGeom prst="rect">
            <a:avLst/>
          </a:prstGeom>
        </p:spPr>
      </p:pic>
      <p:sp>
        <p:nvSpPr>
          <p:cNvPr id="21" name="Personality question screen frame"/>
          <p:cNvSpPr/>
          <p:nvPr/>
        </p:nvSpPr>
        <p:spPr>
          <a:xfrm>
            <a:off x="71414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22" name="Personality question screen" descr="Personality question screen">    </p:cNvPr>
          <p:cNvPicPr>
            <a:picLocks noChangeAspect="1"/>
          </p:cNvPicPr>
          <p:nvPr/>
        </p:nvPicPr>
        <p:blipFill>
          <a:blip r:embed="rId6"/>
          <a:stretch>
            <a:fillRect/>
          </a:stretch>
        </p:blipFill>
        <p:spPr>
          <a:xfrm>
            <a:off x="7178040" y="1325880"/>
            <a:ext cx="1414860" cy="3063240"/>
          </a:xfrm>
          <a:prstGeom prst="rect">
            <a:avLst/>
          </a:prstGeom>
        </p:spPr>
      </p:pic>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A report written for the student, not the counsellor</a:t>
            </a:r>
            <a:endParaRPr lang="en-US" sz="2800" dirty="0"/>
          </a:p>
        </p:txBody>
      </p:sp>
      <p:sp>
        <p:nvSpPr>
          <p:cNvPr id="3" name="Report summary screen frame"/>
          <p:cNvSpPr/>
          <p:nvPr/>
        </p:nvSpPr>
        <p:spPr>
          <a:xfrm>
            <a:off x="420624" y="1060704"/>
            <a:ext cx="1593598" cy="3364992"/>
          </a:xfrm>
          <a:prstGeom prst="roundRect">
            <a:avLst>
              <a:gd name="adj" fmla="val 918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4" name="Report summary screen" descr="Report summary screen">    </p:cNvPr>
          <p:cNvPicPr>
            <a:picLocks noChangeAspect="1"/>
          </p:cNvPicPr>
          <p:nvPr/>
        </p:nvPicPr>
        <p:blipFill>
          <a:blip r:embed="rId1"/>
          <a:stretch>
            <a:fillRect/>
          </a:stretch>
        </p:blipFill>
        <p:spPr>
          <a:xfrm>
            <a:off x="457200" y="1097280"/>
            <a:ext cx="1520446" cy="3291840"/>
          </a:xfrm>
          <a:prstGeom prst="rect">
            <a:avLst/>
          </a:prstGeom>
        </p:spPr>
      </p:pic>
      <p:sp>
        <p:nvSpPr>
          <p:cNvPr id="5" name="Report careers screen frame"/>
          <p:cNvSpPr/>
          <p:nvPr/>
        </p:nvSpPr>
        <p:spPr>
          <a:xfrm>
            <a:off x="2112264" y="1289304"/>
            <a:ext cx="1488012" cy="3136392"/>
          </a:xfrm>
          <a:prstGeom prst="roundRect">
            <a:avLst>
              <a:gd name="adj" fmla="val 9832"/>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6" name="Report careers screen" descr="Report careers screen">    </p:cNvPr>
          <p:cNvPicPr>
            <a:picLocks noChangeAspect="1"/>
          </p:cNvPicPr>
          <p:nvPr/>
        </p:nvPicPr>
        <p:blipFill>
          <a:blip r:embed="rId2"/>
          <a:stretch>
            <a:fillRect/>
          </a:stretch>
        </p:blipFill>
        <p:spPr>
          <a:xfrm>
            <a:off x="2148840" y="1325880"/>
            <a:ext cx="1414860" cy="3063240"/>
          </a:xfrm>
          <a:prstGeom prst="rect">
            <a:avLst/>
          </a:prstGeom>
        </p:spPr>
      </p:pic>
      <p:sp>
        <p:nvSpPr>
          <p:cNvPr id="7" name="report point 1 marker"/>
          <p:cNvSpPr/>
          <p:nvPr/>
        </p:nvSpPr>
        <p:spPr>
          <a:xfrm>
            <a:off x="4160520" y="1133856"/>
            <a:ext cx="329184" cy="329184"/>
          </a:xfrm>
          <a:prstGeom prst="ellipse">
            <a:avLst/>
          </a:prstGeom>
          <a:solidFill>
            <a:schemeClr val="accent1"/>
          </a:solidFill>
          <a:ln/>
        </p:spPr>
      </p:sp>
      <p:sp>
        <p:nvSpPr>
          <p:cNvPr id="8" name="Text 4"/>
          <p:cNvSpPr txBox="1"/>
          <p:nvPr/>
        </p:nvSpPr>
        <p:spPr>
          <a:xfrm>
            <a:off x="4160520" y="1133856"/>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5"/>
          <p:cNvSpPr txBox="1"/>
          <p:nvPr/>
        </p:nvSpPr>
        <p:spPr>
          <a:xfrm>
            <a:off x="4663440" y="1097280"/>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Their interest code</a:t>
            </a:r>
            <a:endParaRPr lang="en-US" sz="1600" dirty="0"/>
          </a:p>
        </p:txBody>
      </p:sp>
      <p:sp>
        <p:nvSpPr>
          <p:cNvPr id="10" name="Text 6"/>
          <p:cNvSpPr txBox="1"/>
          <p:nvPr/>
        </p:nvSpPr>
        <p:spPr>
          <a:xfrm>
            <a:off x="4663440" y="1389888"/>
            <a:ext cx="4023360" cy="475488"/>
          </a:xfrm>
          <a:prstGeom prst="rect">
            <a:avLst/>
          </a:prstGeom>
          <a:noFill/>
          <a:ln/>
        </p:spPr>
        <p:txBody>
          <a:bodyPr wrap="square" lIns="0" tIns="0" rIns="0" bIns="0" rtlCol="0" anchor="t"/>
          <a:lstStyle/>
          <a:p>
            <a:pPr indent="0" marL="0">
              <a:buNone/>
            </a:pPr>
            <a:r>
              <a:rPr lang="en-US" sz="1300" dirty="0">
                <a:solidFill>
                  <a:schemeClr val="tx1"/>
                </a:solidFill>
              </a:rPr>
              <a:t>e.g. Creator · Helper · Thinker, with what each means.</a:t>
            </a:r>
            <a:endParaRPr lang="en-US" sz="1300" dirty="0"/>
          </a:p>
        </p:txBody>
      </p:sp>
      <p:sp>
        <p:nvSpPr>
          <p:cNvPr id="11" name="report point 2 marker"/>
          <p:cNvSpPr/>
          <p:nvPr/>
        </p:nvSpPr>
        <p:spPr>
          <a:xfrm>
            <a:off x="4160520" y="1938528"/>
            <a:ext cx="329184" cy="329184"/>
          </a:xfrm>
          <a:prstGeom prst="ellipse">
            <a:avLst/>
          </a:prstGeom>
          <a:solidFill>
            <a:schemeClr val="accent1"/>
          </a:solidFill>
          <a:ln/>
        </p:spPr>
      </p:sp>
      <p:sp>
        <p:nvSpPr>
          <p:cNvPr id="12" name="Text 8"/>
          <p:cNvSpPr txBox="1"/>
          <p:nvPr/>
        </p:nvSpPr>
        <p:spPr>
          <a:xfrm>
            <a:off x="4160520" y="1938528"/>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3" name="Text 9"/>
          <p:cNvSpPr txBox="1"/>
          <p:nvPr/>
        </p:nvSpPr>
        <p:spPr>
          <a:xfrm>
            <a:off x="4663440" y="1901952"/>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Strengths, never weaknesses</a:t>
            </a:r>
            <a:endParaRPr lang="en-US" sz="1600" dirty="0"/>
          </a:p>
        </p:txBody>
      </p:sp>
      <p:sp>
        <p:nvSpPr>
          <p:cNvPr id="14" name="Text 10"/>
          <p:cNvSpPr txBox="1"/>
          <p:nvPr/>
        </p:nvSpPr>
        <p:spPr>
          <a:xfrm>
            <a:off x="4663440" y="2194560"/>
            <a:ext cx="4023360" cy="475488"/>
          </a:xfrm>
          <a:prstGeom prst="rect">
            <a:avLst/>
          </a:prstGeom>
          <a:noFill/>
          <a:ln/>
        </p:spPr>
        <p:txBody>
          <a:bodyPr wrap="square" lIns="0" tIns="0" rIns="0" bIns="0" rtlCol="0" anchor="t"/>
          <a:lstStyle/>
          <a:p>
            <a:pPr indent="0" marL="0">
              <a:buNone/>
            </a:pPr>
            <a:r>
              <a:rPr lang="en-US" sz="1300" dirty="0">
                <a:solidFill>
                  <a:schemeClr val="tx1"/>
                </a:solidFill>
              </a:rPr>
              <a:t>Every level of every trait is a way of being that suits some work. Neuroticism is shown as Calmness.</a:t>
            </a:r>
            <a:endParaRPr lang="en-US" sz="1300" dirty="0"/>
          </a:p>
        </p:txBody>
      </p:sp>
      <p:sp>
        <p:nvSpPr>
          <p:cNvPr id="15" name="report point 3 marker"/>
          <p:cNvSpPr/>
          <p:nvPr/>
        </p:nvSpPr>
        <p:spPr>
          <a:xfrm>
            <a:off x="4160520" y="2743200"/>
            <a:ext cx="329184" cy="329184"/>
          </a:xfrm>
          <a:prstGeom prst="ellipse">
            <a:avLst/>
          </a:prstGeom>
          <a:solidFill>
            <a:schemeClr val="accent1"/>
          </a:solidFill>
          <a:ln/>
        </p:spPr>
      </p:sp>
      <p:sp>
        <p:nvSpPr>
          <p:cNvPr id="16" name="Text 12"/>
          <p:cNvSpPr txBox="1"/>
          <p:nvPr/>
        </p:nvSpPr>
        <p:spPr>
          <a:xfrm>
            <a:off x="4160520" y="2743200"/>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3"/>
          <p:cNvSpPr txBox="1"/>
          <p:nvPr/>
        </p:nvSpPr>
        <p:spPr>
          <a:xfrm>
            <a:off x="4663440" y="2706624"/>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Six careers that fit</a:t>
            </a:r>
            <a:endParaRPr lang="en-US" sz="1600" dirty="0"/>
          </a:p>
        </p:txBody>
      </p:sp>
      <p:sp>
        <p:nvSpPr>
          <p:cNvPr id="18" name="Text 14"/>
          <p:cNvSpPr txBox="1"/>
          <p:nvPr/>
        </p:nvSpPr>
        <p:spPr>
          <a:xfrm>
            <a:off x="4663440" y="2999232"/>
            <a:ext cx="4023360" cy="475488"/>
          </a:xfrm>
          <a:prstGeom prst="rect">
            <a:avLst/>
          </a:prstGeom>
          <a:noFill/>
          <a:ln/>
        </p:spPr>
        <p:txBody>
          <a:bodyPr wrap="square" lIns="0" tIns="0" rIns="0" bIns="0" rtlCol="0" anchor="t"/>
          <a:lstStyle/>
          <a:p>
            <a:pPr indent="0" marL="0">
              <a:buNone/>
            </a:pPr>
            <a:r>
              <a:rPr lang="en-US" sz="1300" dirty="0">
                <a:solidFill>
                  <a:schemeClr val="tx1"/>
                </a:solidFill>
              </a:rPr>
              <a:t>Each with what the job is and how to get there from Class 10.</a:t>
            </a:r>
            <a:endParaRPr lang="en-US" sz="1300" dirty="0"/>
          </a:p>
        </p:txBody>
      </p:sp>
      <p:sp>
        <p:nvSpPr>
          <p:cNvPr id="19" name="report point 4 marker"/>
          <p:cNvSpPr/>
          <p:nvPr/>
        </p:nvSpPr>
        <p:spPr>
          <a:xfrm>
            <a:off x="4160520" y="3547872"/>
            <a:ext cx="329184" cy="329184"/>
          </a:xfrm>
          <a:prstGeom prst="ellipse">
            <a:avLst/>
          </a:prstGeom>
          <a:solidFill>
            <a:schemeClr val="accent1"/>
          </a:solidFill>
          <a:ln/>
        </p:spPr>
      </p:sp>
      <p:sp>
        <p:nvSpPr>
          <p:cNvPr id="20" name="Text 16"/>
          <p:cNvSpPr txBox="1"/>
          <p:nvPr/>
        </p:nvSpPr>
        <p:spPr>
          <a:xfrm>
            <a:off x="4160520" y="3547872"/>
            <a:ext cx="329184" cy="329184"/>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1" name="Text 17"/>
          <p:cNvSpPr txBox="1"/>
          <p:nvPr/>
        </p:nvSpPr>
        <p:spPr>
          <a:xfrm>
            <a:off x="4663440" y="3511296"/>
            <a:ext cx="4023360" cy="292608"/>
          </a:xfrm>
          <a:prstGeom prst="rect">
            <a:avLst/>
          </a:prstGeom>
          <a:noFill/>
          <a:ln/>
        </p:spPr>
        <p:txBody>
          <a:bodyPr wrap="square" lIns="0" tIns="0" rIns="0" bIns="0" rtlCol="0" anchor="ctr"/>
          <a:lstStyle/>
          <a:p>
            <a:pPr indent="0" marL="0">
              <a:buNone/>
            </a:pPr>
            <a:r>
              <a:rPr lang="en-US" sz="1600" b="1" dirty="0">
                <a:solidFill>
                  <a:schemeClr val="tx2"/>
                </a:solidFill>
              </a:rPr>
              <a:t>Next steps — and a printout</a:t>
            </a:r>
            <a:endParaRPr lang="en-US" sz="1600" dirty="0"/>
          </a:p>
        </p:txBody>
      </p:sp>
      <p:sp>
        <p:nvSpPr>
          <p:cNvPr id="22" name="Text 18"/>
          <p:cNvSpPr txBox="1"/>
          <p:nvPr/>
        </p:nvSpPr>
        <p:spPr>
          <a:xfrm>
            <a:off x="4663440" y="3803904"/>
            <a:ext cx="4023360" cy="475488"/>
          </a:xfrm>
          <a:prstGeom prst="rect">
            <a:avLst/>
          </a:prstGeom>
          <a:noFill/>
          <a:ln/>
        </p:spPr>
        <p:txBody>
          <a:bodyPr wrap="square" lIns="0" tIns="0" rIns="0" bIns="0" rtlCol="0" anchor="t"/>
          <a:lstStyle/>
          <a:p>
            <a:pPr indent="0" marL="0">
              <a:buNone/>
            </a:pPr>
            <a:r>
              <a:rPr lang="en-US" sz="1300" dirty="0">
                <a:solidFill>
                  <a:schemeClr val="tx1"/>
                </a:solidFill>
              </a:rPr>
              <a:t>What to do this month, and a print-ready page to discuss at home.</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Teachers see the whole class at a glance</a:t>
            </a:r>
            <a:endParaRPr lang="en-US" sz="2800" dirty="0"/>
          </a:p>
        </p:txBody>
      </p:sp>
      <p:sp>
        <p:nvSpPr>
          <p:cNvPr id="3" name="teacher point 1 circle"/>
          <p:cNvSpPr/>
          <p:nvPr/>
        </p:nvSpPr>
        <p:spPr>
          <a:xfrm>
            <a:off x="457200" y="1188720"/>
            <a:ext cx="594360" cy="594360"/>
          </a:xfrm>
          <a:prstGeom prst="ellipse">
            <a:avLst/>
          </a:prstGeom>
          <a:solidFill>
            <a:schemeClr val="accent3"/>
          </a:solidFill>
          <a:ln/>
        </p:spPr>
      </p:sp>
      <p:pic>
        <p:nvPicPr>
          <p:cNvPr id="4" name="teacher point 1 icon"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5" name="Text 2"/>
          <p:cNvSpPr txBox="1"/>
          <p:nvPr/>
        </p:nvSpPr>
        <p:spPr>
          <a:xfrm>
            <a:off x="1280160" y="117043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Who has finished</a:t>
            </a:r>
            <a:endParaRPr lang="en-US" sz="1700" dirty="0"/>
          </a:p>
        </p:txBody>
      </p:sp>
      <p:sp>
        <p:nvSpPr>
          <p:cNvPr id="6" name="Text 3"/>
          <p:cNvSpPr txBox="1"/>
          <p:nvPr/>
        </p:nvSpPr>
        <p:spPr>
          <a:xfrm>
            <a:off x="1280160" y="1499616"/>
            <a:ext cx="3657600" cy="365760"/>
          </a:xfrm>
          <a:prstGeom prst="rect">
            <a:avLst/>
          </a:prstGeom>
          <a:noFill/>
          <a:ln/>
        </p:spPr>
        <p:txBody>
          <a:bodyPr wrap="square" lIns="0" tIns="0" rIns="0" bIns="0" rtlCol="0" anchor="ctr"/>
          <a:lstStyle/>
          <a:p>
            <a:pPr indent="0" marL="0">
              <a:buNone/>
            </a:pPr>
            <a:r>
              <a:rPr lang="en-US" sz="1400" dirty="0">
                <a:solidFill>
                  <a:schemeClr val="tx1"/>
                </a:solidFill>
              </a:rPr>
              <a:t>Follow up with the students who haven’t.</a:t>
            </a:r>
            <a:endParaRPr lang="en-US" sz="1400" dirty="0"/>
          </a:p>
        </p:txBody>
      </p:sp>
      <p:sp>
        <p:nvSpPr>
          <p:cNvPr id="7" name="teacher point 2 circle"/>
          <p:cNvSpPr/>
          <p:nvPr/>
        </p:nvSpPr>
        <p:spPr>
          <a:xfrm>
            <a:off x="457200" y="2194560"/>
            <a:ext cx="594360" cy="594360"/>
          </a:xfrm>
          <a:prstGeom prst="ellipse">
            <a:avLst/>
          </a:prstGeom>
          <a:solidFill>
            <a:schemeClr val="accent1"/>
          </a:solidFill>
          <a:ln/>
        </p:spPr>
      </p:sp>
      <p:pic>
        <p:nvPicPr>
          <p:cNvPr id="8" name="teacher point 2 icon" descr="preencoded.png">    </p:cNvPr>
          <p:cNvPicPr>
            <a:picLocks noChangeAspect="1"/>
          </p:cNvPicPr>
          <p:nvPr/>
        </p:nvPicPr>
        <p:blipFill>
          <a:blip r:embed="rId2"/>
          <a:stretch>
            <a:fillRect/>
          </a:stretch>
        </p:blipFill>
        <p:spPr>
          <a:xfrm>
            <a:off x="611734" y="2349094"/>
            <a:ext cx="285293" cy="285293"/>
          </a:xfrm>
          <a:prstGeom prst="rect">
            <a:avLst/>
          </a:prstGeom>
        </p:spPr>
      </p:pic>
      <p:sp>
        <p:nvSpPr>
          <p:cNvPr id="9" name="Text 5"/>
          <p:cNvSpPr txBox="1"/>
          <p:nvPr/>
        </p:nvSpPr>
        <p:spPr>
          <a:xfrm>
            <a:off x="1280160" y="217627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Where the class’s interests lie</a:t>
            </a:r>
            <a:endParaRPr lang="en-US" sz="1700" dirty="0"/>
          </a:p>
        </p:txBody>
      </p:sp>
      <p:sp>
        <p:nvSpPr>
          <p:cNvPr id="10" name="Text 6"/>
          <p:cNvSpPr txBox="1"/>
          <p:nvPr/>
        </p:nvSpPr>
        <p:spPr>
          <a:xfrm>
            <a:off x="1280160" y="2505456"/>
            <a:ext cx="3657600" cy="365760"/>
          </a:xfrm>
          <a:prstGeom prst="rect">
            <a:avLst/>
          </a:prstGeom>
          <a:noFill/>
          <a:ln/>
        </p:spPr>
        <p:txBody>
          <a:bodyPr wrap="square" lIns="0" tIns="0" rIns="0" bIns="0" rtlCol="0" anchor="ctr"/>
          <a:lstStyle/>
          <a:p>
            <a:pPr indent="0" marL="0">
              <a:buNone/>
            </a:pPr>
            <a:r>
              <a:rPr lang="en-US" sz="1400" dirty="0">
                <a:solidFill>
                  <a:schemeClr val="tx1"/>
                </a:solidFill>
              </a:rPr>
              <a:t>Plan career talks, visits and subject choices around them.</a:t>
            </a:r>
            <a:endParaRPr lang="en-US" sz="1400" dirty="0"/>
          </a:p>
        </p:txBody>
      </p:sp>
      <p:sp>
        <p:nvSpPr>
          <p:cNvPr id="11" name="teacher point 3 circle"/>
          <p:cNvSpPr/>
          <p:nvPr/>
        </p:nvSpPr>
        <p:spPr>
          <a:xfrm>
            <a:off x="457200" y="3200400"/>
            <a:ext cx="594360" cy="594360"/>
          </a:xfrm>
          <a:prstGeom prst="ellipse">
            <a:avLst/>
          </a:prstGeom>
          <a:solidFill>
            <a:schemeClr val="accent2"/>
          </a:solidFill>
          <a:ln/>
        </p:spPr>
      </p:sp>
      <p:pic>
        <p:nvPicPr>
          <p:cNvPr id="12" name="teacher point 3 icon" descr="preencoded.png">    </p:cNvPr>
          <p:cNvPicPr>
            <a:picLocks noChangeAspect="1"/>
          </p:cNvPicPr>
          <p:nvPr/>
        </p:nvPicPr>
        <p:blipFill>
          <a:blip r:embed="rId3"/>
          <a:stretch>
            <a:fillRect/>
          </a:stretch>
        </p:blipFill>
        <p:spPr>
          <a:xfrm>
            <a:off x="611734" y="3354934"/>
            <a:ext cx="285293" cy="285293"/>
          </a:xfrm>
          <a:prstGeom prst="rect">
            <a:avLst/>
          </a:prstGeom>
        </p:spPr>
      </p:pic>
      <p:sp>
        <p:nvSpPr>
          <p:cNvPr id="13" name="Text 8"/>
          <p:cNvSpPr txBox="1"/>
          <p:nvPr/>
        </p:nvSpPr>
        <p:spPr>
          <a:xfrm>
            <a:off x="1280160" y="3182112"/>
            <a:ext cx="3657600" cy="329184"/>
          </a:xfrm>
          <a:prstGeom prst="rect">
            <a:avLst/>
          </a:prstGeom>
          <a:noFill/>
          <a:ln/>
        </p:spPr>
        <p:txBody>
          <a:bodyPr wrap="square" lIns="0" tIns="0" rIns="0" bIns="0" rtlCol="0" anchor="ctr"/>
          <a:lstStyle/>
          <a:p>
            <a:pPr indent="0" marL="0">
              <a:buNone/>
            </a:pPr>
            <a:r>
              <a:rPr lang="en-US" sz="1700" b="1" dirty="0">
                <a:solidFill>
                  <a:schemeClr val="tx2"/>
                </a:solidFill>
              </a:rPr>
              <a:t>Each student’s code</a:t>
            </a:r>
            <a:endParaRPr lang="en-US" sz="1700" dirty="0"/>
          </a:p>
        </p:txBody>
      </p:sp>
      <p:sp>
        <p:nvSpPr>
          <p:cNvPr id="14" name="Text 9"/>
          <p:cNvSpPr txBox="1"/>
          <p:nvPr/>
        </p:nvSpPr>
        <p:spPr>
          <a:xfrm>
            <a:off x="1280160" y="3511296"/>
            <a:ext cx="3657600" cy="365760"/>
          </a:xfrm>
          <a:prstGeom prst="rect">
            <a:avLst/>
          </a:prstGeom>
          <a:noFill/>
          <a:ln/>
        </p:spPr>
        <p:txBody>
          <a:bodyPr wrap="square" lIns="0" tIns="0" rIns="0" bIns="0" rtlCol="0" anchor="ctr"/>
          <a:lstStyle/>
          <a:p>
            <a:pPr indent="0" marL="0">
              <a:buNone/>
            </a:pPr>
            <a:r>
              <a:rPr lang="en-US" sz="1400" dirty="0">
                <a:solidFill>
                  <a:schemeClr val="tx1"/>
                </a:solidFill>
              </a:rPr>
              <a:t>A ready starting point for a one-to-one or a parent meeting.</a:t>
            </a:r>
            <a:endParaRPr lang="en-US" sz="1400" dirty="0"/>
          </a:p>
        </p:txBody>
      </p:sp>
      <p:sp>
        <p:nvSpPr>
          <p:cNvPr id="15" name="Teacher class view screen frame"/>
          <p:cNvSpPr/>
          <p:nvPr/>
        </p:nvSpPr>
        <p:spPr>
          <a:xfrm>
            <a:off x="5175504" y="1014984"/>
            <a:ext cx="1551364" cy="3273552"/>
          </a:xfrm>
          <a:prstGeom prst="roundRect">
            <a:avLst>
              <a:gd name="adj" fmla="val 9431"/>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6" name="Teacher class view screen" descr="Teacher class view screen">    </p:cNvPr>
          <p:cNvPicPr>
            <a:picLocks noChangeAspect="1"/>
          </p:cNvPicPr>
          <p:nvPr/>
        </p:nvPicPr>
        <p:blipFill>
          <a:blip r:embed="rId4"/>
          <a:stretch>
            <a:fillRect/>
          </a:stretch>
        </p:blipFill>
        <p:spPr>
          <a:xfrm>
            <a:off x="5212080" y="1051560"/>
            <a:ext cx="1478212" cy="3200400"/>
          </a:xfrm>
          <a:prstGeom prst="rect">
            <a:avLst/>
          </a:prstGeom>
        </p:spPr>
      </p:pic>
      <p:sp>
        <p:nvSpPr>
          <p:cNvPr id="17" name="Counsellor chat screen frame"/>
          <p:cNvSpPr/>
          <p:nvPr/>
        </p:nvSpPr>
        <p:spPr>
          <a:xfrm>
            <a:off x="6912864" y="1197864"/>
            <a:ext cx="1466894" cy="3090672"/>
          </a:xfrm>
          <a:prstGeom prst="roundRect">
            <a:avLst>
              <a:gd name="adj" fmla="val 9974"/>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18" name="Counsellor chat screen" descr="Counsellor chat screen">    </p:cNvPr>
          <p:cNvPicPr>
            <a:picLocks noChangeAspect="1"/>
          </p:cNvPicPr>
          <p:nvPr/>
        </p:nvPicPr>
        <p:blipFill>
          <a:blip r:embed="rId5"/>
          <a:stretch>
            <a:fillRect/>
          </a:stretch>
        </p:blipFill>
        <p:spPr>
          <a:xfrm>
            <a:off x="6949440" y="1234440"/>
            <a:ext cx="1393742" cy="3017520"/>
          </a:xfrm>
          <a:prstGeom prst="rect">
            <a:avLst/>
          </a:prstGeom>
        </p:spPr>
      </p:pic>
      <p:sp>
        <p:nvSpPr>
          <p:cNvPr id="19" name="Text 12"/>
          <p:cNvSpPr txBox="1"/>
          <p:nvPr/>
        </p:nvSpPr>
        <p:spPr>
          <a:xfrm>
            <a:off x="5120640" y="4407408"/>
            <a:ext cx="3566160" cy="228600"/>
          </a:xfrm>
          <a:prstGeom prst="rect">
            <a:avLst/>
          </a:prstGeom>
          <a:noFill/>
          <a:ln/>
        </p:spPr>
        <p:txBody>
          <a:bodyPr wrap="square" lIns="0" tIns="0" rIns="0" bIns="0" rtlCol="0" anchor="ctr"/>
          <a:lstStyle/>
          <a:p>
            <a:pPr algn="ctr" indent="0" marL="0">
              <a:buNone/>
            </a:pPr>
            <a:r>
              <a:rPr lang="en-US" sz="1000" i="1" dirty="0">
                <a:solidFill>
                  <a:schemeClr val="accent5"/>
                </a:solidFill>
              </a:rPr>
              <a:t>Class view · counsellor chat</a:t>
            </a:r>
            <a:endParaRPr lang="en-US" sz="10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Simple to run, open by design</a:t>
            </a:r>
            <a:endParaRPr lang="en-US" sz="2800" dirty="0"/>
          </a:p>
        </p:txBody>
      </p:sp>
      <p:sp>
        <p:nvSpPr>
          <p:cNvPr id="3" name="app box"/>
          <p:cNvSpPr/>
          <p:nvPr/>
        </p:nvSpPr>
        <p:spPr>
          <a:xfrm>
            <a:off x="457200" y="1234440"/>
            <a:ext cx="2377440" cy="1417320"/>
          </a:xfrm>
          <a:prstGeom prst="roundRect">
            <a:avLst>
              <a:gd name="adj" fmla="val 7742"/>
            </a:avLst>
          </a:prstGeom>
          <a:solidFill>
            <a:schemeClr val="bg2"/>
          </a:solidFill>
          <a:ln w="12700">
            <a:solidFill>
              <a:srgbClr val="DBEAFE"/>
            </a:solidFill>
            <a:prstDash val="solid"/>
          </a:ln>
        </p:spPr>
      </p:sp>
      <p:sp>
        <p:nvSpPr>
          <p:cNvPr id="4" name="app box badge circle"/>
          <p:cNvSpPr/>
          <p:nvPr/>
        </p:nvSpPr>
        <p:spPr>
          <a:xfrm>
            <a:off x="621792" y="1417320"/>
            <a:ext cx="438912" cy="438912"/>
          </a:xfrm>
          <a:prstGeom prst="ellipse">
            <a:avLst/>
          </a:prstGeom>
          <a:solidFill>
            <a:schemeClr val="accent1"/>
          </a:solidFill>
          <a:ln/>
        </p:spPr>
      </p:sp>
      <p:pic>
        <p:nvPicPr>
          <p:cNvPr id="5" name="app box badge icon" descr="preencoded.png">    </p:cNvPr>
          <p:cNvPicPr>
            <a:picLocks noChangeAspect="1"/>
          </p:cNvPicPr>
          <p:nvPr/>
        </p:nvPicPr>
        <p:blipFill>
          <a:blip r:embed="rId1"/>
          <a:stretch>
            <a:fillRect/>
          </a:stretch>
        </p:blipFill>
        <p:spPr>
          <a:xfrm>
            <a:off x="735909" y="1531437"/>
            <a:ext cx="210678" cy="210678"/>
          </a:xfrm>
          <a:prstGeom prst="rect">
            <a:avLst/>
          </a:prstGeom>
        </p:spPr>
      </p:pic>
      <p:sp>
        <p:nvSpPr>
          <p:cNvPr id="6" name="Text 3"/>
          <p:cNvSpPr txBox="1"/>
          <p:nvPr/>
        </p:nvSpPr>
        <p:spPr>
          <a:xfrm>
            <a:off x="117043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Phone app</a:t>
            </a:r>
            <a:endParaRPr lang="en-US" sz="1500" dirty="0"/>
          </a:p>
        </p:txBody>
      </p:sp>
      <p:sp>
        <p:nvSpPr>
          <p:cNvPr id="7" name="Text 4"/>
          <p:cNvSpPr txBox="1"/>
          <p:nvPr/>
        </p:nvSpPr>
        <p:spPr>
          <a:xfrm>
            <a:off x="62179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React, works on any phone browser. Sessions live in the tab only.</a:t>
            </a:r>
            <a:endParaRPr lang="en-US" sz="1200" dirty="0"/>
          </a:p>
        </p:txBody>
      </p:sp>
      <p:sp>
        <p:nvSpPr>
          <p:cNvPr id="8" name="server box"/>
          <p:cNvSpPr/>
          <p:nvPr/>
        </p:nvSpPr>
        <p:spPr>
          <a:xfrm>
            <a:off x="3383280" y="1234440"/>
            <a:ext cx="2377440" cy="1417320"/>
          </a:xfrm>
          <a:prstGeom prst="roundRect">
            <a:avLst>
              <a:gd name="adj" fmla="val 7742"/>
            </a:avLst>
          </a:prstGeom>
          <a:solidFill>
            <a:schemeClr val="bg2"/>
          </a:solidFill>
          <a:ln w="12700">
            <a:solidFill>
              <a:srgbClr val="DBEAFE"/>
            </a:solidFill>
            <a:prstDash val="solid"/>
          </a:ln>
        </p:spPr>
      </p:sp>
      <p:sp>
        <p:nvSpPr>
          <p:cNvPr id="9" name="server box badge circle"/>
          <p:cNvSpPr/>
          <p:nvPr/>
        </p:nvSpPr>
        <p:spPr>
          <a:xfrm>
            <a:off x="3547872" y="1417320"/>
            <a:ext cx="438912" cy="438912"/>
          </a:xfrm>
          <a:prstGeom prst="ellipse">
            <a:avLst/>
          </a:prstGeom>
          <a:solidFill>
            <a:schemeClr val="tx2"/>
          </a:solidFill>
          <a:ln/>
        </p:spPr>
      </p:sp>
      <p:pic>
        <p:nvPicPr>
          <p:cNvPr id="10" name="server box badge icon" descr="preencoded.png">    </p:cNvPr>
          <p:cNvPicPr>
            <a:picLocks noChangeAspect="1"/>
          </p:cNvPicPr>
          <p:nvPr/>
        </p:nvPicPr>
        <p:blipFill>
          <a:blip r:embed="rId2"/>
          <a:stretch>
            <a:fillRect/>
          </a:stretch>
        </p:blipFill>
        <p:spPr>
          <a:xfrm>
            <a:off x="3661989" y="1531437"/>
            <a:ext cx="210678" cy="210678"/>
          </a:xfrm>
          <a:prstGeom prst="rect">
            <a:avLst/>
          </a:prstGeom>
        </p:spPr>
      </p:pic>
      <p:sp>
        <p:nvSpPr>
          <p:cNvPr id="11" name="Text 7"/>
          <p:cNvSpPr txBox="1"/>
          <p:nvPr/>
        </p:nvSpPr>
        <p:spPr>
          <a:xfrm>
            <a:off x="409651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One small server</a:t>
            </a:r>
            <a:endParaRPr lang="en-US" sz="1500" dirty="0"/>
          </a:p>
        </p:txBody>
      </p:sp>
      <p:sp>
        <p:nvSpPr>
          <p:cNvPr id="12" name="Text 8"/>
          <p:cNvSpPr txBox="1"/>
          <p:nvPr/>
        </p:nvSpPr>
        <p:spPr>
          <a:xfrm>
            <a:off x="354787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Express API: sign-in, results, class view, counsellor stream.</a:t>
            </a:r>
            <a:endParaRPr lang="en-US" sz="1200" dirty="0"/>
          </a:p>
        </p:txBody>
      </p:sp>
      <p:sp>
        <p:nvSpPr>
          <p:cNvPr id="13" name="scoring box"/>
          <p:cNvSpPr/>
          <p:nvPr/>
        </p:nvSpPr>
        <p:spPr>
          <a:xfrm>
            <a:off x="6309360" y="1234440"/>
            <a:ext cx="2377440" cy="1417320"/>
          </a:xfrm>
          <a:prstGeom prst="roundRect">
            <a:avLst>
              <a:gd name="adj" fmla="val 7742"/>
            </a:avLst>
          </a:prstGeom>
          <a:solidFill>
            <a:schemeClr val="bg2"/>
          </a:solidFill>
          <a:ln w="12700">
            <a:solidFill>
              <a:srgbClr val="DBEAFE"/>
            </a:solidFill>
            <a:prstDash val="solid"/>
          </a:ln>
        </p:spPr>
      </p:sp>
      <p:sp>
        <p:nvSpPr>
          <p:cNvPr id="14" name="scoring box badge circle"/>
          <p:cNvSpPr/>
          <p:nvPr/>
        </p:nvSpPr>
        <p:spPr>
          <a:xfrm>
            <a:off x="6473952" y="1417320"/>
            <a:ext cx="438912" cy="438912"/>
          </a:xfrm>
          <a:prstGeom prst="ellipse">
            <a:avLst/>
          </a:prstGeom>
          <a:solidFill>
            <a:schemeClr val="accent2"/>
          </a:solidFill>
          <a:ln/>
        </p:spPr>
      </p:sp>
      <p:pic>
        <p:nvPicPr>
          <p:cNvPr id="15" name="scoring box badge icon" descr="preencoded.png">    </p:cNvPr>
          <p:cNvPicPr>
            <a:picLocks noChangeAspect="1"/>
          </p:cNvPicPr>
          <p:nvPr/>
        </p:nvPicPr>
        <p:blipFill>
          <a:blip r:embed="rId3"/>
          <a:stretch>
            <a:fillRect/>
          </a:stretch>
        </p:blipFill>
        <p:spPr>
          <a:xfrm>
            <a:off x="6588069" y="1531437"/>
            <a:ext cx="210678" cy="210678"/>
          </a:xfrm>
          <a:prstGeom prst="rect">
            <a:avLst/>
          </a:prstGeom>
        </p:spPr>
      </p:pic>
      <p:sp>
        <p:nvSpPr>
          <p:cNvPr id="16" name="Text 11"/>
          <p:cNvSpPr txBox="1"/>
          <p:nvPr/>
        </p:nvSpPr>
        <p:spPr>
          <a:xfrm>
            <a:off x="7022592" y="139903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Scoring module</a:t>
            </a:r>
            <a:endParaRPr lang="en-US" sz="1500" dirty="0"/>
          </a:p>
        </p:txBody>
      </p:sp>
      <p:sp>
        <p:nvSpPr>
          <p:cNvPr id="17" name="Text 12"/>
          <p:cNvSpPr txBox="1"/>
          <p:nvPr/>
        </p:nvSpPr>
        <p:spPr>
          <a:xfrm>
            <a:off x="6473952" y="1947672"/>
            <a:ext cx="2103120" cy="612648"/>
          </a:xfrm>
          <a:prstGeom prst="rect">
            <a:avLst/>
          </a:prstGeom>
          <a:noFill/>
          <a:ln/>
        </p:spPr>
        <p:txBody>
          <a:bodyPr wrap="square" lIns="0" tIns="0" rIns="0" bIns="0" rtlCol="0" anchor="t"/>
          <a:lstStyle/>
          <a:p>
            <a:pPr indent="0" marL="0">
              <a:buNone/>
            </a:pPr>
            <a:r>
              <a:rPr lang="en-US" sz="1200" dirty="0">
                <a:solidFill>
                  <a:schemeClr val="tx1"/>
                </a:solidFill>
              </a:rPr>
              <a:t>Test items, scoring and report wording. Unit-tested.</a:t>
            </a:r>
            <a:endParaRPr lang="en-US" sz="1200" dirty="0"/>
          </a:p>
        </p:txBody>
      </p:sp>
      <p:sp>
        <p:nvSpPr>
          <p:cNvPr id="18" name="store box"/>
          <p:cNvSpPr/>
          <p:nvPr/>
        </p:nvSpPr>
        <p:spPr>
          <a:xfrm>
            <a:off x="3383280" y="2971800"/>
            <a:ext cx="2377440" cy="1325880"/>
          </a:xfrm>
          <a:prstGeom prst="roundRect">
            <a:avLst>
              <a:gd name="adj" fmla="val 8276"/>
            </a:avLst>
          </a:prstGeom>
          <a:solidFill>
            <a:schemeClr val="bg2"/>
          </a:solidFill>
          <a:ln w="12700">
            <a:solidFill>
              <a:srgbClr val="DBEAFE"/>
            </a:solidFill>
            <a:prstDash val="solid"/>
          </a:ln>
        </p:spPr>
      </p:sp>
      <p:sp>
        <p:nvSpPr>
          <p:cNvPr id="19" name="store box badge circle"/>
          <p:cNvSpPr/>
          <p:nvPr/>
        </p:nvSpPr>
        <p:spPr>
          <a:xfrm>
            <a:off x="3547872" y="3154680"/>
            <a:ext cx="438912" cy="438912"/>
          </a:xfrm>
          <a:prstGeom prst="ellipse">
            <a:avLst/>
          </a:prstGeom>
          <a:solidFill>
            <a:schemeClr val="accent3"/>
          </a:solidFill>
          <a:ln/>
        </p:spPr>
      </p:sp>
      <p:pic>
        <p:nvPicPr>
          <p:cNvPr id="20" name="store box badge icon" descr="preencoded.png">    </p:cNvPr>
          <p:cNvPicPr>
            <a:picLocks noChangeAspect="1"/>
          </p:cNvPicPr>
          <p:nvPr/>
        </p:nvPicPr>
        <p:blipFill>
          <a:blip r:embed="rId4"/>
          <a:stretch>
            <a:fillRect/>
          </a:stretch>
        </p:blipFill>
        <p:spPr>
          <a:xfrm>
            <a:off x="3661989" y="3268797"/>
            <a:ext cx="210678" cy="210678"/>
          </a:xfrm>
          <a:prstGeom prst="rect">
            <a:avLst/>
          </a:prstGeom>
        </p:spPr>
      </p:pic>
      <p:sp>
        <p:nvSpPr>
          <p:cNvPr id="21" name="Text 15"/>
          <p:cNvSpPr txBox="1"/>
          <p:nvPr/>
        </p:nvSpPr>
        <p:spPr>
          <a:xfrm>
            <a:off x="409651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Accounts &amp; results</a:t>
            </a:r>
            <a:endParaRPr lang="en-US" sz="1500" dirty="0"/>
          </a:p>
        </p:txBody>
      </p:sp>
      <p:sp>
        <p:nvSpPr>
          <p:cNvPr id="22" name="Text 16"/>
          <p:cNvSpPr txBox="1"/>
          <p:nvPr/>
        </p:nvSpPr>
        <p:spPr>
          <a:xfrm>
            <a:off x="354787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One JSON file to start; swap in a database later.</a:t>
            </a:r>
            <a:endParaRPr lang="en-US" sz="1200" dirty="0"/>
          </a:p>
        </p:txBody>
      </p:sp>
      <p:sp>
        <p:nvSpPr>
          <p:cNvPr id="23" name="counsellor box"/>
          <p:cNvSpPr/>
          <p:nvPr/>
        </p:nvSpPr>
        <p:spPr>
          <a:xfrm>
            <a:off x="6309360" y="2971800"/>
            <a:ext cx="2377440" cy="1325880"/>
          </a:xfrm>
          <a:prstGeom prst="roundRect">
            <a:avLst>
              <a:gd name="adj" fmla="val 8276"/>
            </a:avLst>
          </a:prstGeom>
          <a:solidFill>
            <a:schemeClr val="bg2"/>
          </a:solidFill>
          <a:ln w="12700">
            <a:solidFill>
              <a:srgbClr val="DBEAFE"/>
            </a:solidFill>
            <a:prstDash val="solid"/>
          </a:ln>
        </p:spPr>
      </p:sp>
      <p:sp>
        <p:nvSpPr>
          <p:cNvPr id="24" name="counsellor box badge circle"/>
          <p:cNvSpPr/>
          <p:nvPr/>
        </p:nvSpPr>
        <p:spPr>
          <a:xfrm>
            <a:off x="6473952" y="3154680"/>
            <a:ext cx="438912" cy="438912"/>
          </a:xfrm>
          <a:prstGeom prst="ellipse">
            <a:avLst/>
          </a:prstGeom>
          <a:solidFill>
            <a:schemeClr val="accent5"/>
          </a:solidFill>
          <a:ln/>
        </p:spPr>
      </p:sp>
      <p:pic>
        <p:nvPicPr>
          <p:cNvPr id="25" name="counsellor box badge icon" descr="preencoded.png">    </p:cNvPr>
          <p:cNvPicPr>
            <a:picLocks noChangeAspect="1"/>
          </p:cNvPicPr>
          <p:nvPr/>
        </p:nvPicPr>
        <p:blipFill>
          <a:blip r:embed="rId5"/>
          <a:stretch>
            <a:fillRect/>
          </a:stretch>
        </p:blipFill>
        <p:spPr>
          <a:xfrm>
            <a:off x="6588069" y="3268797"/>
            <a:ext cx="210678" cy="210678"/>
          </a:xfrm>
          <a:prstGeom prst="rect">
            <a:avLst/>
          </a:prstGeom>
        </p:spPr>
      </p:pic>
      <p:sp>
        <p:nvSpPr>
          <p:cNvPr id="26" name="Text 19"/>
          <p:cNvSpPr txBox="1"/>
          <p:nvPr/>
        </p:nvSpPr>
        <p:spPr>
          <a:xfrm>
            <a:off x="7022592" y="3136392"/>
            <a:ext cx="1554480" cy="475488"/>
          </a:xfrm>
          <a:prstGeom prst="rect">
            <a:avLst/>
          </a:prstGeom>
          <a:noFill/>
          <a:ln/>
        </p:spPr>
        <p:txBody>
          <a:bodyPr wrap="square" lIns="0" tIns="0" rIns="0" bIns="0" rtlCol="0" anchor="ctr"/>
          <a:lstStyle/>
          <a:p>
            <a:pPr indent="0" marL="0">
              <a:buNone/>
            </a:pPr>
            <a:r>
              <a:rPr lang="en-US" sz="1500" b="1" dirty="0">
                <a:solidFill>
                  <a:schemeClr val="tx2"/>
                </a:solidFill>
              </a:rPr>
              <a:t>Counsellor</a:t>
            </a:r>
            <a:endParaRPr lang="en-US" sz="1500" dirty="0"/>
          </a:p>
        </p:txBody>
      </p:sp>
      <p:sp>
        <p:nvSpPr>
          <p:cNvPr id="27" name="Text 20"/>
          <p:cNvSpPr txBox="1"/>
          <p:nvPr/>
        </p:nvSpPr>
        <p:spPr>
          <a:xfrm>
            <a:off x="6473952" y="3685032"/>
            <a:ext cx="2103120" cy="521208"/>
          </a:xfrm>
          <a:prstGeom prst="rect">
            <a:avLst/>
          </a:prstGeom>
          <a:noFill/>
          <a:ln/>
        </p:spPr>
        <p:txBody>
          <a:bodyPr wrap="square" lIns="0" tIns="0" rIns="0" bIns="0" rtlCol="0" anchor="t"/>
          <a:lstStyle/>
          <a:p>
            <a:pPr indent="0" marL="0">
              <a:buNone/>
            </a:pPr>
            <a:r>
              <a:rPr lang="en-US" sz="1200" dirty="0">
                <a:solidFill>
                  <a:schemeClr val="tx1"/>
                </a:solidFill>
              </a:rPr>
              <a:t>Scripted today; one function to plug in an AI model.</a:t>
            </a:r>
            <a:endParaRPr lang="en-US" sz="1200" dirty="0"/>
          </a:p>
        </p:txBody>
      </p:sp>
      <p:sp>
        <p:nvSpPr>
          <p:cNvPr id="28" name="app to server"/>
          <p:cNvSpPr/>
          <p:nvPr/>
        </p:nvSpPr>
        <p:spPr>
          <a:xfrm>
            <a:off x="2880360" y="1938528"/>
            <a:ext cx="457200" cy="0"/>
          </a:xfrm>
          <a:prstGeom prst="line">
            <a:avLst/>
          </a:prstGeom>
          <a:noFill/>
          <a:ln w="25400">
            <a:solidFill>
              <a:srgbClr val="2563EB"/>
            </a:solidFill>
            <a:prstDash val="solid"/>
            <a:tailEnd type="triangle"/>
          </a:ln>
        </p:spPr>
      </p:sp>
      <p:sp>
        <p:nvSpPr>
          <p:cNvPr id="29" name="server to scoring"/>
          <p:cNvSpPr/>
          <p:nvPr/>
        </p:nvSpPr>
        <p:spPr>
          <a:xfrm>
            <a:off x="5806440" y="1938528"/>
            <a:ext cx="457200" cy="0"/>
          </a:xfrm>
          <a:prstGeom prst="line">
            <a:avLst/>
          </a:prstGeom>
          <a:noFill/>
          <a:ln w="25400">
            <a:solidFill>
              <a:srgbClr val="2563EB"/>
            </a:solidFill>
            <a:prstDash val="solid"/>
            <a:tailEnd type="triangle"/>
          </a:ln>
        </p:spPr>
      </p:sp>
      <p:sp>
        <p:nvSpPr>
          <p:cNvPr id="30" name="server to store"/>
          <p:cNvSpPr/>
          <p:nvPr/>
        </p:nvSpPr>
        <p:spPr>
          <a:xfrm>
            <a:off x="4572000" y="2697480"/>
            <a:ext cx="0" cy="256032"/>
          </a:xfrm>
          <a:prstGeom prst="line">
            <a:avLst/>
          </a:prstGeom>
          <a:noFill/>
          <a:ln w="25400">
            <a:solidFill>
              <a:srgbClr val="2563EB"/>
            </a:solidFill>
            <a:prstDash val="solid"/>
            <a:tailEnd type="triangle"/>
          </a:ln>
        </p:spPr>
      </p:sp>
      <p:sp>
        <p:nvSpPr>
          <p:cNvPr id="31" name="server to counsellor"/>
          <p:cNvSpPr/>
          <p:nvPr/>
        </p:nvSpPr>
        <p:spPr>
          <a:xfrm>
            <a:off x="5760720" y="2697480"/>
            <a:ext cx="1097280" cy="256032"/>
          </a:xfrm>
          <a:prstGeom prst="line">
            <a:avLst/>
          </a:prstGeom>
          <a:noFill/>
          <a:ln w="25400">
            <a:solidFill>
              <a:srgbClr val="2563EB"/>
            </a:solidFill>
            <a:prstDash val="solid"/>
            <a:tailEnd type="triangle"/>
          </a:ln>
        </p:spPr>
      </p:sp>
      <p:sp>
        <p:nvSpPr>
          <p:cNvPr id="32" name="security box"/>
          <p:cNvSpPr/>
          <p:nvPr/>
        </p:nvSpPr>
        <p:spPr>
          <a:xfrm>
            <a:off x="457200" y="2971800"/>
            <a:ext cx="2377440" cy="1325880"/>
          </a:xfrm>
          <a:prstGeom prst="roundRect">
            <a:avLst>
              <a:gd name="adj" fmla="val 8276"/>
            </a:avLst>
          </a:prstGeom>
          <a:solidFill>
            <a:schemeClr val="tx2"/>
          </a:solidFill>
          <a:ln/>
        </p:spPr>
      </p:sp>
      <p:sp>
        <p:nvSpPr>
          <p:cNvPr id="33" name="security circle"/>
          <p:cNvSpPr/>
          <p:nvPr/>
        </p:nvSpPr>
        <p:spPr>
          <a:xfrm>
            <a:off x="621792" y="3136392"/>
            <a:ext cx="402336" cy="402336"/>
          </a:xfrm>
          <a:prstGeom prst="ellipse">
            <a:avLst/>
          </a:prstGeom>
          <a:solidFill>
            <a:schemeClr val="accent2"/>
          </a:solidFill>
          <a:ln/>
        </p:spPr>
      </p:sp>
      <p:pic>
        <p:nvPicPr>
          <p:cNvPr id="34" name="security icon" descr="preencoded.png">    </p:cNvPr>
          <p:cNvPicPr>
            <a:picLocks noChangeAspect="1"/>
          </p:cNvPicPr>
          <p:nvPr/>
        </p:nvPicPr>
        <p:blipFill>
          <a:blip r:embed="rId6"/>
          <a:stretch>
            <a:fillRect/>
          </a:stretch>
        </p:blipFill>
        <p:spPr>
          <a:xfrm>
            <a:off x="726399" y="3240999"/>
            <a:ext cx="193121" cy="193121"/>
          </a:xfrm>
          <a:prstGeom prst="rect">
            <a:avLst/>
          </a:prstGeom>
        </p:spPr>
      </p:pic>
      <p:sp>
        <p:nvSpPr>
          <p:cNvPr id="35" name="Text 27"/>
          <p:cNvSpPr txBox="1"/>
          <p:nvPr/>
        </p:nvSpPr>
        <p:spPr>
          <a:xfrm>
            <a:off x="1143000" y="3136392"/>
            <a:ext cx="1600200" cy="402336"/>
          </a:xfrm>
          <a:prstGeom prst="rect">
            <a:avLst/>
          </a:prstGeom>
          <a:noFill/>
          <a:ln/>
        </p:spPr>
        <p:txBody>
          <a:bodyPr wrap="square" lIns="0" tIns="0" rIns="0" bIns="0" rtlCol="0" anchor="ctr"/>
          <a:lstStyle/>
          <a:p>
            <a:pPr indent="0" marL="0">
              <a:buNone/>
            </a:pPr>
            <a:r>
              <a:rPr lang="en-US" sz="1500" b="1" dirty="0">
                <a:solidFill>
                  <a:schemeClr val="bg1"/>
                </a:solidFill>
              </a:rPr>
              <a:t>Safe by default</a:t>
            </a:r>
            <a:endParaRPr lang="en-US" sz="1500" dirty="0"/>
          </a:p>
        </p:txBody>
      </p:sp>
      <p:sp>
        <p:nvSpPr>
          <p:cNvPr id="36" name="Text 28"/>
          <p:cNvSpPr txBox="1"/>
          <p:nvPr/>
        </p:nvSpPr>
        <p:spPr>
          <a:xfrm>
            <a:off x="621792" y="3611880"/>
            <a:ext cx="2103120" cy="640080"/>
          </a:xfrm>
          <a:prstGeom prst="rect">
            <a:avLst/>
          </a:prstGeom>
          <a:noFill/>
          <a:ln/>
        </p:spPr>
        <p:txBody>
          <a:bodyPr wrap="square" lIns="0" tIns="0" rIns="0" bIns="0" rtlCol="0" anchor="t"/>
          <a:lstStyle/>
          <a:p>
            <a:pPr indent="0" marL="0">
              <a:buNone/>
            </a:pPr>
            <a:r>
              <a:rPr lang="en-US" sz="1200" dirty="0">
                <a:solidFill>
                  <a:schemeClr val="accent6"/>
                </a:solidFill>
              </a:rPr>
              <a:t>Hashed passwords, a 5-try lock, signed sessions, pages gated by role.</a:t>
            </a:r>
            <a:endParaRPr lang="en-US" sz="1200" dirty="0"/>
          </a:p>
        </p:txBody>
      </p:sp>
      <p:sp>
        <p:nvSpPr>
          <p:cNvPr id="37" name="Text 29"/>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Open source under MIT · github.com/om-1115/hpc-career-agent · 14 automated tests for scoring and the API</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Honest about what a 10-minute test can say</a:t>
            </a:r>
            <a:endParaRPr lang="en-US" sz="2800" dirty="0"/>
          </a:p>
        </p:txBody>
      </p:sp>
      <p:sp>
        <p:nvSpPr>
          <p:cNvPr id="3" name="principle 1"/>
          <p:cNvSpPr/>
          <p:nvPr/>
        </p:nvSpPr>
        <p:spPr>
          <a:xfrm>
            <a:off x="457200" y="1143000"/>
            <a:ext cx="4023360" cy="1417320"/>
          </a:xfrm>
          <a:prstGeom prst="roundRect">
            <a:avLst>
              <a:gd name="adj" fmla="val 7742"/>
            </a:avLst>
          </a:prstGeom>
          <a:solidFill>
            <a:schemeClr val="bg2"/>
          </a:solidFill>
          <a:ln/>
        </p:spPr>
      </p:sp>
      <p:sp>
        <p:nvSpPr>
          <p:cNvPr id="4" name="principle 1 circle"/>
          <p:cNvSpPr/>
          <p:nvPr/>
        </p:nvSpPr>
        <p:spPr>
          <a:xfrm>
            <a:off x="685800" y="1417320"/>
            <a:ext cx="640080" cy="640080"/>
          </a:xfrm>
          <a:prstGeom prst="ellipse">
            <a:avLst/>
          </a:prstGeom>
          <a:solidFill>
            <a:schemeClr val="accent1"/>
          </a:solidFill>
          <a:ln/>
        </p:spPr>
      </p:sp>
      <p:pic>
        <p:nvPicPr>
          <p:cNvPr id="5" name="principle 1 icon" descr="preencoded.png">    </p:cNvPr>
          <p:cNvPicPr>
            <a:picLocks noChangeAspect="1"/>
          </p:cNvPicPr>
          <p:nvPr/>
        </p:nvPicPr>
        <p:blipFill>
          <a:blip r:embed="rId1"/>
          <a:stretch>
            <a:fillRect/>
          </a:stretch>
        </p:blipFill>
        <p:spPr>
          <a:xfrm>
            <a:off x="852221" y="1583741"/>
            <a:ext cx="307238" cy="307238"/>
          </a:xfrm>
          <a:prstGeom prst="rect">
            <a:avLst/>
          </a:prstGeom>
        </p:spPr>
      </p:pic>
      <p:sp>
        <p:nvSpPr>
          <p:cNvPr id="6" name="Text 3"/>
          <p:cNvSpPr txBox="1"/>
          <p:nvPr/>
        </p:nvSpPr>
        <p:spPr>
          <a:xfrm>
            <a:off x="155448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A starting point</a:t>
            </a:r>
            <a:endParaRPr lang="en-US" sz="1600" dirty="0"/>
          </a:p>
        </p:txBody>
      </p:sp>
      <p:sp>
        <p:nvSpPr>
          <p:cNvPr id="7" name="Text 4"/>
          <p:cNvSpPr txBox="1"/>
          <p:nvPr/>
        </p:nvSpPr>
        <p:spPr>
          <a:xfrm>
            <a:off x="155448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The report says so on the page. The interest questions are new and not yet validated.</a:t>
            </a:r>
            <a:endParaRPr lang="en-US" sz="1300" dirty="0"/>
          </a:p>
        </p:txBody>
      </p:sp>
      <p:sp>
        <p:nvSpPr>
          <p:cNvPr id="8" name="principle 2"/>
          <p:cNvSpPr/>
          <p:nvPr/>
        </p:nvSpPr>
        <p:spPr>
          <a:xfrm>
            <a:off x="4663440" y="1143000"/>
            <a:ext cx="4023360" cy="1417320"/>
          </a:xfrm>
          <a:prstGeom prst="roundRect">
            <a:avLst>
              <a:gd name="adj" fmla="val 7742"/>
            </a:avLst>
          </a:prstGeom>
          <a:solidFill>
            <a:schemeClr val="bg2"/>
          </a:solidFill>
          <a:ln/>
        </p:spPr>
      </p:sp>
      <p:sp>
        <p:nvSpPr>
          <p:cNvPr id="9" name="principle 2 circle"/>
          <p:cNvSpPr/>
          <p:nvPr/>
        </p:nvSpPr>
        <p:spPr>
          <a:xfrm>
            <a:off x="4892040" y="1417320"/>
            <a:ext cx="640080" cy="640080"/>
          </a:xfrm>
          <a:prstGeom prst="ellipse">
            <a:avLst/>
          </a:prstGeom>
          <a:solidFill>
            <a:schemeClr val="accent3"/>
          </a:solidFill>
          <a:ln/>
        </p:spPr>
      </p:sp>
      <p:pic>
        <p:nvPicPr>
          <p:cNvPr id="10" name="principle 2 icon" descr="preencoded.png">    </p:cNvPr>
          <p:cNvPicPr>
            <a:picLocks noChangeAspect="1"/>
          </p:cNvPicPr>
          <p:nvPr/>
        </p:nvPicPr>
        <p:blipFill>
          <a:blip r:embed="rId2"/>
          <a:stretch>
            <a:fillRect/>
          </a:stretch>
        </p:blipFill>
        <p:spPr>
          <a:xfrm>
            <a:off x="5058461" y="1583741"/>
            <a:ext cx="307238" cy="307238"/>
          </a:xfrm>
          <a:prstGeom prst="rect">
            <a:avLst/>
          </a:prstGeom>
        </p:spPr>
      </p:pic>
      <p:sp>
        <p:nvSpPr>
          <p:cNvPr id="11" name="Text 7"/>
          <p:cNvSpPr txBox="1"/>
          <p:nvPr/>
        </p:nvSpPr>
        <p:spPr>
          <a:xfrm>
            <a:off x="5760720" y="13441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Strength-based language</a:t>
            </a:r>
            <a:endParaRPr lang="en-US" sz="1600" dirty="0"/>
          </a:p>
        </p:txBody>
      </p:sp>
      <p:sp>
        <p:nvSpPr>
          <p:cNvPr id="12" name="Text 8"/>
          <p:cNvSpPr txBox="1"/>
          <p:nvPr/>
        </p:nvSpPr>
        <p:spPr>
          <a:xfrm>
            <a:off x="5760720" y="1746504"/>
            <a:ext cx="2788920" cy="731520"/>
          </a:xfrm>
          <a:prstGeom prst="rect">
            <a:avLst/>
          </a:prstGeom>
          <a:noFill/>
          <a:ln/>
        </p:spPr>
        <p:txBody>
          <a:bodyPr wrap="square" lIns="0" tIns="0" rIns="0" bIns="0" rtlCol="0" anchor="t"/>
          <a:lstStyle/>
          <a:p>
            <a:pPr indent="0" marL="0">
              <a:buNone/>
            </a:pPr>
            <a:r>
              <a:rPr lang="en-US" sz="1300" dirty="0">
                <a:solidFill>
                  <a:schemeClr val="tx1"/>
                </a:solidFill>
              </a:rPr>
              <a:t>No trait is a flaw. Scores show more or less for this student, not a ranking.</a:t>
            </a:r>
            <a:endParaRPr lang="en-US" sz="1300" dirty="0"/>
          </a:p>
        </p:txBody>
      </p:sp>
      <p:sp>
        <p:nvSpPr>
          <p:cNvPr id="13" name="principle 3"/>
          <p:cNvSpPr/>
          <p:nvPr/>
        </p:nvSpPr>
        <p:spPr>
          <a:xfrm>
            <a:off x="457200" y="2743200"/>
            <a:ext cx="4023360" cy="1417320"/>
          </a:xfrm>
          <a:prstGeom prst="roundRect">
            <a:avLst>
              <a:gd name="adj" fmla="val 7742"/>
            </a:avLst>
          </a:prstGeom>
          <a:solidFill>
            <a:schemeClr val="bg2"/>
          </a:solidFill>
          <a:ln/>
        </p:spPr>
      </p:sp>
      <p:sp>
        <p:nvSpPr>
          <p:cNvPr id="14" name="principle 3 circle"/>
          <p:cNvSpPr/>
          <p:nvPr/>
        </p:nvSpPr>
        <p:spPr>
          <a:xfrm>
            <a:off x="685800" y="3017520"/>
            <a:ext cx="640080" cy="640080"/>
          </a:xfrm>
          <a:prstGeom prst="ellipse">
            <a:avLst/>
          </a:prstGeom>
          <a:solidFill>
            <a:schemeClr val="accent2"/>
          </a:solidFill>
          <a:ln/>
        </p:spPr>
      </p:sp>
      <p:pic>
        <p:nvPicPr>
          <p:cNvPr id="15" name="principle 3 icon" descr="preencoded.png">    </p:cNvPr>
          <p:cNvPicPr>
            <a:picLocks noChangeAspect="1"/>
          </p:cNvPicPr>
          <p:nvPr/>
        </p:nvPicPr>
        <p:blipFill>
          <a:blip r:embed="rId3"/>
          <a:stretch>
            <a:fillRect/>
          </a:stretch>
        </p:blipFill>
        <p:spPr>
          <a:xfrm>
            <a:off x="852221" y="3183941"/>
            <a:ext cx="307238" cy="307238"/>
          </a:xfrm>
          <a:prstGeom prst="rect">
            <a:avLst/>
          </a:prstGeom>
        </p:spPr>
      </p:pic>
      <p:sp>
        <p:nvSpPr>
          <p:cNvPr id="16" name="Text 11"/>
          <p:cNvSpPr txBox="1"/>
          <p:nvPr/>
        </p:nvSpPr>
        <p:spPr>
          <a:xfrm>
            <a:off x="155448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Open content</a:t>
            </a:r>
            <a:endParaRPr lang="en-US" sz="1600" dirty="0"/>
          </a:p>
        </p:txBody>
      </p:sp>
      <p:sp>
        <p:nvSpPr>
          <p:cNvPr id="17" name="Text 12"/>
          <p:cNvSpPr txBox="1"/>
          <p:nvPr/>
        </p:nvSpPr>
        <p:spPr>
          <a:xfrm>
            <a:off x="155448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Personality items are public domain; interest items, careers and wording are ours and MIT-licensed.</a:t>
            </a:r>
            <a:endParaRPr lang="en-US" sz="1300" dirty="0"/>
          </a:p>
        </p:txBody>
      </p:sp>
      <p:sp>
        <p:nvSpPr>
          <p:cNvPr id="18" name="principle 4"/>
          <p:cNvSpPr/>
          <p:nvPr/>
        </p:nvSpPr>
        <p:spPr>
          <a:xfrm>
            <a:off x="4663440" y="2743200"/>
            <a:ext cx="4023360" cy="1417320"/>
          </a:xfrm>
          <a:prstGeom prst="roundRect">
            <a:avLst>
              <a:gd name="adj" fmla="val 7742"/>
            </a:avLst>
          </a:prstGeom>
          <a:solidFill>
            <a:schemeClr val="bg2"/>
          </a:solidFill>
          <a:ln/>
        </p:spPr>
      </p:sp>
      <p:sp>
        <p:nvSpPr>
          <p:cNvPr id="19" name="principle 4 circle"/>
          <p:cNvSpPr/>
          <p:nvPr/>
        </p:nvSpPr>
        <p:spPr>
          <a:xfrm>
            <a:off x="4892040" y="3017520"/>
            <a:ext cx="640080" cy="640080"/>
          </a:xfrm>
          <a:prstGeom prst="ellipse">
            <a:avLst/>
          </a:prstGeom>
          <a:solidFill>
            <a:schemeClr val="tx2"/>
          </a:solidFill>
          <a:ln/>
        </p:spPr>
      </p:sp>
      <p:pic>
        <p:nvPicPr>
          <p:cNvPr id="20" name="principle 4 icon" descr="preencoded.png">    </p:cNvPr>
          <p:cNvPicPr>
            <a:picLocks noChangeAspect="1"/>
          </p:cNvPicPr>
          <p:nvPr/>
        </p:nvPicPr>
        <p:blipFill>
          <a:blip r:embed="rId4"/>
          <a:stretch>
            <a:fillRect/>
          </a:stretch>
        </p:blipFill>
        <p:spPr>
          <a:xfrm>
            <a:off x="5058461" y="3183941"/>
            <a:ext cx="307238" cy="307238"/>
          </a:xfrm>
          <a:prstGeom prst="rect">
            <a:avLst/>
          </a:prstGeom>
        </p:spPr>
      </p:pic>
      <p:sp>
        <p:nvSpPr>
          <p:cNvPr id="21" name="Text 15"/>
          <p:cNvSpPr txBox="1"/>
          <p:nvPr/>
        </p:nvSpPr>
        <p:spPr>
          <a:xfrm>
            <a:off x="5760720" y="2944368"/>
            <a:ext cx="2788920" cy="384048"/>
          </a:xfrm>
          <a:prstGeom prst="rect">
            <a:avLst/>
          </a:prstGeom>
          <a:noFill/>
          <a:ln/>
        </p:spPr>
        <p:txBody>
          <a:bodyPr wrap="square" lIns="0" tIns="0" rIns="0" bIns="0" rtlCol="0" anchor="ctr"/>
          <a:lstStyle/>
          <a:p>
            <a:pPr indent="0" marL="0">
              <a:buNone/>
            </a:pPr>
            <a:r>
              <a:rPr lang="en-US" sz="1600" b="1" dirty="0">
                <a:solidFill>
                  <a:schemeClr val="tx2"/>
                </a:solidFill>
              </a:rPr>
              <a:t>Private by default</a:t>
            </a:r>
            <a:endParaRPr lang="en-US" sz="1600" dirty="0"/>
          </a:p>
        </p:txBody>
      </p:sp>
      <p:sp>
        <p:nvSpPr>
          <p:cNvPr id="22" name="Text 16"/>
          <p:cNvSpPr txBox="1"/>
          <p:nvPr/>
        </p:nvSpPr>
        <p:spPr>
          <a:xfrm>
            <a:off x="5760720" y="3346704"/>
            <a:ext cx="2788920" cy="731520"/>
          </a:xfrm>
          <a:prstGeom prst="rect">
            <a:avLst/>
          </a:prstGeom>
          <a:noFill/>
          <a:ln/>
        </p:spPr>
        <p:txBody>
          <a:bodyPr wrap="square" lIns="0" tIns="0" rIns="0" bIns="0" rtlCol="0" anchor="t"/>
          <a:lstStyle/>
          <a:p>
            <a:pPr indent="0" marL="0">
              <a:buNone/>
            </a:pPr>
            <a:r>
              <a:rPr lang="en-US" sz="1300" dirty="0">
                <a:solidFill>
                  <a:schemeClr val="tx1"/>
                </a:solidFill>
              </a:rPr>
              <a:t>Only the student and their teacher see a result. Nothing is kept on a shared phone after sign-out.</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How we will show impact</a:t>
            </a:r>
            <a:endParaRPr lang="en-US" sz="2800" dirty="0"/>
          </a:p>
        </p:txBody>
      </p:sp>
      <p:sp>
        <p:nvSpPr>
          <p:cNvPr id="3" name="criterion 1"/>
          <p:cNvSpPr/>
          <p:nvPr/>
        </p:nvSpPr>
        <p:spPr>
          <a:xfrm>
            <a:off x="457200" y="1188720"/>
            <a:ext cx="1920240" cy="3017520"/>
          </a:xfrm>
          <a:prstGeom prst="roundRect">
            <a:avLst>
              <a:gd name="adj" fmla="val 5714"/>
            </a:avLst>
          </a:prstGeom>
          <a:solidFill>
            <a:schemeClr val="tx2"/>
          </a:solidFill>
          <a:ln/>
        </p:spPr>
      </p:sp>
      <p:sp>
        <p:nvSpPr>
          <p:cNvPr id="4" name="Text 2"/>
          <p:cNvSpPr txBox="1"/>
          <p:nvPr/>
        </p:nvSpPr>
        <p:spPr>
          <a:xfrm>
            <a:off x="64008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Size</a:t>
            </a:r>
            <a:endParaRPr lang="en-US" sz="2000" dirty="0"/>
          </a:p>
        </p:txBody>
      </p:sp>
      <p:sp>
        <p:nvSpPr>
          <p:cNvPr id="5" name="Text 3"/>
          <p:cNvSpPr txBox="1"/>
          <p:nvPr/>
        </p:nvSpPr>
        <p:spPr>
          <a:xfrm>
            <a:off x="64008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Built for any school with a phone and a browser — the 24.8 crore students in Indian schools.</a:t>
            </a:r>
            <a:endParaRPr lang="en-US" sz="1400" dirty="0"/>
          </a:p>
        </p:txBody>
      </p:sp>
      <p:sp>
        <p:nvSpPr>
          <p:cNvPr id="6" name="criterion 2"/>
          <p:cNvSpPr/>
          <p:nvPr/>
        </p:nvSpPr>
        <p:spPr>
          <a:xfrm>
            <a:off x="2560320" y="1188720"/>
            <a:ext cx="1920240" cy="3017520"/>
          </a:xfrm>
          <a:prstGeom prst="roundRect">
            <a:avLst>
              <a:gd name="adj" fmla="val 5714"/>
            </a:avLst>
          </a:prstGeom>
          <a:solidFill>
            <a:schemeClr val="accent2"/>
          </a:solidFill>
          <a:ln/>
        </p:spPr>
      </p:sp>
      <p:sp>
        <p:nvSpPr>
          <p:cNvPr id="7" name="Text 5"/>
          <p:cNvSpPr txBox="1"/>
          <p:nvPr/>
        </p:nvSpPr>
        <p:spPr>
          <a:xfrm>
            <a:off x="274320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Severity</a:t>
            </a:r>
            <a:endParaRPr lang="en-US" sz="2000" dirty="0"/>
          </a:p>
        </p:txBody>
      </p:sp>
      <p:sp>
        <p:nvSpPr>
          <p:cNvPr id="8" name="Text 6"/>
          <p:cNvSpPr txBox="1"/>
          <p:nvPr/>
        </p:nvSpPr>
        <p:spPr>
          <a:xfrm>
            <a:off x="274320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stream chosen at 15 shapes the next decade; fewer than 1 in 10 low-income students get guidance today.</a:t>
            </a:r>
            <a:endParaRPr lang="en-US" sz="1400" dirty="0"/>
          </a:p>
        </p:txBody>
      </p:sp>
      <p:sp>
        <p:nvSpPr>
          <p:cNvPr id="9" name="criterion 3"/>
          <p:cNvSpPr/>
          <p:nvPr/>
        </p:nvSpPr>
        <p:spPr>
          <a:xfrm>
            <a:off x="4663440" y="1188720"/>
            <a:ext cx="1920240" cy="3017520"/>
          </a:xfrm>
          <a:prstGeom prst="roundRect">
            <a:avLst>
              <a:gd name="adj" fmla="val 5714"/>
            </a:avLst>
          </a:prstGeom>
          <a:solidFill>
            <a:schemeClr val="accent1"/>
          </a:solidFill>
          <a:ln/>
        </p:spPr>
      </p:sp>
      <p:sp>
        <p:nvSpPr>
          <p:cNvPr id="10" name="Text 8"/>
          <p:cNvSpPr txBox="1"/>
          <p:nvPr/>
        </p:nvSpPr>
        <p:spPr>
          <a:xfrm>
            <a:off x="484632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Quality</a:t>
            </a:r>
            <a:endParaRPr lang="en-US" sz="2000" dirty="0"/>
          </a:p>
        </p:txBody>
      </p:sp>
      <p:sp>
        <p:nvSpPr>
          <p:cNvPr id="11" name="Text 9"/>
          <p:cNvSpPr txBox="1"/>
          <p:nvPr/>
        </p:nvSpPr>
        <p:spPr>
          <a:xfrm>
            <a:off x="484632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Tested scoring and API, accessible screens, works on a shared phone, open source.</a:t>
            </a:r>
            <a:endParaRPr lang="en-US" sz="1400" dirty="0"/>
          </a:p>
        </p:txBody>
      </p:sp>
      <p:sp>
        <p:nvSpPr>
          <p:cNvPr id="12" name="criterion 4"/>
          <p:cNvSpPr/>
          <p:nvPr/>
        </p:nvSpPr>
        <p:spPr>
          <a:xfrm>
            <a:off x="6766560" y="1188720"/>
            <a:ext cx="1920240" cy="3017520"/>
          </a:xfrm>
          <a:prstGeom prst="roundRect">
            <a:avLst>
              <a:gd name="adj" fmla="val 5714"/>
            </a:avLst>
          </a:prstGeom>
          <a:solidFill>
            <a:schemeClr val="accent3"/>
          </a:solidFill>
          <a:ln/>
        </p:spPr>
      </p:sp>
      <p:sp>
        <p:nvSpPr>
          <p:cNvPr id="13" name="Text 11"/>
          <p:cNvSpPr txBox="1"/>
          <p:nvPr/>
        </p:nvSpPr>
        <p:spPr>
          <a:xfrm>
            <a:off x="6949440" y="1371600"/>
            <a:ext cx="1600200" cy="731520"/>
          </a:xfrm>
          <a:prstGeom prst="rect">
            <a:avLst/>
          </a:prstGeom>
          <a:noFill/>
          <a:ln/>
        </p:spPr>
        <p:txBody>
          <a:bodyPr wrap="square" lIns="0" tIns="0" rIns="0" bIns="0" rtlCol="0" anchor="t"/>
          <a:lstStyle/>
          <a:p>
            <a:pPr indent="0" marL="0">
              <a:buNone/>
            </a:pPr>
            <a:r>
              <a:rPr lang="en-US" sz="2000" b="1" dirty="0">
                <a:solidFill>
                  <a:schemeClr val="bg1"/>
                </a:solidFill>
              </a:rPr>
              <a:t>Proven impact</a:t>
            </a:r>
            <a:endParaRPr lang="en-US" sz="2000" dirty="0"/>
          </a:p>
        </p:txBody>
      </p:sp>
      <p:sp>
        <p:nvSpPr>
          <p:cNvPr id="14" name="Text 12"/>
          <p:cNvSpPr txBox="1"/>
          <p:nvPr/>
        </p:nvSpPr>
        <p:spPr>
          <a:xfrm>
            <a:off x="6949440" y="2194560"/>
            <a:ext cx="1600200" cy="1874520"/>
          </a:xfrm>
          <a:prstGeom prst="rect">
            <a:avLst/>
          </a:prstGeom>
          <a:noFill/>
          <a:ln/>
        </p:spPr>
        <p:txBody>
          <a:bodyPr wrap="square" lIns="0" tIns="0" rIns="0" bIns="0" rtlCol="0" anchor="t"/>
          <a:lstStyle/>
          <a:p>
            <a:pPr indent="0" marL="0">
              <a:buNone/>
            </a:pPr>
            <a:r>
              <a:rPr lang="en-US" sz="1400" dirty="0">
                <a:solidFill>
                  <a:schemeClr val="bg1"/>
                </a:solidFill>
              </a:rPr>
              <a:t>A pilot school: students who finish, reports discussed at home, teacher use in subject choice.</a:t>
            </a:r>
            <a:endParaRPr lang="en-US" sz="1400" dirty="0"/>
          </a:p>
        </p:txBody>
      </p:sp>
      <p:sp>
        <p:nvSpPr>
          <p:cNvPr id="15" name="Text 13"/>
          <p:cNvSpPr txBox="1"/>
          <p:nvPr/>
        </p:nvSpPr>
        <p:spPr>
          <a:xfrm>
            <a:off x="457200" y="4407408"/>
            <a:ext cx="8229600" cy="329184"/>
          </a:xfrm>
          <a:prstGeom prst="rect">
            <a:avLst/>
          </a:prstGeom>
          <a:noFill/>
          <a:ln/>
        </p:spPr>
        <p:txBody>
          <a:bodyPr wrap="square" lIns="0" tIns="0" rIns="0" bIns="0" rtlCol="0" anchor="b"/>
          <a:lstStyle/>
          <a:p>
            <a:pPr indent="0" marL="0">
              <a:buNone/>
            </a:pPr>
            <a:r>
              <a:rPr lang="en-US" sz="900" dirty="0">
                <a:solidFill>
                  <a:schemeClr val="accent5"/>
                </a:solidFill>
              </a:rPr>
              <a:t>Mapped to the Code for a Billion judging criteria: size, severity, quality of the solution and proven impact (25% each)</a:t>
            </a:r>
            <a:endParaRPr lang="en-US" sz="9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800" b="1" dirty="0">
                <a:solidFill>
                  <a:schemeClr val="tx2"/>
                </a:solidFill>
              </a:rPr>
              <a:t>What comes next</a:t>
            </a:r>
            <a:endParaRPr lang="en-US" sz="2800" dirty="0"/>
          </a:p>
        </p:txBody>
      </p:sp>
      <p:sp>
        <p:nvSpPr>
          <p:cNvPr id="3" name="timeline"/>
          <p:cNvSpPr/>
          <p:nvPr/>
        </p:nvSpPr>
        <p:spPr>
          <a:xfrm>
            <a:off x="914400" y="1664208"/>
            <a:ext cx="7315200" cy="0"/>
          </a:xfrm>
          <a:prstGeom prst="line">
            <a:avLst/>
          </a:prstGeom>
          <a:noFill/>
          <a:ln w="38100">
            <a:solidFill>
              <a:srgbClr val="DBEAFE"/>
            </a:solidFill>
            <a:prstDash val="solid"/>
          </a:ln>
        </p:spPr>
      </p:sp>
      <p:sp>
        <p:nvSpPr>
          <p:cNvPr id="4" name="milestone 1 circle"/>
          <p:cNvSpPr/>
          <p:nvPr/>
        </p:nvSpPr>
        <p:spPr>
          <a:xfrm>
            <a:off x="1024128" y="1344168"/>
            <a:ext cx="640080" cy="640080"/>
          </a:xfrm>
          <a:prstGeom prst="ellipse">
            <a:avLst/>
          </a:prstGeom>
          <a:solidFill>
            <a:schemeClr val="accent3"/>
          </a:solidFill>
          <a:ln/>
        </p:spPr>
      </p:sp>
      <p:pic>
        <p:nvPicPr>
          <p:cNvPr id="5" name="milestone 1 icon" descr="preencoded.png">    </p:cNvPr>
          <p:cNvPicPr>
            <a:picLocks noChangeAspect="1"/>
          </p:cNvPicPr>
          <p:nvPr/>
        </p:nvPicPr>
        <p:blipFill>
          <a:blip r:embed="rId1"/>
          <a:stretch>
            <a:fillRect/>
          </a:stretch>
        </p:blipFill>
        <p:spPr>
          <a:xfrm>
            <a:off x="1190549" y="1510589"/>
            <a:ext cx="307238" cy="307238"/>
          </a:xfrm>
          <a:prstGeom prst="rect">
            <a:avLst/>
          </a:prstGeom>
        </p:spPr>
      </p:pic>
      <p:sp>
        <p:nvSpPr>
          <p:cNvPr id="6" name="Text 3"/>
          <p:cNvSpPr txBox="1"/>
          <p:nvPr/>
        </p:nvSpPr>
        <p:spPr>
          <a:xfrm>
            <a:off x="45720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3"/>
                </a:solidFill>
              </a:rPr>
              <a:t>Now</a:t>
            </a:r>
            <a:endParaRPr lang="en-US" sz="1300" dirty="0"/>
          </a:p>
        </p:txBody>
      </p:sp>
      <p:sp>
        <p:nvSpPr>
          <p:cNvPr id="7" name="Text 4"/>
          <p:cNvSpPr txBox="1"/>
          <p:nvPr/>
        </p:nvSpPr>
        <p:spPr>
          <a:xfrm>
            <a:off x="45720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Built and open</a:t>
            </a:r>
            <a:endParaRPr lang="en-US" sz="1600" dirty="0"/>
          </a:p>
        </p:txBody>
      </p:sp>
      <p:sp>
        <p:nvSpPr>
          <p:cNvPr id="8" name="Text 5"/>
          <p:cNvSpPr txBox="1"/>
          <p:nvPr/>
        </p:nvSpPr>
        <p:spPr>
          <a:xfrm>
            <a:off x="50292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Test, report, careers, counsellor, teacher view.</a:t>
            </a:r>
            <a:endParaRPr lang="en-US" sz="1300" dirty="0"/>
          </a:p>
        </p:txBody>
      </p:sp>
      <p:sp>
        <p:nvSpPr>
          <p:cNvPr id="9" name="milestone 2 circle"/>
          <p:cNvSpPr/>
          <p:nvPr/>
        </p:nvSpPr>
        <p:spPr>
          <a:xfrm>
            <a:off x="3127248" y="1344168"/>
            <a:ext cx="640080" cy="640080"/>
          </a:xfrm>
          <a:prstGeom prst="ellipse">
            <a:avLst/>
          </a:prstGeom>
          <a:solidFill>
            <a:schemeClr val="tx2"/>
          </a:solidFill>
          <a:ln/>
        </p:spPr>
      </p:sp>
      <p:pic>
        <p:nvPicPr>
          <p:cNvPr id="10" name="milestone 2 icon" descr="preencoded.png">    </p:cNvPr>
          <p:cNvPicPr>
            <a:picLocks noChangeAspect="1"/>
          </p:cNvPicPr>
          <p:nvPr/>
        </p:nvPicPr>
        <p:blipFill>
          <a:blip r:embed="rId2"/>
          <a:stretch>
            <a:fillRect/>
          </a:stretch>
        </p:blipFill>
        <p:spPr>
          <a:xfrm>
            <a:off x="3293669" y="1510589"/>
            <a:ext cx="307238" cy="307238"/>
          </a:xfrm>
          <a:prstGeom prst="rect">
            <a:avLst/>
          </a:prstGeom>
        </p:spPr>
      </p:pic>
      <p:sp>
        <p:nvSpPr>
          <p:cNvPr id="11" name="Text 7"/>
          <p:cNvSpPr txBox="1"/>
          <p:nvPr/>
        </p:nvSpPr>
        <p:spPr>
          <a:xfrm>
            <a:off x="2560320" y="2103120"/>
            <a:ext cx="1920240" cy="292608"/>
          </a:xfrm>
          <a:prstGeom prst="rect">
            <a:avLst/>
          </a:prstGeom>
          <a:noFill/>
          <a:ln/>
        </p:spPr>
        <p:txBody>
          <a:bodyPr wrap="square" lIns="0" tIns="0" rIns="0" bIns="0" rtlCol="0" anchor="ctr"/>
          <a:lstStyle/>
          <a:p>
            <a:pPr algn="ctr" indent="0" marL="0">
              <a:buNone/>
            </a:pPr>
            <a:r>
              <a:rPr lang="en-US" sz="1300" b="1" dirty="0">
                <a:solidFill>
                  <a:schemeClr val="tx2"/>
                </a:solidFill>
              </a:rPr>
              <a:t>In progress</a:t>
            </a:r>
            <a:endParaRPr lang="en-US" sz="1300" dirty="0"/>
          </a:p>
        </p:txBody>
      </p:sp>
      <p:sp>
        <p:nvSpPr>
          <p:cNvPr id="12" name="Text 8"/>
          <p:cNvSpPr txBox="1"/>
          <p:nvPr/>
        </p:nvSpPr>
        <p:spPr>
          <a:xfrm>
            <a:off x="256032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An AI counsellor agent</a:t>
            </a:r>
            <a:endParaRPr lang="en-US" sz="1600" dirty="0"/>
          </a:p>
        </p:txBody>
      </p:sp>
      <p:sp>
        <p:nvSpPr>
          <p:cNvPr id="13" name="Text 9"/>
          <p:cNvSpPr txBox="1"/>
          <p:nvPr/>
        </p:nvSpPr>
        <p:spPr>
          <a:xfrm>
            <a:off x="260604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Built in AgentFoundry: reads the result, finds careers, saves a plan.</a:t>
            </a:r>
            <a:endParaRPr lang="en-US" sz="1300" dirty="0"/>
          </a:p>
        </p:txBody>
      </p:sp>
      <p:sp>
        <p:nvSpPr>
          <p:cNvPr id="14" name="milestone 3 circle"/>
          <p:cNvSpPr/>
          <p:nvPr/>
        </p:nvSpPr>
        <p:spPr>
          <a:xfrm>
            <a:off x="5230368" y="1344168"/>
            <a:ext cx="640080" cy="640080"/>
          </a:xfrm>
          <a:prstGeom prst="ellipse">
            <a:avLst/>
          </a:prstGeom>
          <a:solidFill>
            <a:schemeClr val="accent1"/>
          </a:solidFill>
          <a:ln/>
        </p:spPr>
      </p:sp>
      <p:pic>
        <p:nvPicPr>
          <p:cNvPr id="15" name="milestone 3 icon" descr="preencoded.png">    </p:cNvPr>
          <p:cNvPicPr>
            <a:picLocks noChangeAspect="1"/>
          </p:cNvPicPr>
          <p:nvPr/>
        </p:nvPicPr>
        <p:blipFill>
          <a:blip r:embed="rId3"/>
          <a:stretch>
            <a:fillRect/>
          </a:stretch>
        </p:blipFill>
        <p:spPr>
          <a:xfrm>
            <a:off x="5396789" y="1510589"/>
            <a:ext cx="307238" cy="307238"/>
          </a:xfrm>
          <a:prstGeom prst="rect">
            <a:avLst/>
          </a:prstGeom>
        </p:spPr>
      </p:pic>
      <p:sp>
        <p:nvSpPr>
          <p:cNvPr id="16" name="Text 11"/>
          <p:cNvSpPr txBox="1"/>
          <p:nvPr/>
        </p:nvSpPr>
        <p:spPr>
          <a:xfrm>
            <a:off x="466344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1"/>
                </a:solidFill>
              </a:rPr>
              <a:t>Next</a:t>
            </a:r>
            <a:endParaRPr lang="en-US" sz="1300" dirty="0"/>
          </a:p>
        </p:txBody>
      </p:sp>
      <p:sp>
        <p:nvSpPr>
          <p:cNvPr id="17" name="Text 12"/>
          <p:cNvSpPr txBox="1"/>
          <p:nvPr/>
        </p:nvSpPr>
        <p:spPr>
          <a:xfrm>
            <a:off x="466344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Pilot with a school</a:t>
            </a:r>
            <a:endParaRPr lang="en-US" sz="1600" dirty="0"/>
          </a:p>
        </p:txBody>
      </p:sp>
      <p:sp>
        <p:nvSpPr>
          <p:cNvPr id="18" name="Text 13"/>
          <p:cNvSpPr txBox="1"/>
          <p:nvPr/>
        </p:nvSpPr>
        <p:spPr>
          <a:xfrm>
            <a:off x="470916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With a partner school, measuring use and outcomes.</a:t>
            </a:r>
            <a:endParaRPr lang="en-US" sz="1300" dirty="0"/>
          </a:p>
        </p:txBody>
      </p:sp>
      <p:sp>
        <p:nvSpPr>
          <p:cNvPr id="19" name="milestone 4 circle"/>
          <p:cNvSpPr/>
          <p:nvPr/>
        </p:nvSpPr>
        <p:spPr>
          <a:xfrm>
            <a:off x="7333488" y="1344168"/>
            <a:ext cx="640080" cy="640080"/>
          </a:xfrm>
          <a:prstGeom prst="ellipse">
            <a:avLst/>
          </a:prstGeom>
          <a:solidFill>
            <a:schemeClr val="accent2"/>
          </a:solidFill>
          <a:ln/>
        </p:spPr>
      </p:sp>
      <p:pic>
        <p:nvPicPr>
          <p:cNvPr id="20" name="milestone 4 icon" descr="preencoded.png">    </p:cNvPr>
          <p:cNvPicPr>
            <a:picLocks noChangeAspect="1"/>
          </p:cNvPicPr>
          <p:nvPr/>
        </p:nvPicPr>
        <p:blipFill>
          <a:blip r:embed="rId4"/>
          <a:stretch>
            <a:fillRect/>
          </a:stretch>
        </p:blipFill>
        <p:spPr>
          <a:xfrm>
            <a:off x="7499909" y="1510589"/>
            <a:ext cx="307238" cy="307238"/>
          </a:xfrm>
          <a:prstGeom prst="rect">
            <a:avLst/>
          </a:prstGeom>
        </p:spPr>
      </p:pic>
      <p:sp>
        <p:nvSpPr>
          <p:cNvPr id="21" name="Text 15"/>
          <p:cNvSpPr txBox="1"/>
          <p:nvPr/>
        </p:nvSpPr>
        <p:spPr>
          <a:xfrm>
            <a:off x="6766560" y="2103120"/>
            <a:ext cx="1920240" cy="292608"/>
          </a:xfrm>
          <a:prstGeom prst="rect">
            <a:avLst/>
          </a:prstGeom>
          <a:noFill/>
          <a:ln/>
        </p:spPr>
        <p:txBody>
          <a:bodyPr wrap="square" lIns="0" tIns="0" rIns="0" bIns="0" rtlCol="0" anchor="ctr"/>
          <a:lstStyle/>
          <a:p>
            <a:pPr algn="ctr" indent="0" marL="0">
              <a:buNone/>
            </a:pPr>
            <a:r>
              <a:rPr lang="en-US" sz="1300" b="1" dirty="0">
                <a:solidFill>
                  <a:schemeClr val="accent2"/>
                </a:solidFill>
              </a:rPr>
              <a:t>Then</a:t>
            </a:r>
            <a:endParaRPr lang="en-US" sz="1300" dirty="0"/>
          </a:p>
        </p:txBody>
      </p:sp>
      <p:sp>
        <p:nvSpPr>
          <p:cNvPr id="22" name="Text 16"/>
          <p:cNvSpPr txBox="1"/>
          <p:nvPr/>
        </p:nvSpPr>
        <p:spPr>
          <a:xfrm>
            <a:off x="6766560" y="2395728"/>
            <a:ext cx="1920240" cy="566928"/>
          </a:xfrm>
          <a:prstGeom prst="rect">
            <a:avLst/>
          </a:prstGeom>
          <a:noFill/>
          <a:ln/>
        </p:spPr>
        <p:txBody>
          <a:bodyPr wrap="square" lIns="0" tIns="0" rIns="0" bIns="0" rtlCol="0" anchor="t"/>
          <a:lstStyle/>
          <a:p>
            <a:pPr algn="ctr" indent="0" marL="0">
              <a:buNone/>
            </a:pPr>
            <a:r>
              <a:rPr lang="en-US" sz="1600" b="1" dirty="0">
                <a:solidFill>
                  <a:schemeClr val="tx2"/>
                </a:solidFill>
              </a:rPr>
              <a:t>Hindi and more languages</a:t>
            </a:r>
            <a:endParaRPr lang="en-US" sz="1600" dirty="0"/>
          </a:p>
        </p:txBody>
      </p:sp>
      <p:sp>
        <p:nvSpPr>
          <p:cNvPr id="23" name="Text 17"/>
          <p:cNvSpPr txBox="1"/>
          <p:nvPr/>
        </p:nvSpPr>
        <p:spPr>
          <a:xfrm>
            <a:off x="6812280" y="2999232"/>
            <a:ext cx="1828800" cy="914400"/>
          </a:xfrm>
          <a:prstGeom prst="rect">
            <a:avLst/>
          </a:prstGeom>
          <a:noFill/>
          <a:ln/>
        </p:spPr>
        <p:txBody>
          <a:bodyPr wrap="square" lIns="0" tIns="0" rIns="0" bIns="0" rtlCol="0" anchor="t"/>
          <a:lstStyle/>
          <a:p>
            <a:pPr algn="ctr" indent="0" marL="0">
              <a:buNone/>
            </a:pPr>
            <a:r>
              <a:rPr lang="en-US" sz="1300" dirty="0">
                <a:solidFill>
                  <a:schemeClr val="tx1"/>
                </a:solidFill>
              </a:rPr>
              <a:t>The test, report and careers in regional languages.</a:t>
            </a:r>
            <a:endParaRPr lang="en-US" sz="1300" dirty="0"/>
          </a:p>
        </p:txBody>
      </p:sp>
      <p:sp>
        <p:nvSpPr>
          <p:cNvPr id="25" name="Slide Number Placeholder 0"/>
          <p:cNvSpPr>
            <a:spLocks noGrp="1"/>
          </p:cNvSpPr>
          <p:nvPr>
            <p:ph type="sldNum" sz="quarter" idx="4294967295"/>
          </p:nvPr>
        </p:nvSpPr>
        <p:spPr>
          <a:xfrm>
            <a:off x="832104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1234440"/>
            <a:ext cx="5120640" cy="1554480"/>
          </a:xfrm>
          <a:prstGeom prst="rect">
            <a:avLst/>
          </a:prstGeom>
          <a:noFill/>
          <a:ln/>
        </p:spPr>
        <p:txBody>
          <a:bodyPr wrap="square" lIns="0" tIns="0" rIns="0" bIns="0" rtlCol="0" anchor="b"/>
          <a:lstStyle/>
          <a:p>
            <a:pPr algn="l" indent="0" marL="0">
              <a:buNone/>
            </a:pPr>
            <a:r>
              <a:rPr lang="en-US" sz="4000" b="1" dirty="0">
                <a:solidFill>
                  <a:schemeClr val="bg1"/>
                </a:solidFill>
              </a:rPr>
              <a:t>Try it today</a:t>
            </a:r>
            <a:endParaRPr lang="en-US" sz="4000" dirty="0"/>
          </a:p>
        </p:txBody>
      </p:sp>
      <p:sp>
        <p:nvSpPr>
          <p:cNvPr id="3" name="Text 0"/>
          <p:cNvSpPr/>
          <p:nvPr>
            <p:ph idx="101" type="body" hasCustomPrompt="1"/>
          </p:nvPr>
        </p:nvSpPr>
        <p:spPr>
          <a:xfrm>
            <a:off x="548640" y="2926080"/>
            <a:ext cx="4937760" cy="1188720"/>
          </a:xfrm>
          <a:prstGeom prst="rect">
            <a:avLst/>
          </a:prstGeom>
          <a:noFill/>
          <a:ln/>
        </p:spPr>
        <p:txBody>
          <a:bodyPr wrap="square" lIns="0" tIns="0" rIns="0" bIns="0" rtlCol="0" anchor="t"/>
          <a:lstStyle/>
          <a:p>
            <a:pPr algn="l" indent="0" marL="0">
              <a:buNone/>
            </a:pPr>
            <a:r>
              <a:rPr lang="en-US" sz="1600" b="1" dirty="0">
                <a:solidFill>
                  <a:schemeClr val="bg1"/>
                </a:solidFill>
              </a:rPr>
              <a:t>github.com/om-1115/hpc-career-agent</a:t>
            </a:r>
            <a:endParaRPr lang="en-US" sz="1600" dirty="0"/>
          </a:p>
          <a:p>
            <a:pPr algn="l" indent="0" marL="0">
              <a:buNone/>
            </a:pPr>
            <a:r>
              <a:rPr lang="en-US" sz="1600" dirty="0">
                <a:solidFill>
                  <a:schemeClr val="accent4"/>
                </a:solidFill>
              </a:rPr>
              <a:t>npm run seed:demo, then sign in as student S001 / student-demo or teacher T001 / teacher-demo</a:t>
            </a:r>
            <a:endParaRPr lang="en-US" sz="1600" dirty="0"/>
          </a:p>
          <a:p>
            <a:pPr algn="l" indent="0" marL="0">
              <a:buNone/>
            </a:pPr>
            <a:r>
              <a:rPr lang="en-US" sz="800" dirty="0">
                <a:solidFill>
                  <a:schemeClr val="accent4"/>
                </a:solidFill>
              </a:rPr>
              <a:t> </a:t>
            </a:r>
            <a:endParaRPr lang="en-US" sz="1600" dirty="0"/>
          </a:p>
          <a:p>
            <a:pPr algn="l" indent="0" marL="0">
              <a:buNone/>
            </a:pPr>
            <a:r>
              <a:rPr lang="en-US" sz="1400" b="1" dirty="0">
                <a:solidFill>
                  <a:schemeClr val="accent2"/>
                </a:solidFill>
              </a:rPr>
              <a:t>Open source · MIT · Code for a Billion 2026</a:t>
            </a:r>
            <a:endParaRPr lang="en-US" sz="1600" dirty="0"/>
          </a:p>
        </p:txBody>
      </p:sp>
      <p:sp>
        <p:nvSpPr>
          <p:cNvPr id="4" name="Career profile screen frame"/>
          <p:cNvSpPr/>
          <p:nvPr/>
        </p:nvSpPr>
        <p:spPr>
          <a:xfrm>
            <a:off x="6135624" y="374904"/>
            <a:ext cx="2079296" cy="4416552"/>
          </a:xfrm>
          <a:prstGeom prst="roundRect">
            <a:avLst>
              <a:gd name="adj" fmla="val 7036"/>
            </a:avLst>
          </a:prstGeom>
          <a:solidFill>
            <a:schemeClr val="bg1"/>
          </a:solidFill>
          <a:ln w="12700">
            <a:solidFill>
              <a:srgbClr val="DBEAFE"/>
            </a:solidFill>
            <a:prstDash val="solid"/>
          </a:ln>
          <a:effectLst>
            <a:outerShdw sx="100000" sy="100000" kx="0" ky="0" algn="bl" rotWithShape="0" blurRad="127000" dist="38100" dir="5400000">
              <a:srgbClr val="0F172A">
                <a:alpha val="18000"/>
              </a:srgbClr>
            </a:outerShdw>
          </a:effectLst>
        </p:spPr>
      </p:sp>
      <p:pic>
        <p:nvPicPr>
          <p:cNvPr id="5" name="Career profile screen" descr="Career profile screen">    </p:cNvPr>
          <p:cNvPicPr>
            <a:picLocks noChangeAspect="1"/>
          </p:cNvPicPr>
          <p:nvPr/>
        </p:nvPicPr>
        <p:blipFill>
          <a:blip r:embed="rId1"/>
          <a:stretch>
            <a:fillRect/>
          </a:stretch>
        </p:blipFill>
        <p:spPr>
          <a:xfrm>
            <a:off x="6172200" y="411480"/>
            <a:ext cx="2006144" cy="4343400"/>
          </a:xfrm>
          <a:prstGeom prst="rect">
            <a:avLst/>
          </a:prstGeom>
        </p:spPr>
      </p:pic>
    </p:spTree>
  </p:cSld>
  <p:clrMapOvr>
    <a:masterClrMapping/>
  </p:clrMapOvr>
</p:sld>
</file>

<file path=ppt/theme/theme1.xml><?xml version="1.0" encoding="utf-8"?>
<a:theme xmlns:a="http://schemas.openxmlformats.org/drawingml/2006/main" name="HPC Career">
  <a:themeElements>
    <a:clrScheme name="HPC Career">
      <a:dk1>
        <a:srgbClr val="0F172A"/>
      </a:dk1>
      <a:lt1>
        <a:srgbClr val="FFFFFF"/>
      </a:lt1>
      <a:dk2>
        <a:srgbClr val="022964"/>
      </a:dk2>
      <a:lt2>
        <a:srgbClr val="EFF6FF"/>
      </a:lt2>
      <a:accent1>
        <a:srgbClr val="2563EB"/>
      </a:accent1>
      <a:accent2>
        <a:srgbClr val="F59E0B"/>
      </a:accent2>
      <a:accent3>
        <a:srgbClr val="16A34A"/>
      </a:accent3>
      <a:accent4>
        <a:srgbClr val="93C5FD"/>
      </a:accent4>
      <a:accent5>
        <a:srgbClr val="64748B"/>
      </a:accent5>
      <a:accent6>
        <a:srgbClr val="DBEAFE"/>
      </a:accent6>
      <a:hlink>
        <a:srgbClr val="2563EB"/>
      </a:hlink>
      <a:folHlink>
        <a:srgbClr val="1D4ED8"/>
      </a:folHlink>
    </a:clrScheme>
    <a:fontScheme name="HPC Care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HPC Career — Holistic Progress Card with career guidance</dc:title>
  <dc:subject>PptxGenJS Presentation</dc:subject>
  <dc:creator>Om Kumar</dc:creator>
  <cp:lastModifiedBy>Om Kumar</cp:lastModifiedBy>
  <cp:revision>1</cp:revision>
  <dcterms:created xsi:type="dcterms:W3CDTF">2026-10-28T15:23:36Z</dcterms:created>
  <dcterms:modified xsi:type="dcterms:W3CDTF">2026-10-28T15:23:36Z</dcterms:modified>
</cp:coreProperties>
</file>