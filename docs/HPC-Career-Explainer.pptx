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aba159-63fb-4211-c480-7b1b54d01897}">
          <p14:sldIdLst>
            <p14:sldId id="256"/>
          </p14:sldIdLst>
        </p14:section>
        <p14:section name="Problem" id="{e86cb9de-12ae-029d-8834-87aed5d8d6ab}">
          <p14:sldIdLst>
            <p14:sldId id="257"/>
            <p14:sldId id="258"/>
          </p14:sldIdLst>
        </p14:section>
        <p14:section name="Solution" id="{8812f59b-289d-0960-a008-a48ca9a45cd7}">
          <p14:sldIdLst>
            <p14:sldId id="259"/>
            <p14:sldId id="260"/>
            <p14:sldId id="261"/>
            <p14:sldId id="262"/>
            <p14:sldId id="263"/>
            <p14:sldId id="264"/>
            <p14:sldId id="265"/>
            <p14:sldId id="266"/>
            <p14:sldId id="267"/>
          </p14:sldIdLst>
        </p14:section>
        <p14:section name="How it works" id="{f7a729ea-c36d-092f-c1ca-4652b6d629e1}">
          <p14:sldIdLst>
            <p14:sldId id="268"/>
            <p14:sldId id="269"/>
          </p14:sldIdLst>
        </p14:section>
        <p14:section name="Impact" id="{b2ae3279-c5ec-acea-ed7c-7d02d7a85e04}">
          <p14:sldIdLst>
            <p14:sldId id="270"/>
            <p14:sldId id="271"/>
          </p14:sldIdLst>
        </p14:section>
        <p14:section name="Close" id="{9cf0a5ae-4379-f838-09a6-812dd91b1fbf}">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HPC Career puts career guidance inside the Holistic Progress Card. A student takes a ten-minute test on a phone, gets a report they can actually read, and sees real careers with the route to each from Class 10. Their teacher sees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24.8 crore school students. In one survey of ten thousand students, 93 percent knew only seven career options, out of roughly 250. And among low-income students in Classes 9 to 12, fewer than one in ten had ever received any career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 decision comes at fifteen, and it is mostly made on advice from home: family is the top influence, teachers a distant second. Meanwhile, NEP 2020 replaced marks-only report cards with the Holistic Progress Card. It describes the whole child, but it does not yet help with the question every Class 10 student faces: what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HPC Career adds a Career tab to the progress card. Students take a short test, read a report written for them, explore careers with real Indian routes, and can ask a counsellor chat about streams and exams. Teachers get a class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HPC becomes every student’s career passbook. Just as a bank passbook records every deposit, it records every step of the career journey: each test, year after year, every plan they make, and their own reflections. From Class 9 to 12, students can look back, see how they have grown, and decide with evidence rather than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journey. The student signs in with the code their school gives them, takes the test one question at a time, reads their report, and explores careers sorted by how well they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interest half of the test uses Holland’s RIASEC model, one of the most widely used ideas in career guidance. People thrive in work that matches what they enjoy, and interests fall into six types: Realistic doers, Investigative thinkers, Artistic creators, Social helpers, Enterprising persuaders and Conventional organisers. A student’s three strongest types become their interest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has 56 questions and takes about ten minutes. Thirty-six interest questions, six for each RIASEC type, ask about everyday activities. Twenty personality questions come from the public-domain Mini-IPIP. It is built for a shared phone, and it is scored only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Psychometrics means measuring interests and personality with carefully worded questions, and we do it responsibly. Interests come from 36 everyday activities; personality from the public-domain Mini-IPIP, a short form of the Big Five. Scores show more or less for this student, never a ranking against others; every trait is a strength; and the report calls itself a starting point, not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is written for the student. It names their interest code, describes their personality as strengths, lists six careers that fit with the route to each, and ends with next steps. It prints cleanly so the family can discuss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guides a student. Discover their interests with the test. Understand their code and strengths in plain words. Explore thirty-six careers ranked by fit, each with the route from Class 10. Make a plan for this year. Talk it through with family and teachers using the printed report. And reflect in the passbook, coming back each year to see how they have grown.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see who has finished, where the class’s interests lie, and each student’s interest code: a ready starting point for a one-to-one or a parent meeting. Students can also ask the counsellor chat about streams and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simple to run: a phone web app, one small server, and a scoring module with unit tests. Accounts and results start in a single file. The counsellor is scripted today, with one function where an AI model plugs in. Passwords are hashed, accounts lock after five wrong tries, and every page is gated by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honest about what a ten-minute test can say. The report calls itself a conversation starter. Every trait is described as a strength. The personality items are public domain and everything else is open source. Only the student and their teacher see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we map to the four judging criteria. The size is every school student in India. The severity is a stream chosen at fifteen with almost no guidance. Quality comes from tested, accessible, open code. And for proven impact, we will pilot in a school and measure completion, conversations at home and teacher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built and open now. In progress: the counsellor becomes an AI agent, built in AgentFoundry, that reads the student’s result, finds careers and saves a plan. Next, a pilot with a partner school to measure real use and outcomes. Then Hindi and other Indian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HPC Career is open source. Clone it, seed the demo school, and sign in as a student or a teacher. Every student deserves a career conversation, and this puts one in their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26080"/>
            <a:ext cx="4937760" cy="118872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HPC Career · Code for a Billion 2026 · Education</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554480"/>
          </a:xfrm>
          <a:prstGeom prst="rect">
            <a:avLst/>
          </a:prstGeom>
          <a:noFill/>
          <a:ln/>
        </p:spPr>
        <p:txBody>
          <a:bodyPr wrap="square" lIns="0" tIns="0" rIns="0" bIns="0" rtlCol="0" anchor="b"/>
          <a:lstStyle/>
          <a:p>
            <a:pPr algn="l" indent="0" marL="0">
              <a:buNone/>
            </a:pPr>
            <a:r>
              <a:rPr lang="en-US" sz="4000" b="1" dirty="0">
                <a:solidFill>
                  <a:schemeClr val="bg1"/>
                </a:solidFill>
              </a:rPr>
              <a:t>Every student deserves a career conversation</a:t>
            </a:r>
            <a:endParaRPr lang="en-US" sz="4000" dirty="0"/>
          </a:p>
        </p:txBody>
      </p:sp>
      <p:sp>
        <p:nvSpPr>
          <p:cNvPr id="3" name="Text 0"/>
          <p:cNvSpPr/>
          <p:nvPr>
            <p:ph idx="101" type="body" hasCustomPrompt="1"/>
          </p:nvPr>
        </p:nvSpPr>
        <p:spPr>
          <a:xfrm>
            <a:off x="548640" y="2926080"/>
            <a:ext cx="4937760" cy="1188720"/>
          </a:xfrm>
          <a:prstGeom prst="rect">
            <a:avLst/>
          </a:prstGeom>
          <a:noFill/>
          <a:ln/>
        </p:spPr>
        <p:txBody>
          <a:bodyPr wrap="square" lIns="0" tIns="0" rIns="0" bIns="0" rtlCol="0" anchor="t"/>
          <a:lstStyle/>
          <a:p>
            <a:pPr algn="l" indent="0" marL="0">
              <a:buNone/>
            </a:pPr>
            <a:r>
              <a:rPr lang="en-US" sz="1600" dirty="0">
                <a:solidFill>
                  <a:schemeClr val="accent4"/>
                </a:solidFill>
              </a:rPr>
              <a:t>HPC Career — the Holistic Progress Card that becomes every student’s career passbook: a 10-minute test, a report they can read, real routes from Class 10, and a record of their whole journey.</a:t>
            </a:r>
            <a:endParaRPr lang="en-US" sz="1600" dirty="0"/>
          </a:p>
          <a:p>
            <a:pPr algn="l" indent="0" marL="0">
              <a:buNone/>
            </a:pPr>
            <a:r>
              <a:rPr lang="en-US" sz="800" dirty="0">
                <a:solidFill>
                  <a:schemeClr val="accent4"/>
                </a:solidFill>
              </a:rPr>
              <a:t> </a:t>
            </a:r>
            <a:endParaRPr lang="en-US" sz="1600" dirty="0"/>
          </a:p>
          <a:p>
            <a:pPr algn="l" indent="0" marL="0">
              <a:buNone/>
            </a:pPr>
            <a:r>
              <a:rPr lang="en-US" sz="1400" b="1" dirty="0">
                <a:solidFill>
                  <a:schemeClr val="accent2"/>
                </a:solidFill>
              </a:rPr>
              <a:t>Code for a Billion 2026 · Impact area 01 · Education</a:t>
            </a:r>
            <a:endParaRPr lang="en-US" sz="1600" dirty="0"/>
          </a:p>
        </p:txBody>
      </p:sp>
      <p:sp>
        <p:nvSpPr>
          <p:cNvPr id="4" name="Career report screen frame"/>
          <p:cNvSpPr/>
          <p:nvPr/>
        </p:nvSpPr>
        <p:spPr>
          <a:xfrm>
            <a:off x="6135624" y="374904"/>
            <a:ext cx="2079296" cy="4416552"/>
          </a:xfrm>
          <a:prstGeom prst="roundRect">
            <a:avLst>
              <a:gd name="adj" fmla="val 7036"/>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5" name="Career report screen" descr="Career report screen">    </p:cNvPr>
          <p:cNvPicPr>
            <a:picLocks noChangeAspect="1"/>
          </p:cNvPicPr>
          <p:nvPr/>
        </p:nvPicPr>
        <p:blipFill>
          <a:blip r:embed="rId1"/>
          <a:stretch>
            <a:fillRect/>
          </a:stretch>
        </p:blipFill>
        <p:spPr>
          <a:xfrm>
            <a:off x="6172200" y="411480"/>
            <a:ext cx="2006144" cy="4343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Crores of students choose a stream with almost no guidance</a:t>
            </a:r>
            <a:endParaRPr lang="en-US" sz="2800" dirty="0"/>
          </a:p>
        </p:txBody>
      </p:sp>
      <p:sp>
        <p:nvSpPr>
          <p:cNvPr id="3" name="stat card 1"/>
          <p:cNvSpPr/>
          <p:nvPr/>
        </p:nvSpPr>
        <p:spPr>
          <a:xfrm>
            <a:off x="457200" y="1188720"/>
            <a:ext cx="2606040" cy="2971800"/>
          </a:xfrm>
          <a:prstGeom prst="roundRect">
            <a:avLst>
              <a:gd name="adj" fmla="val 5263"/>
            </a:avLst>
          </a:prstGeom>
          <a:solidFill>
            <a:schemeClr val="bg2"/>
          </a:solidFill>
          <a:ln/>
        </p:spPr>
      </p:sp>
      <p:sp>
        <p:nvSpPr>
          <p:cNvPr id="4" name="Text 2"/>
          <p:cNvSpPr txBox="1"/>
          <p:nvPr/>
        </p:nvSpPr>
        <p:spPr>
          <a:xfrm>
            <a:off x="685800" y="1417320"/>
            <a:ext cx="2240280" cy="822960"/>
          </a:xfrm>
          <a:prstGeom prst="rect">
            <a:avLst/>
          </a:prstGeom>
          <a:noFill/>
          <a:ln/>
        </p:spPr>
        <p:txBody>
          <a:bodyPr wrap="square" lIns="0" tIns="0" rIns="0" bIns="0" rtlCol="0" anchor="ctr"/>
          <a:lstStyle/>
          <a:p>
            <a:pPr indent="0" marL="0">
              <a:buNone/>
            </a:pPr>
            <a:r>
              <a:rPr lang="en-US" sz="3000" b="1" dirty="0">
                <a:solidFill>
                  <a:schemeClr val="tx2"/>
                </a:solidFill>
                <a:latin typeface="Arial" pitchFamily="34" charset="0"/>
                <a:ea typeface="Arial" pitchFamily="34" charset="-122"/>
                <a:cs typeface="Arial" pitchFamily="34" charset="-120"/>
              </a:rPr>
              <a:t>24.8 crore</a:t>
            </a:r>
            <a:endParaRPr lang="en-US" sz="3000" dirty="0"/>
          </a:p>
        </p:txBody>
      </p:sp>
      <p:sp>
        <p:nvSpPr>
          <p:cNvPr id="5" name="Text 3"/>
          <p:cNvSpPr txBox="1"/>
          <p:nvPr/>
        </p:nvSpPr>
        <p:spPr>
          <a:xfrm>
            <a:off x="685800" y="2331720"/>
            <a:ext cx="2194560" cy="1234440"/>
          </a:xfrm>
          <a:prstGeom prst="rect">
            <a:avLst/>
          </a:prstGeom>
          <a:noFill/>
          <a:ln/>
        </p:spPr>
        <p:txBody>
          <a:bodyPr wrap="square" lIns="0" tIns="0" rIns="0" bIns="0" rtlCol="0" anchor="t"/>
          <a:lstStyle/>
          <a:p>
            <a:pPr indent="0" marL="0">
              <a:buNone/>
            </a:pPr>
            <a:r>
              <a:rPr lang="en-US" sz="1500" dirty="0">
                <a:solidFill>
                  <a:schemeClr val="tx1"/>
                </a:solidFill>
              </a:rPr>
              <a:t>students in Indian schools</a:t>
            </a:r>
            <a:endParaRPr lang="en-US" sz="1500" dirty="0"/>
          </a:p>
        </p:txBody>
      </p:sp>
      <p:sp>
        <p:nvSpPr>
          <p:cNvPr id="6" name="Text 4"/>
          <p:cNvSpPr txBox="1"/>
          <p:nvPr/>
        </p:nvSpPr>
        <p:spPr>
          <a:xfrm>
            <a:off x="685800" y="3657600"/>
            <a:ext cx="2194560" cy="320040"/>
          </a:xfrm>
          <a:prstGeom prst="rect">
            <a:avLst/>
          </a:prstGeom>
          <a:noFill/>
          <a:ln/>
        </p:spPr>
        <p:txBody>
          <a:bodyPr wrap="square" lIns="0" tIns="0" rIns="0" bIns="0" rtlCol="0" anchor="ctr"/>
          <a:lstStyle/>
          <a:p>
            <a:pPr indent="0" marL="0">
              <a:buNone/>
            </a:pPr>
            <a:r>
              <a:rPr lang="en-US" sz="1100" i="1" dirty="0">
                <a:solidFill>
                  <a:schemeClr val="accent5"/>
                </a:solidFill>
              </a:rPr>
              <a:t>UDISE+ 2023-24</a:t>
            </a:r>
            <a:endParaRPr lang="en-US" sz="1100" dirty="0"/>
          </a:p>
        </p:txBody>
      </p:sp>
      <p:sp>
        <p:nvSpPr>
          <p:cNvPr id="7" name="stat card 2"/>
          <p:cNvSpPr/>
          <p:nvPr/>
        </p:nvSpPr>
        <p:spPr>
          <a:xfrm>
            <a:off x="3246120" y="1188720"/>
            <a:ext cx="2606040" cy="2971800"/>
          </a:xfrm>
          <a:prstGeom prst="roundRect">
            <a:avLst>
              <a:gd name="adj" fmla="val 5263"/>
            </a:avLst>
          </a:prstGeom>
          <a:solidFill>
            <a:schemeClr val="bg2"/>
          </a:solidFill>
          <a:ln/>
        </p:spPr>
      </p:sp>
      <p:sp>
        <p:nvSpPr>
          <p:cNvPr id="8" name="Text 6"/>
          <p:cNvSpPr txBox="1"/>
          <p:nvPr/>
        </p:nvSpPr>
        <p:spPr>
          <a:xfrm>
            <a:off x="3474720" y="1417320"/>
            <a:ext cx="2240280" cy="82296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93%</a:t>
            </a:r>
            <a:endParaRPr lang="en-US" sz="3000" dirty="0"/>
          </a:p>
        </p:txBody>
      </p:sp>
      <p:sp>
        <p:nvSpPr>
          <p:cNvPr id="9" name="Text 7"/>
          <p:cNvSpPr txBox="1"/>
          <p:nvPr/>
        </p:nvSpPr>
        <p:spPr>
          <a:xfrm>
            <a:off x="3474720" y="2331720"/>
            <a:ext cx="2194560" cy="1234440"/>
          </a:xfrm>
          <a:prstGeom prst="rect">
            <a:avLst/>
          </a:prstGeom>
          <a:noFill/>
          <a:ln/>
        </p:spPr>
        <p:txBody>
          <a:bodyPr wrap="square" lIns="0" tIns="0" rIns="0" bIns="0" rtlCol="0" anchor="t"/>
          <a:lstStyle/>
          <a:p>
            <a:pPr indent="0" marL="0">
              <a:buNone/>
            </a:pPr>
            <a:r>
              <a:rPr lang="en-US" sz="1500" dirty="0">
                <a:solidFill>
                  <a:schemeClr val="tx1"/>
                </a:solidFill>
              </a:rPr>
              <a:t>of 10,000 students surveyed knew only 7 career options — out of about 250</a:t>
            </a:r>
            <a:endParaRPr lang="en-US" sz="1500" dirty="0"/>
          </a:p>
        </p:txBody>
      </p:sp>
      <p:sp>
        <p:nvSpPr>
          <p:cNvPr id="10" name="Text 8"/>
          <p:cNvSpPr txBox="1"/>
          <p:nvPr/>
        </p:nvSpPr>
        <p:spPr>
          <a:xfrm>
            <a:off x="3474720" y="3657600"/>
            <a:ext cx="2194560" cy="320040"/>
          </a:xfrm>
          <a:prstGeom prst="rect">
            <a:avLst/>
          </a:prstGeom>
          <a:noFill/>
          <a:ln/>
        </p:spPr>
        <p:txBody>
          <a:bodyPr wrap="square" lIns="0" tIns="0" rIns="0" bIns="0" rtlCol="0" anchor="ctr"/>
          <a:lstStyle/>
          <a:p>
            <a:pPr indent="0" marL="0">
              <a:buNone/>
            </a:pPr>
            <a:r>
              <a:rPr lang="en-US" sz="1100" i="1" dirty="0">
                <a:solidFill>
                  <a:schemeClr val="accent5"/>
                </a:solidFill>
              </a:rPr>
              <a:t>Mindler survey, 2019</a:t>
            </a:r>
            <a:endParaRPr lang="en-US" sz="1100" dirty="0"/>
          </a:p>
        </p:txBody>
      </p:sp>
      <p:sp>
        <p:nvSpPr>
          <p:cNvPr id="11" name="stat card 3"/>
          <p:cNvSpPr/>
          <p:nvPr/>
        </p:nvSpPr>
        <p:spPr>
          <a:xfrm>
            <a:off x="6035040" y="1188720"/>
            <a:ext cx="2606040" cy="2971800"/>
          </a:xfrm>
          <a:prstGeom prst="roundRect">
            <a:avLst>
              <a:gd name="adj" fmla="val 5263"/>
            </a:avLst>
          </a:prstGeom>
          <a:solidFill>
            <a:schemeClr val="bg2"/>
          </a:solidFill>
          <a:ln/>
        </p:spPr>
      </p:sp>
      <p:sp>
        <p:nvSpPr>
          <p:cNvPr id="12" name="Text 10"/>
          <p:cNvSpPr txBox="1"/>
          <p:nvPr/>
        </p:nvSpPr>
        <p:spPr>
          <a:xfrm>
            <a:off x="6263640" y="1417320"/>
            <a:ext cx="2240280" cy="82296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&lt; 1 in 10</a:t>
            </a:r>
            <a:endParaRPr lang="en-US" sz="3000" dirty="0"/>
          </a:p>
        </p:txBody>
      </p:sp>
      <p:sp>
        <p:nvSpPr>
          <p:cNvPr id="13" name="Text 11"/>
          <p:cNvSpPr txBox="1"/>
          <p:nvPr/>
        </p:nvSpPr>
        <p:spPr>
          <a:xfrm>
            <a:off x="6263640" y="2331720"/>
            <a:ext cx="2194560" cy="1234440"/>
          </a:xfrm>
          <a:prstGeom prst="rect">
            <a:avLst/>
          </a:prstGeom>
          <a:noFill/>
          <a:ln/>
        </p:spPr>
        <p:txBody>
          <a:bodyPr wrap="square" lIns="0" tIns="0" rIns="0" bIns="0" rtlCol="0" anchor="t"/>
          <a:lstStyle/>
          <a:p>
            <a:pPr indent="0" marL="0">
              <a:buNone/>
            </a:pPr>
            <a:r>
              <a:rPr lang="en-US" sz="1500" dirty="0">
                <a:solidFill>
                  <a:schemeClr val="tx1"/>
                </a:solidFill>
              </a:rPr>
              <a:t>low-income Class 9–12 students had ever received career guidance (9.36%)</a:t>
            </a:r>
            <a:endParaRPr lang="en-US" sz="1500" dirty="0"/>
          </a:p>
        </p:txBody>
      </p:sp>
      <p:sp>
        <p:nvSpPr>
          <p:cNvPr id="14" name="Text 12"/>
          <p:cNvSpPr txBox="1"/>
          <p:nvPr/>
        </p:nvSpPr>
        <p:spPr>
          <a:xfrm>
            <a:off x="6263640" y="3657600"/>
            <a:ext cx="2194560" cy="320040"/>
          </a:xfrm>
          <a:prstGeom prst="rect">
            <a:avLst/>
          </a:prstGeom>
          <a:noFill/>
          <a:ln/>
        </p:spPr>
        <p:txBody>
          <a:bodyPr wrap="square" lIns="0" tIns="0" rIns="0" bIns="0" rtlCol="0" anchor="ctr"/>
          <a:lstStyle/>
          <a:p>
            <a:pPr indent="0" marL="0">
              <a:buNone/>
            </a:pPr>
            <a:r>
              <a:rPr lang="en-US" sz="1100" i="1" dirty="0">
                <a:solidFill>
                  <a:schemeClr val="accent5"/>
                </a:solidFill>
              </a:rPr>
              <a:t>Bharat Career Aspiration Report 2024</a:t>
            </a:r>
            <a:endParaRPr lang="en-US" sz="1100" dirty="0"/>
          </a:p>
        </p:txBody>
      </p:sp>
      <p:sp>
        <p:nvSpPr>
          <p:cNvPr id="15" name="Text 13"/>
          <p:cNvSpPr txBox="1"/>
          <p:nvPr/>
        </p:nvSpPr>
        <p:spPr>
          <a:xfrm>
            <a:off x="457200" y="4407408"/>
            <a:ext cx="8229600" cy="329184"/>
          </a:xfrm>
          <a:prstGeom prst="rect">
            <a:avLst/>
          </a:prstGeom>
          <a:noFill/>
          <a:ln/>
        </p:spPr>
        <p:txBody>
          <a:bodyPr wrap="square" lIns="0" tIns="0" rIns="0" bIns="0" rtlCol="0" anchor="b"/>
          <a:lstStyle/>
          <a:p>
            <a:pPr indent="0" marL="0">
              <a:buNone/>
            </a:pPr>
            <a:r>
              <a:rPr lang="en-US" sz="900" dirty="0">
                <a:solidFill>
                  <a:schemeClr val="accent5"/>
                </a:solidFill>
              </a:rPr>
              <a:t>Sources: Ministry of Education, UDISE+ 2023-24 · Mindler survey of 10,000 students aged 14–21 (2019) · Bharat Career Aspiration Report 2024, UNICEF YuWaah &amp; iDreamCareer (4,968 students, 25 states)</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big decision comes at 15, mostly on advice from home</a:t>
            </a:r>
            <a:endParaRPr lang="en-US" sz="2800" dirty="0"/>
          </a:p>
        </p:txBody>
      </p:sp>
      <p:sp>
        <p:nvSpPr>
          <p:cNvPr id="3" name="Text 1"/>
          <p:cNvSpPr txBox="1"/>
          <p:nvPr/>
        </p:nvSpPr>
        <p:spPr>
          <a:xfrm>
            <a:off x="457200" y="1143000"/>
            <a:ext cx="4023360" cy="365760"/>
          </a:xfrm>
          <a:prstGeom prst="rect">
            <a:avLst/>
          </a:prstGeom>
          <a:noFill/>
          <a:ln/>
        </p:spPr>
        <p:txBody>
          <a:bodyPr wrap="square" lIns="0" tIns="0" rIns="0" bIns="0" rtlCol="0" anchor="ctr"/>
          <a:lstStyle/>
          <a:p>
            <a:pPr indent="0" marL="0">
              <a:buNone/>
            </a:pPr>
            <a:r>
              <a:rPr lang="en-US" sz="1600" b="1" dirty="0">
                <a:solidFill>
                  <a:schemeClr val="tx2"/>
                </a:solidFill>
              </a:rPr>
              <a:t>Who students say shapes their career choice</a:t>
            </a:r>
            <a:endParaRPr lang="en-US" sz="1600" dirty="0"/>
          </a:p>
        </p:txBody>
      </p:sp>
      <p:sp>
        <p:nvSpPr>
          <p:cNvPr id="4" name="influence 1 circle"/>
          <p:cNvSpPr/>
          <p:nvPr/>
        </p:nvSpPr>
        <p:spPr>
          <a:xfrm>
            <a:off x="457200" y="1691640"/>
            <a:ext cx="548640" cy="548640"/>
          </a:xfrm>
          <a:prstGeom prst="ellipse">
            <a:avLst/>
          </a:prstGeom>
          <a:solidFill>
            <a:schemeClr val="accent2"/>
          </a:solidFill>
          <a:ln/>
        </p:spPr>
      </p:sp>
      <p:pic>
        <p:nvPicPr>
          <p:cNvPr id="5" name="influence 1 icon" descr="preencoded.png">    </p:cNvPr>
          <p:cNvPicPr>
            <a:picLocks noChangeAspect="1"/>
          </p:cNvPicPr>
          <p:nvPr/>
        </p:nvPicPr>
        <p:blipFill>
          <a:blip r:embed="rId1"/>
          <a:stretch>
            <a:fillRect/>
          </a:stretch>
        </p:blipFill>
        <p:spPr>
          <a:xfrm>
            <a:off x="599846" y="1834286"/>
            <a:ext cx="263347" cy="263347"/>
          </a:xfrm>
          <a:prstGeom prst="rect">
            <a:avLst/>
          </a:prstGeom>
        </p:spPr>
      </p:pic>
      <p:sp>
        <p:nvSpPr>
          <p:cNvPr id="6" name="Text 3"/>
          <p:cNvSpPr txBox="1"/>
          <p:nvPr/>
        </p:nvSpPr>
        <p:spPr>
          <a:xfrm>
            <a:off x="1188720" y="1691640"/>
            <a:ext cx="822960" cy="548640"/>
          </a:xfrm>
          <a:prstGeom prst="rect">
            <a:avLst/>
          </a:prstGeom>
          <a:noFill/>
          <a:ln/>
        </p:spPr>
        <p:txBody>
          <a:bodyPr wrap="square" lIns="0" tIns="0" rIns="0" bIns="0" rtlCol="0" anchor="ctr"/>
          <a:lstStyle/>
          <a:p>
            <a:pPr indent="0" marL="0">
              <a:buNone/>
            </a:pPr>
            <a:r>
              <a:rPr lang="en-US" sz="2400" b="1" dirty="0">
                <a:solidFill>
                  <a:schemeClr val="accent2"/>
                </a:solidFill>
              </a:rPr>
              <a:t>30%</a:t>
            </a:r>
            <a:endParaRPr lang="en-US" sz="2400" dirty="0"/>
          </a:p>
        </p:txBody>
      </p:sp>
      <p:sp>
        <p:nvSpPr>
          <p:cNvPr id="7" name="Text 4"/>
          <p:cNvSpPr txBox="1"/>
          <p:nvPr/>
        </p:nvSpPr>
        <p:spPr>
          <a:xfrm>
            <a:off x="2011680" y="1691640"/>
            <a:ext cx="2468880" cy="548640"/>
          </a:xfrm>
          <a:prstGeom prst="rect">
            <a:avLst/>
          </a:prstGeom>
          <a:noFill/>
          <a:ln/>
        </p:spPr>
        <p:txBody>
          <a:bodyPr wrap="square" lIns="0" tIns="0" rIns="0" bIns="0" rtlCol="0" anchor="ctr"/>
          <a:lstStyle/>
          <a:p>
            <a:pPr indent="0" marL="0">
              <a:buNone/>
            </a:pPr>
            <a:r>
              <a:rPr lang="en-US" sz="1500" dirty="0">
                <a:solidFill>
                  <a:schemeClr val="tx1"/>
                </a:solidFill>
              </a:rPr>
              <a:t>Family members — the top influence</a:t>
            </a:r>
            <a:endParaRPr lang="en-US" sz="1500" dirty="0"/>
          </a:p>
        </p:txBody>
      </p:sp>
      <p:sp>
        <p:nvSpPr>
          <p:cNvPr id="8" name="influence 2 circle"/>
          <p:cNvSpPr/>
          <p:nvPr/>
        </p:nvSpPr>
        <p:spPr>
          <a:xfrm>
            <a:off x="457200" y="2468880"/>
            <a:ext cx="548640" cy="548640"/>
          </a:xfrm>
          <a:prstGeom prst="ellipse">
            <a:avLst/>
          </a:prstGeom>
          <a:solidFill>
            <a:schemeClr val="accent1"/>
          </a:solidFill>
          <a:ln/>
        </p:spPr>
      </p:sp>
      <p:pic>
        <p:nvPicPr>
          <p:cNvPr id="9" name="influence 2 icon" descr="preencoded.png">    </p:cNvPr>
          <p:cNvPicPr>
            <a:picLocks noChangeAspect="1"/>
          </p:cNvPicPr>
          <p:nvPr/>
        </p:nvPicPr>
        <p:blipFill>
          <a:blip r:embed="rId2"/>
          <a:stretch>
            <a:fillRect/>
          </a:stretch>
        </p:blipFill>
        <p:spPr>
          <a:xfrm>
            <a:off x="599846" y="2611526"/>
            <a:ext cx="263347" cy="263347"/>
          </a:xfrm>
          <a:prstGeom prst="rect">
            <a:avLst/>
          </a:prstGeom>
        </p:spPr>
      </p:pic>
      <p:sp>
        <p:nvSpPr>
          <p:cNvPr id="10" name="Text 6"/>
          <p:cNvSpPr txBox="1"/>
          <p:nvPr/>
        </p:nvSpPr>
        <p:spPr>
          <a:xfrm>
            <a:off x="1188720" y="2468880"/>
            <a:ext cx="822960" cy="548640"/>
          </a:xfrm>
          <a:prstGeom prst="rect">
            <a:avLst/>
          </a:prstGeom>
          <a:noFill/>
          <a:ln/>
        </p:spPr>
        <p:txBody>
          <a:bodyPr wrap="square" lIns="0" tIns="0" rIns="0" bIns="0" rtlCol="0" anchor="ctr"/>
          <a:lstStyle/>
          <a:p>
            <a:pPr indent="0" marL="0">
              <a:buNone/>
            </a:pPr>
            <a:r>
              <a:rPr lang="en-US" sz="2400" b="1" dirty="0">
                <a:solidFill>
                  <a:schemeClr val="accent1"/>
                </a:solidFill>
              </a:rPr>
              <a:t>13%</a:t>
            </a:r>
            <a:endParaRPr lang="en-US" sz="2400" dirty="0"/>
          </a:p>
        </p:txBody>
      </p:sp>
      <p:sp>
        <p:nvSpPr>
          <p:cNvPr id="11" name="Text 7"/>
          <p:cNvSpPr txBox="1"/>
          <p:nvPr/>
        </p:nvSpPr>
        <p:spPr>
          <a:xfrm>
            <a:off x="2011680" y="2468880"/>
            <a:ext cx="2468880" cy="548640"/>
          </a:xfrm>
          <a:prstGeom prst="rect">
            <a:avLst/>
          </a:prstGeom>
          <a:noFill/>
          <a:ln/>
        </p:spPr>
        <p:txBody>
          <a:bodyPr wrap="square" lIns="0" tIns="0" rIns="0" bIns="0" rtlCol="0" anchor="ctr"/>
          <a:lstStyle/>
          <a:p>
            <a:pPr indent="0" marL="0">
              <a:buNone/>
            </a:pPr>
            <a:r>
              <a:rPr lang="en-US" sz="1500" dirty="0">
                <a:solidFill>
                  <a:schemeClr val="tx1"/>
                </a:solidFill>
              </a:rPr>
              <a:t>School teachers</a:t>
            </a:r>
            <a:endParaRPr lang="en-US" sz="1500" dirty="0"/>
          </a:p>
        </p:txBody>
      </p:sp>
      <p:sp>
        <p:nvSpPr>
          <p:cNvPr id="12" name="influence 3 circle"/>
          <p:cNvSpPr/>
          <p:nvPr/>
        </p:nvSpPr>
        <p:spPr>
          <a:xfrm>
            <a:off x="457200" y="3246120"/>
            <a:ext cx="548640" cy="548640"/>
          </a:xfrm>
          <a:prstGeom prst="ellipse">
            <a:avLst/>
          </a:prstGeom>
          <a:solidFill>
            <a:schemeClr val="accent5"/>
          </a:solidFill>
          <a:ln/>
        </p:spPr>
      </p:sp>
      <p:pic>
        <p:nvPicPr>
          <p:cNvPr id="13" name="influence 3 icon" descr="preencoded.png">    </p:cNvPr>
          <p:cNvPicPr>
            <a:picLocks noChangeAspect="1"/>
          </p:cNvPicPr>
          <p:nvPr/>
        </p:nvPicPr>
        <p:blipFill>
          <a:blip r:embed="rId3"/>
          <a:stretch>
            <a:fillRect/>
          </a:stretch>
        </p:blipFill>
        <p:spPr>
          <a:xfrm>
            <a:off x="599846" y="3388766"/>
            <a:ext cx="263347" cy="263347"/>
          </a:xfrm>
          <a:prstGeom prst="rect">
            <a:avLst/>
          </a:prstGeom>
        </p:spPr>
      </p:pic>
      <p:sp>
        <p:nvSpPr>
          <p:cNvPr id="14" name="Text 9"/>
          <p:cNvSpPr txBox="1"/>
          <p:nvPr/>
        </p:nvSpPr>
        <p:spPr>
          <a:xfrm>
            <a:off x="1188720" y="3246120"/>
            <a:ext cx="3291840" cy="548640"/>
          </a:xfrm>
          <a:prstGeom prst="rect">
            <a:avLst/>
          </a:prstGeom>
          <a:noFill/>
          <a:ln/>
        </p:spPr>
        <p:txBody>
          <a:bodyPr wrap="square" lIns="0" tIns="0" rIns="0" bIns="0" rtlCol="0" anchor="ctr"/>
          <a:lstStyle/>
          <a:p>
            <a:pPr indent="0" marL="0">
              <a:buNone/>
            </a:pPr>
            <a:r>
              <a:rPr lang="en-US" sz="1500" dirty="0">
                <a:solidFill>
                  <a:schemeClr val="tx1"/>
                </a:solidFill>
              </a:rPr>
              <a:t>Most others: friends, marks and what relatives did</a:t>
            </a:r>
            <a:endParaRPr lang="en-US" sz="1500" dirty="0"/>
          </a:p>
        </p:txBody>
      </p:sp>
      <p:sp>
        <p:nvSpPr>
          <p:cNvPr id="15" name="gap card"/>
          <p:cNvSpPr/>
          <p:nvPr/>
        </p:nvSpPr>
        <p:spPr>
          <a:xfrm>
            <a:off x="4846320" y="1143000"/>
            <a:ext cx="3840480" cy="3063240"/>
          </a:xfrm>
          <a:prstGeom prst="roundRect">
            <a:avLst>
              <a:gd name="adj" fmla="val 4478"/>
            </a:avLst>
          </a:prstGeom>
          <a:solidFill>
            <a:schemeClr val="tx2"/>
          </a:solidFill>
          <a:ln/>
        </p:spPr>
      </p:sp>
      <p:sp>
        <p:nvSpPr>
          <p:cNvPr id="16" name="NEP circle"/>
          <p:cNvSpPr/>
          <p:nvPr/>
        </p:nvSpPr>
        <p:spPr>
          <a:xfrm>
            <a:off x="5120640" y="1371600"/>
            <a:ext cx="548640" cy="548640"/>
          </a:xfrm>
          <a:prstGeom prst="ellipse">
            <a:avLst/>
          </a:prstGeom>
          <a:solidFill>
            <a:schemeClr val="accent2"/>
          </a:solidFill>
          <a:ln/>
        </p:spPr>
      </p:sp>
      <p:pic>
        <p:nvPicPr>
          <p:cNvPr id="17" name="NEP icon" descr="preencoded.png">    </p:cNvPr>
          <p:cNvPicPr>
            <a:picLocks noChangeAspect="1"/>
          </p:cNvPicPr>
          <p:nvPr/>
        </p:nvPicPr>
        <p:blipFill>
          <a:blip r:embed="rId4"/>
          <a:stretch>
            <a:fillRect/>
          </a:stretch>
        </p:blipFill>
        <p:spPr>
          <a:xfrm>
            <a:off x="5263286" y="1514246"/>
            <a:ext cx="263347" cy="263347"/>
          </a:xfrm>
          <a:prstGeom prst="rect">
            <a:avLst/>
          </a:prstGeom>
        </p:spPr>
      </p:pic>
      <p:sp>
        <p:nvSpPr>
          <p:cNvPr id="18" name="Text 12"/>
          <p:cNvSpPr txBox="1"/>
          <p:nvPr/>
        </p:nvSpPr>
        <p:spPr>
          <a:xfrm>
            <a:off x="5120640" y="2011680"/>
            <a:ext cx="3337560" cy="777240"/>
          </a:xfrm>
          <a:prstGeom prst="rect">
            <a:avLst/>
          </a:prstGeom>
          <a:noFill/>
          <a:ln/>
        </p:spPr>
        <p:txBody>
          <a:bodyPr wrap="square" lIns="0" tIns="0" rIns="0" bIns="0" rtlCol="0" anchor="t"/>
          <a:lstStyle/>
          <a:p>
            <a:pPr indent="0" marL="0">
              <a:buNone/>
            </a:pPr>
            <a:r>
              <a:rPr lang="en-US" sz="1600" b="1" dirty="0">
                <a:solidFill>
                  <a:schemeClr val="bg1"/>
                </a:solidFill>
              </a:rPr>
              <a:t>NEP 2020 replaced marks-only report cards with the Holistic Progress Card</a:t>
            </a:r>
            <a:endParaRPr lang="en-US" sz="1600" dirty="0"/>
          </a:p>
        </p:txBody>
      </p:sp>
      <p:sp>
        <p:nvSpPr>
          <p:cNvPr id="19" name="Text 13"/>
          <p:cNvSpPr txBox="1"/>
          <p:nvPr/>
        </p:nvSpPr>
        <p:spPr>
          <a:xfrm>
            <a:off x="5120640" y="2834640"/>
            <a:ext cx="3337560" cy="1188720"/>
          </a:xfrm>
          <a:prstGeom prst="rect">
            <a:avLst/>
          </a:prstGeom>
          <a:noFill/>
          <a:ln/>
        </p:spPr>
        <p:txBody>
          <a:bodyPr wrap="square" lIns="0" tIns="0" rIns="0" bIns="0" rtlCol="0" anchor="t"/>
          <a:lstStyle/>
          <a:p>
            <a:pPr indent="0" marL="0">
              <a:buNone/>
            </a:pPr>
            <a:r>
              <a:rPr lang="en-US" sz="1400" dirty="0">
                <a:solidFill>
                  <a:schemeClr val="accent6"/>
                </a:solidFill>
              </a:rPr>
              <a:t>PARAKH sent the HPC to every state in 2023. It describes the whole child — but it stops short of the question every Class 10 student faces: what next?</a:t>
            </a:r>
            <a:endParaRPr lang="en-US" sz="1400" dirty="0"/>
          </a:p>
        </p:txBody>
      </p:sp>
      <p:sp>
        <p:nvSpPr>
          <p:cNvPr id="20" name="Text 14"/>
          <p:cNvSpPr txBox="1"/>
          <p:nvPr/>
        </p:nvSpPr>
        <p:spPr>
          <a:xfrm>
            <a:off x="457200" y="4407408"/>
            <a:ext cx="8229600" cy="329184"/>
          </a:xfrm>
          <a:prstGeom prst="rect">
            <a:avLst/>
          </a:prstGeom>
          <a:noFill/>
          <a:ln/>
        </p:spPr>
        <p:txBody>
          <a:bodyPr wrap="square" lIns="0" tIns="0" rIns="0" bIns="0" rtlCol="0" anchor="b"/>
          <a:lstStyle/>
          <a:p>
            <a:pPr indent="0" marL="0">
              <a:buNone/>
            </a:pPr>
            <a:r>
              <a:rPr lang="en-US" sz="900" dirty="0">
                <a:solidFill>
                  <a:schemeClr val="accent5"/>
                </a:solidFill>
              </a:rPr>
              <a:t>Sources: Bharat Career Aspiration Report 2024 (UNICEF YuWaah &amp; iDreamCareer) · NCERT PARAKH Holistic Progress Card, shared with states and UTs in September 2023</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HPC Career: the progress card that helps students choose what’s next</a:t>
            </a:r>
            <a:endParaRPr lang="en-US" sz="2800" dirty="0"/>
          </a:p>
        </p:txBody>
      </p:sp>
      <p:sp>
        <p:nvSpPr>
          <p:cNvPr id="3" name="Career tab screen frame"/>
          <p:cNvSpPr/>
          <p:nvPr/>
        </p:nvSpPr>
        <p:spPr>
          <a:xfrm>
            <a:off x="512064" y="1060704"/>
            <a:ext cx="1699185" cy="3593592"/>
          </a:xfrm>
          <a:prstGeom prst="roundRect">
            <a:avLst>
              <a:gd name="adj" fmla="val 8610"/>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4" name="Career tab screen" descr="Career tab screen">    </p:cNvPr>
          <p:cNvPicPr>
            <a:picLocks noChangeAspect="1"/>
          </p:cNvPicPr>
          <p:nvPr/>
        </p:nvPicPr>
        <p:blipFill>
          <a:blip r:embed="rId1"/>
          <a:stretch>
            <a:fillRect/>
          </a:stretch>
        </p:blipFill>
        <p:spPr>
          <a:xfrm>
            <a:off x="548640" y="1097280"/>
            <a:ext cx="1626033" cy="3520440"/>
          </a:xfrm>
          <a:prstGeom prst="rect">
            <a:avLst/>
          </a:prstGeom>
        </p:spPr>
      </p:pic>
      <p:sp>
        <p:nvSpPr>
          <p:cNvPr id="5" name="feature card 1"/>
          <p:cNvSpPr/>
          <p:nvPr/>
        </p:nvSpPr>
        <p:spPr>
          <a:xfrm>
            <a:off x="2697480" y="1097280"/>
            <a:ext cx="2834640" cy="1417320"/>
          </a:xfrm>
          <a:prstGeom prst="roundRect">
            <a:avLst>
              <a:gd name="adj" fmla="val 7742"/>
            </a:avLst>
          </a:prstGeom>
          <a:solidFill>
            <a:schemeClr val="bg2"/>
          </a:solidFill>
          <a:ln/>
        </p:spPr>
      </p:sp>
      <p:sp>
        <p:nvSpPr>
          <p:cNvPr id="6" name="feature 1 circle"/>
          <p:cNvSpPr/>
          <p:nvPr/>
        </p:nvSpPr>
        <p:spPr>
          <a:xfrm>
            <a:off x="2880360" y="1280160"/>
            <a:ext cx="457200" cy="457200"/>
          </a:xfrm>
          <a:prstGeom prst="ellipse">
            <a:avLst/>
          </a:prstGeom>
          <a:solidFill>
            <a:schemeClr val="accent1"/>
          </a:solidFill>
          <a:ln/>
        </p:spPr>
      </p:sp>
      <p:pic>
        <p:nvPicPr>
          <p:cNvPr id="7" name="feature 1 icon" descr="preencoded.png">    </p:cNvPr>
          <p:cNvPicPr>
            <a:picLocks noChangeAspect="1"/>
          </p:cNvPicPr>
          <p:nvPr/>
        </p:nvPicPr>
        <p:blipFill>
          <a:blip r:embed="rId2"/>
          <a:stretch>
            <a:fillRect/>
          </a:stretch>
        </p:blipFill>
        <p:spPr>
          <a:xfrm>
            <a:off x="2999232" y="1399032"/>
            <a:ext cx="219456" cy="219456"/>
          </a:xfrm>
          <a:prstGeom prst="rect">
            <a:avLst/>
          </a:prstGeom>
        </p:spPr>
      </p:pic>
      <p:sp>
        <p:nvSpPr>
          <p:cNvPr id="8" name="Text 4"/>
          <p:cNvSpPr txBox="1"/>
          <p:nvPr/>
        </p:nvSpPr>
        <p:spPr>
          <a:xfrm>
            <a:off x="3474720" y="1280160"/>
            <a:ext cx="1920240" cy="457200"/>
          </a:xfrm>
          <a:prstGeom prst="rect">
            <a:avLst/>
          </a:prstGeom>
          <a:noFill/>
          <a:ln/>
        </p:spPr>
        <p:txBody>
          <a:bodyPr wrap="square" lIns="0" tIns="0" rIns="0" bIns="0" rtlCol="0" anchor="ctr"/>
          <a:lstStyle/>
          <a:p>
            <a:pPr indent="0" marL="0">
              <a:buNone/>
            </a:pPr>
            <a:r>
              <a:rPr lang="en-US" sz="1600" b="1" dirty="0">
                <a:solidFill>
                  <a:schemeClr val="tx2"/>
                </a:solidFill>
              </a:rPr>
              <a:t>Career test</a:t>
            </a:r>
            <a:endParaRPr lang="en-US" sz="1600" dirty="0"/>
          </a:p>
        </p:txBody>
      </p:sp>
      <p:sp>
        <p:nvSpPr>
          <p:cNvPr id="9" name="Text 5"/>
          <p:cNvSpPr txBox="1"/>
          <p:nvPr/>
        </p:nvSpPr>
        <p:spPr>
          <a:xfrm>
            <a:off x="2880360" y="1810512"/>
            <a:ext cx="2514600" cy="640080"/>
          </a:xfrm>
          <a:prstGeom prst="rect">
            <a:avLst/>
          </a:prstGeom>
          <a:noFill/>
          <a:ln/>
        </p:spPr>
        <p:txBody>
          <a:bodyPr wrap="square" lIns="0" tIns="0" rIns="0" bIns="0" rtlCol="0" anchor="t"/>
          <a:lstStyle/>
          <a:p>
            <a:pPr indent="0" marL="0">
              <a:buNone/>
            </a:pPr>
            <a:r>
              <a:rPr lang="en-US" sz="1300" dirty="0">
                <a:solidFill>
                  <a:schemeClr val="tx1"/>
                </a:solidFill>
              </a:rPr>
              <a:t>56 quick questions on interests and personality, about 10 minutes, one per screen.</a:t>
            </a:r>
            <a:endParaRPr lang="en-US" sz="1300" dirty="0"/>
          </a:p>
        </p:txBody>
      </p:sp>
      <p:sp>
        <p:nvSpPr>
          <p:cNvPr id="10" name="feature card 2"/>
          <p:cNvSpPr/>
          <p:nvPr/>
        </p:nvSpPr>
        <p:spPr>
          <a:xfrm>
            <a:off x="5715000" y="1097280"/>
            <a:ext cx="2834640" cy="1417320"/>
          </a:xfrm>
          <a:prstGeom prst="roundRect">
            <a:avLst>
              <a:gd name="adj" fmla="val 7742"/>
            </a:avLst>
          </a:prstGeom>
          <a:solidFill>
            <a:schemeClr val="bg2"/>
          </a:solidFill>
          <a:ln/>
        </p:spPr>
      </p:sp>
      <p:sp>
        <p:nvSpPr>
          <p:cNvPr id="11" name="feature 2 circle"/>
          <p:cNvSpPr/>
          <p:nvPr/>
        </p:nvSpPr>
        <p:spPr>
          <a:xfrm>
            <a:off x="5897880" y="1280160"/>
            <a:ext cx="457200" cy="457200"/>
          </a:xfrm>
          <a:prstGeom prst="ellipse">
            <a:avLst/>
          </a:prstGeom>
          <a:solidFill>
            <a:schemeClr val="accent2"/>
          </a:solidFill>
          <a:ln/>
        </p:spPr>
      </p:sp>
      <p:pic>
        <p:nvPicPr>
          <p:cNvPr id="12" name="feature 2 icon" descr="preencoded.png">    </p:cNvPr>
          <p:cNvPicPr>
            <a:picLocks noChangeAspect="1"/>
          </p:cNvPicPr>
          <p:nvPr/>
        </p:nvPicPr>
        <p:blipFill>
          <a:blip r:embed="rId3"/>
          <a:stretch>
            <a:fillRect/>
          </a:stretch>
        </p:blipFill>
        <p:spPr>
          <a:xfrm>
            <a:off x="6016752" y="1399032"/>
            <a:ext cx="219456" cy="219456"/>
          </a:xfrm>
          <a:prstGeom prst="rect">
            <a:avLst/>
          </a:prstGeom>
        </p:spPr>
      </p:pic>
      <p:sp>
        <p:nvSpPr>
          <p:cNvPr id="13" name="Text 8"/>
          <p:cNvSpPr txBox="1"/>
          <p:nvPr/>
        </p:nvSpPr>
        <p:spPr>
          <a:xfrm>
            <a:off x="6492240" y="1280160"/>
            <a:ext cx="1920240" cy="457200"/>
          </a:xfrm>
          <a:prstGeom prst="rect">
            <a:avLst/>
          </a:prstGeom>
          <a:noFill/>
          <a:ln/>
        </p:spPr>
        <p:txBody>
          <a:bodyPr wrap="square" lIns="0" tIns="0" rIns="0" bIns="0" rtlCol="0" anchor="ctr"/>
          <a:lstStyle/>
          <a:p>
            <a:pPr indent="0" marL="0">
              <a:buNone/>
            </a:pPr>
            <a:r>
              <a:rPr lang="en-US" sz="1600" b="1" dirty="0">
                <a:solidFill>
                  <a:schemeClr val="tx2"/>
                </a:solidFill>
              </a:rPr>
              <a:t>A report they can read</a:t>
            </a:r>
            <a:endParaRPr lang="en-US" sz="1600" dirty="0"/>
          </a:p>
        </p:txBody>
      </p:sp>
      <p:sp>
        <p:nvSpPr>
          <p:cNvPr id="14" name="Text 9"/>
          <p:cNvSpPr txBox="1"/>
          <p:nvPr/>
        </p:nvSpPr>
        <p:spPr>
          <a:xfrm>
            <a:off x="5897880" y="1810512"/>
            <a:ext cx="2514600" cy="640080"/>
          </a:xfrm>
          <a:prstGeom prst="rect">
            <a:avLst/>
          </a:prstGeom>
          <a:noFill/>
          <a:ln/>
        </p:spPr>
        <p:txBody>
          <a:bodyPr wrap="square" lIns="0" tIns="0" rIns="0" bIns="0" rtlCol="0" anchor="t"/>
          <a:lstStyle/>
          <a:p>
            <a:pPr indent="0" marL="0">
              <a:buNone/>
            </a:pPr>
            <a:r>
              <a:rPr lang="en-US" sz="1300" dirty="0">
                <a:solidFill>
                  <a:schemeClr val="tx1"/>
                </a:solidFill>
              </a:rPr>
              <a:t>An interest code, strengths, six careers that fit and the next steps.</a:t>
            </a:r>
            <a:endParaRPr lang="en-US" sz="1300" dirty="0"/>
          </a:p>
        </p:txBody>
      </p:sp>
      <p:sp>
        <p:nvSpPr>
          <p:cNvPr id="15" name="feature card 3"/>
          <p:cNvSpPr/>
          <p:nvPr/>
        </p:nvSpPr>
        <p:spPr>
          <a:xfrm>
            <a:off x="2697480" y="2697480"/>
            <a:ext cx="2834640" cy="1417320"/>
          </a:xfrm>
          <a:prstGeom prst="roundRect">
            <a:avLst>
              <a:gd name="adj" fmla="val 7742"/>
            </a:avLst>
          </a:prstGeom>
          <a:solidFill>
            <a:schemeClr val="bg2"/>
          </a:solidFill>
          <a:ln/>
        </p:spPr>
      </p:sp>
      <p:sp>
        <p:nvSpPr>
          <p:cNvPr id="16" name="feature 3 circle"/>
          <p:cNvSpPr/>
          <p:nvPr/>
        </p:nvSpPr>
        <p:spPr>
          <a:xfrm>
            <a:off x="2880360" y="2880360"/>
            <a:ext cx="457200" cy="457200"/>
          </a:xfrm>
          <a:prstGeom prst="ellipse">
            <a:avLst/>
          </a:prstGeom>
          <a:solidFill>
            <a:schemeClr val="accent3"/>
          </a:solidFill>
          <a:ln/>
        </p:spPr>
      </p:sp>
      <p:pic>
        <p:nvPicPr>
          <p:cNvPr id="17" name="feature 3 icon" descr="preencoded.png">    </p:cNvPr>
          <p:cNvPicPr>
            <a:picLocks noChangeAspect="1"/>
          </p:cNvPicPr>
          <p:nvPr/>
        </p:nvPicPr>
        <p:blipFill>
          <a:blip r:embed="rId4"/>
          <a:stretch>
            <a:fillRect/>
          </a:stretch>
        </p:blipFill>
        <p:spPr>
          <a:xfrm>
            <a:off x="2999232" y="2999232"/>
            <a:ext cx="219456" cy="219456"/>
          </a:xfrm>
          <a:prstGeom prst="rect">
            <a:avLst/>
          </a:prstGeom>
        </p:spPr>
      </p:pic>
      <p:sp>
        <p:nvSpPr>
          <p:cNvPr id="18" name="Text 12"/>
          <p:cNvSpPr txBox="1"/>
          <p:nvPr/>
        </p:nvSpPr>
        <p:spPr>
          <a:xfrm>
            <a:off x="3474720" y="2880360"/>
            <a:ext cx="1920240" cy="457200"/>
          </a:xfrm>
          <a:prstGeom prst="rect">
            <a:avLst/>
          </a:prstGeom>
          <a:noFill/>
          <a:ln/>
        </p:spPr>
        <p:txBody>
          <a:bodyPr wrap="square" lIns="0" tIns="0" rIns="0" bIns="0" rtlCol="0" anchor="ctr"/>
          <a:lstStyle/>
          <a:p>
            <a:pPr indent="0" marL="0">
              <a:buNone/>
            </a:pPr>
            <a:r>
              <a:rPr lang="en-US" sz="1600" b="1" dirty="0">
                <a:solidFill>
                  <a:schemeClr val="tx2"/>
                </a:solidFill>
              </a:rPr>
              <a:t>Explore careers</a:t>
            </a:r>
            <a:endParaRPr lang="en-US" sz="1600" dirty="0"/>
          </a:p>
        </p:txBody>
      </p:sp>
      <p:sp>
        <p:nvSpPr>
          <p:cNvPr id="19" name="Text 13"/>
          <p:cNvSpPr txBox="1"/>
          <p:nvPr/>
        </p:nvSpPr>
        <p:spPr>
          <a:xfrm>
            <a:off x="2880360" y="3410712"/>
            <a:ext cx="2514600" cy="640080"/>
          </a:xfrm>
          <a:prstGeom prst="rect">
            <a:avLst/>
          </a:prstGeom>
          <a:noFill/>
          <a:ln/>
        </p:spPr>
        <p:txBody>
          <a:bodyPr wrap="square" lIns="0" tIns="0" rIns="0" bIns="0" rtlCol="0" anchor="t"/>
          <a:lstStyle/>
          <a:p>
            <a:pPr indent="0" marL="0">
              <a:buNone/>
            </a:pPr>
            <a:r>
              <a:rPr lang="en-US" sz="1300" dirty="0">
                <a:solidFill>
                  <a:schemeClr val="tx1"/>
                </a:solidFill>
              </a:rPr>
              <a:t>36 careers with the route to each from Class 10 in India.</a:t>
            </a:r>
            <a:endParaRPr lang="en-US" sz="1300" dirty="0"/>
          </a:p>
        </p:txBody>
      </p:sp>
      <p:sp>
        <p:nvSpPr>
          <p:cNvPr id="20" name="feature card 4"/>
          <p:cNvSpPr/>
          <p:nvPr/>
        </p:nvSpPr>
        <p:spPr>
          <a:xfrm>
            <a:off x="5715000" y="2697480"/>
            <a:ext cx="2834640" cy="1417320"/>
          </a:xfrm>
          <a:prstGeom prst="roundRect">
            <a:avLst>
              <a:gd name="adj" fmla="val 7742"/>
            </a:avLst>
          </a:prstGeom>
          <a:solidFill>
            <a:schemeClr val="bg2"/>
          </a:solidFill>
          <a:ln/>
        </p:spPr>
      </p:sp>
      <p:sp>
        <p:nvSpPr>
          <p:cNvPr id="21" name="feature 4 circle"/>
          <p:cNvSpPr/>
          <p:nvPr/>
        </p:nvSpPr>
        <p:spPr>
          <a:xfrm>
            <a:off x="5897880" y="2880360"/>
            <a:ext cx="457200" cy="457200"/>
          </a:xfrm>
          <a:prstGeom prst="ellipse">
            <a:avLst/>
          </a:prstGeom>
          <a:solidFill>
            <a:schemeClr val="tx2"/>
          </a:solidFill>
          <a:ln/>
        </p:spPr>
      </p:sp>
      <p:pic>
        <p:nvPicPr>
          <p:cNvPr id="22" name="feature 4 icon" descr="preencoded.png">    </p:cNvPr>
          <p:cNvPicPr>
            <a:picLocks noChangeAspect="1"/>
          </p:cNvPicPr>
          <p:nvPr/>
        </p:nvPicPr>
        <p:blipFill>
          <a:blip r:embed="rId5"/>
          <a:stretch>
            <a:fillRect/>
          </a:stretch>
        </p:blipFill>
        <p:spPr>
          <a:xfrm>
            <a:off x="6016752" y="2999232"/>
            <a:ext cx="219456" cy="219456"/>
          </a:xfrm>
          <a:prstGeom prst="rect">
            <a:avLst/>
          </a:prstGeom>
        </p:spPr>
      </p:pic>
      <p:sp>
        <p:nvSpPr>
          <p:cNvPr id="23" name="Text 16"/>
          <p:cNvSpPr txBox="1"/>
          <p:nvPr/>
        </p:nvSpPr>
        <p:spPr>
          <a:xfrm>
            <a:off x="6492240" y="2880360"/>
            <a:ext cx="1920240" cy="457200"/>
          </a:xfrm>
          <a:prstGeom prst="rect">
            <a:avLst/>
          </a:prstGeom>
          <a:noFill/>
          <a:ln/>
        </p:spPr>
        <p:txBody>
          <a:bodyPr wrap="square" lIns="0" tIns="0" rIns="0" bIns="0" rtlCol="0" anchor="ctr"/>
          <a:lstStyle/>
          <a:p>
            <a:pPr indent="0" marL="0">
              <a:buNone/>
            </a:pPr>
            <a:r>
              <a:rPr lang="en-US" sz="1600" b="1" dirty="0">
                <a:solidFill>
                  <a:schemeClr val="tx2"/>
                </a:solidFill>
              </a:rPr>
              <a:t>Ask the counsellor</a:t>
            </a:r>
            <a:endParaRPr lang="en-US" sz="1600" dirty="0"/>
          </a:p>
        </p:txBody>
      </p:sp>
      <p:sp>
        <p:nvSpPr>
          <p:cNvPr id="24" name="Text 17"/>
          <p:cNvSpPr txBox="1"/>
          <p:nvPr/>
        </p:nvSpPr>
        <p:spPr>
          <a:xfrm>
            <a:off x="5897880" y="3410712"/>
            <a:ext cx="2514600" cy="640080"/>
          </a:xfrm>
          <a:prstGeom prst="rect">
            <a:avLst/>
          </a:prstGeom>
          <a:noFill/>
          <a:ln/>
        </p:spPr>
        <p:txBody>
          <a:bodyPr wrap="square" lIns="0" tIns="0" rIns="0" bIns="0" rtlCol="0" anchor="t"/>
          <a:lstStyle/>
          <a:p>
            <a:pPr indent="0" marL="0">
              <a:buNone/>
            </a:pPr>
            <a:r>
              <a:rPr lang="en-US" sz="1300" dirty="0">
                <a:solidFill>
                  <a:schemeClr val="tx1"/>
                </a:solidFill>
              </a:rPr>
              <a:t>A chat for questions about streams, subjects and exams.</a:t>
            </a:r>
            <a:endParaRPr lang="en-US" sz="1300" dirty="0"/>
          </a:p>
        </p:txBody>
      </p:sp>
      <p:sp>
        <p:nvSpPr>
          <p:cNvPr id="25" name="Text 18"/>
          <p:cNvSpPr txBox="1"/>
          <p:nvPr/>
        </p:nvSpPr>
        <p:spPr>
          <a:xfrm>
            <a:off x="2697480" y="4279392"/>
            <a:ext cx="5852160" cy="320040"/>
          </a:xfrm>
          <a:prstGeom prst="rect">
            <a:avLst/>
          </a:prstGeom>
          <a:noFill/>
          <a:ln/>
        </p:spPr>
        <p:txBody>
          <a:bodyPr wrap="square" lIns="0" tIns="0" rIns="0" bIns="0" rtlCol="0" anchor="ctr"/>
          <a:lstStyle/>
          <a:p>
            <a:pPr indent="0" marL="0">
              <a:buNone/>
            </a:pPr>
            <a:r>
              <a:rPr lang="en-US" sz="1400" b="1" dirty="0">
                <a:solidFill>
                  <a:schemeClr val="tx2"/>
                </a:solidFill>
              </a:rPr>
              <a:t>Plus a class view for teachers </a:t>
            </a:r>
            <a:pPr indent="0" marL="0">
              <a:buNone/>
            </a:pPr>
            <a:r>
              <a:rPr lang="en-US" sz="1400" dirty="0">
                <a:solidFill>
                  <a:schemeClr val="tx1"/>
                </a:solidFill>
              </a:rPr>
              <a:t>— who has finished, and where the class’s interests lie.</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HPC becomes every student’s career passbook</a:t>
            </a:r>
            <a:endParaRPr lang="en-US" sz="2800" dirty="0"/>
          </a:p>
        </p:txBody>
      </p:sp>
      <p:sp>
        <p:nvSpPr>
          <p:cNvPr id="3" name="Text 1"/>
          <p:cNvSpPr txBox="1"/>
          <p:nvPr/>
        </p:nvSpPr>
        <p:spPr>
          <a:xfrm>
            <a:off x="457200" y="1097280"/>
            <a:ext cx="5120640" cy="731520"/>
          </a:xfrm>
          <a:prstGeom prst="rect">
            <a:avLst/>
          </a:prstGeom>
          <a:noFill/>
          <a:ln/>
        </p:spPr>
        <p:txBody>
          <a:bodyPr wrap="square" lIns="0" tIns="0" rIns="0" bIns="0" rtlCol="0" anchor="t"/>
          <a:lstStyle/>
          <a:p>
            <a:pPr indent="0" marL="0">
              <a:buNone/>
            </a:pPr>
            <a:r>
              <a:rPr lang="en-US" sz="1700" b="1" dirty="0">
                <a:solidFill>
                  <a:schemeClr val="tx2"/>
                </a:solidFill>
              </a:rPr>
              <a:t>Just as a bank passbook records every deposit, HPC Career records every step of a student’s career journey — from Class 9 to Class 12.</a:t>
            </a:r>
            <a:endParaRPr lang="en-US" sz="1700" dirty="0"/>
          </a:p>
        </p:txBody>
      </p:sp>
      <p:sp>
        <p:nvSpPr>
          <p:cNvPr id="4" name="passbook point 1 circle"/>
          <p:cNvSpPr/>
          <p:nvPr/>
        </p:nvSpPr>
        <p:spPr>
          <a:xfrm>
            <a:off x="457200" y="2103120"/>
            <a:ext cx="502920" cy="502920"/>
          </a:xfrm>
          <a:prstGeom prst="ellipse">
            <a:avLst/>
          </a:prstGeom>
          <a:solidFill>
            <a:schemeClr val="accent1"/>
          </a:solidFill>
          <a:ln/>
        </p:spPr>
      </p:sp>
      <p:pic>
        <p:nvPicPr>
          <p:cNvPr id="5" name="passbook point 1 icon" descr="preencoded.png">    </p:cNvPr>
          <p:cNvPicPr>
            <a:picLocks noChangeAspect="1"/>
          </p:cNvPicPr>
          <p:nvPr/>
        </p:nvPicPr>
        <p:blipFill>
          <a:blip r:embed="rId1"/>
          <a:stretch>
            <a:fillRect/>
          </a:stretch>
        </p:blipFill>
        <p:spPr>
          <a:xfrm>
            <a:off x="587959" y="2233879"/>
            <a:ext cx="241402" cy="241402"/>
          </a:xfrm>
          <a:prstGeom prst="rect">
            <a:avLst/>
          </a:prstGeom>
        </p:spPr>
      </p:pic>
      <p:sp>
        <p:nvSpPr>
          <p:cNvPr id="6" name="Text 3"/>
          <p:cNvSpPr txBox="1"/>
          <p:nvPr/>
        </p:nvSpPr>
        <p:spPr>
          <a:xfrm>
            <a:off x="1143000" y="2066544"/>
            <a:ext cx="4389120" cy="292608"/>
          </a:xfrm>
          <a:prstGeom prst="rect">
            <a:avLst/>
          </a:prstGeom>
          <a:noFill/>
          <a:ln/>
        </p:spPr>
        <p:txBody>
          <a:bodyPr wrap="square" lIns="0" tIns="0" rIns="0" bIns="0" rtlCol="0" anchor="ctr"/>
          <a:lstStyle/>
          <a:p>
            <a:pPr indent="0" marL="0">
              <a:buNone/>
            </a:pPr>
            <a:r>
              <a:rPr lang="en-US" sz="1600" b="1" dirty="0">
                <a:solidFill>
                  <a:schemeClr val="tx2"/>
                </a:solidFill>
              </a:rPr>
              <a:t>Every test, year after year</a:t>
            </a:r>
            <a:endParaRPr lang="en-US" sz="1600" dirty="0"/>
          </a:p>
        </p:txBody>
      </p:sp>
      <p:sp>
        <p:nvSpPr>
          <p:cNvPr id="7" name="Text 4"/>
          <p:cNvSpPr txBox="1"/>
          <p:nvPr/>
        </p:nvSpPr>
        <p:spPr>
          <a:xfrm>
            <a:off x="1143000" y="2359152"/>
            <a:ext cx="4389120" cy="292608"/>
          </a:xfrm>
          <a:prstGeom prst="rect">
            <a:avLst/>
          </a:prstGeom>
          <a:noFill/>
          <a:ln/>
        </p:spPr>
        <p:txBody>
          <a:bodyPr wrap="square" lIns="0" tIns="0" rIns="0" bIns="0" rtlCol="0" anchor="ctr"/>
          <a:lstStyle/>
          <a:p>
            <a:pPr indent="0" marL="0">
              <a:buNone/>
            </a:pPr>
            <a:r>
              <a:rPr lang="en-US" sz="1300" dirty="0">
                <a:solidFill>
                  <a:schemeClr val="tx1"/>
                </a:solidFill>
              </a:rPr>
              <a:t>Watch interests grow and change from Class 9 to 12.</a:t>
            </a:r>
            <a:endParaRPr lang="en-US" sz="1300" dirty="0"/>
          </a:p>
        </p:txBody>
      </p:sp>
      <p:sp>
        <p:nvSpPr>
          <p:cNvPr id="8" name="passbook point 2 circle"/>
          <p:cNvSpPr/>
          <p:nvPr/>
        </p:nvSpPr>
        <p:spPr>
          <a:xfrm>
            <a:off x="457200" y="2779776"/>
            <a:ext cx="502920" cy="502920"/>
          </a:xfrm>
          <a:prstGeom prst="ellipse">
            <a:avLst/>
          </a:prstGeom>
          <a:solidFill>
            <a:schemeClr val="accent3"/>
          </a:solidFill>
          <a:ln/>
        </p:spPr>
      </p:sp>
      <p:pic>
        <p:nvPicPr>
          <p:cNvPr id="9" name="passbook point 2 icon" descr="preencoded.png">    </p:cNvPr>
          <p:cNvPicPr>
            <a:picLocks noChangeAspect="1"/>
          </p:cNvPicPr>
          <p:nvPr/>
        </p:nvPicPr>
        <p:blipFill>
          <a:blip r:embed="rId2"/>
          <a:stretch>
            <a:fillRect/>
          </a:stretch>
        </p:blipFill>
        <p:spPr>
          <a:xfrm>
            <a:off x="587959" y="2910535"/>
            <a:ext cx="241402" cy="241402"/>
          </a:xfrm>
          <a:prstGeom prst="rect">
            <a:avLst/>
          </a:prstGeom>
        </p:spPr>
      </p:pic>
      <p:sp>
        <p:nvSpPr>
          <p:cNvPr id="10" name="Text 6"/>
          <p:cNvSpPr txBox="1"/>
          <p:nvPr/>
        </p:nvSpPr>
        <p:spPr>
          <a:xfrm>
            <a:off x="1143000" y="2743200"/>
            <a:ext cx="4389120" cy="292608"/>
          </a:xfrm>
          <a:prstGeom prst="rect">
            <a:avLst/>
          </a:prstGeom>
          <a:noFill/>
          <a:ln/>
        </p:spPr>
        <p:txBody>
          <a:bodyPr wrap="square" lIns="0" tIns="0" rIns="0" bIns="0" rtlCol="0" anchor="ctr"/>
          <a:lstStyle/>
          <a:p>
            <a:pPr indent="0" marL="0">
              <a:buNone/>
            </a:pPr>
            <a:r>
              <a:rPr lang="en-US" sz="1600" b="1" dirty="0">
                <a:solidFill>
                  <a:schemeClr val="tx2"/>
                </a:solidFill>
              </a:rPr>
              <a:t>Every plan they make</a:t>
            </a:r>
            <a:endParaRPr lang="en-US" sz="1600" dirty="0"/>
          </a:p>
        </p:txBody>
      </p:sp>
      <p:sp>
        <p:nvSpPr>
          <p:cNvPr id="11" name="Text 7"/>
          <p:cNvSpPr txBox="1"/>
          <p:nvPr/>
        </p:nvSpPr>
        <p:spPr>
          <a:xfrm>
            <a:off x="1143000" y="3035808"/>
            <a:ext cx="4389120" cy="292608"/>
          </a:xfrm>
          <a:prstGeom prst="rect">
            <a:avLst/>
          </a:prstGeom>
          <a:noFill/>
          <a:ln/>
        </p:spPr>
        <p:txBody>
          <a:bodyPr wrap="square" lIns="0" tIns="0" rIns="0" bIns="0" rtlCol="0" anchor="ctr"/>
          <a:lstStyle/>
          <a:p>
            <a:pPr indent="0" marL="0">
              <a:buNone/>
            </a:pPr>
            <a:r>
              <a:rPr lang="en-US" sz="1300" dirty="0">
                <a:solidFill>
                  <a:schemeClr val="tx1"/>
                </a:solidFill>
              </a:rPr>
              <a:t>Goals and next steps, saved and seen by their teacher.</a:t>
            </a:r>
            <a:endParaRPr lang="en-US" sz="1300" dirty="0"/>
          </a:p>
        </p:txBody>
      </p:sp>
      <p:sp>
        <p:nvSpPr>
          <p:cNvPr id="12" name="passbook point 3 circle"/>
          <p:cNvSpPr/>
          <p:nvPr/>
        </p:nvSpPr>
        <p:spPr>
          <a:xfrm>
            <a:off x="457200" y="3456432"/>
            <a:ext cx="502920" cy="502920"/>
          </a:xfrm>
          <a:prstGeom prst="ellipse">
            <a:avLst/>
          </a:prstGeom>
          <a:solidFill>
            <a:schemeClr val="accent2"/>
          </a:solidFill>
          <a:ln/>
        </p:spPr>
      </p:sp>
      <p:pic>
        <p:nvPicPr>
          <p:cNvPr id="13" name="passbook point 3 icon" descr="preencoded.png">    </p:cNvPr>
          <p:cNvPicPr>
            <a:picLocks noChangeAspect="1"/>
          </p:cNvPicPr>
          <p:nvPr/>
        </p:nvPicPr>
        <p:blipFill>
          <a:blip r:embed="rId3"/>
          <a:stretch>
            <a:fillRect/>
          </a:stretch>
        </p:blipFill>
        <p:spPr>
          <a:xfrm>
            <a:off x="587959" y="3587191"/>
            <a:ext cx="241402" cy="241402"/>
          </a:xfrm>
          <a:prstGeom prst="rect">
            <a:avLst/>
          </a:prstGeom>
        </p:spPr>
      </p:pic>
      <p:sp>
        <p:nvSpPr>
          <p:cNvPr id="14" name="Text 9"/>
          <p:cNvSpPr txBox="1"/>
          <p:nvPr/>
        </p:nvSpPr>
        <p:spPr>
          <a:xfrm>
            <a:off x="1143000" y="3419856"/>
            <a:ext cx="4389120" cy="292608"/>
          </a:xfrm>
          <a:prstGeom prst="rect">
            <a:avLst/>
          </a:prstGeom>
          <a:noFill/>
          <a:ln/>
        </p:spPr>
        <p:txBody>
          <a:bodyPr wrap="square" lIns="0" tIns="0" rIns="0" bIns="0" rtlCol="0" anchor="ctr"/>
          <a:lstStyle/>
          <a:p>
            <a:pPr indent="0" marL="0">
              <a:buNone/>
            </a:pPr>
            <a:r>
              <a:rPr lang="en-US" sz="1600" b="1" dirty="0">
                <a:solidFill>
                  <a:schemeClr val="tx2"/>
                </a:solidFill>
              </a:rPr>
              <a:t>Their own reflections</a:t>
            </a:r>
            <a:endParaRPr lang="en-US" sz="1600" dirty="0"/>
          </a:p>
        </p:txBody>
      </p:sp>
      <p:sp>
        <p:nvSpPr>
          <p:cNvPr id="15" name="Text 10"/>
          <p:cNvSpPr txBox="1"/>
          <p:nvPr/>
        </p:nvSpPr>
        <p:spPr>
          <a:xfrm>
            <a:off x="1143000" y="3712464"/>
            <a:ext cx="4389120" cy="292608"/>
          </a:xfrm>
          <a:prstGeom prst="rect">
            <a:avLst/>
          </a:prstGeom>
          <a:noFill/>
          <a:ln/>
        </p:spPr>
        <p:txBody>
          <a:bodyPr wrap="square" lIns="0" tIns="0" rIns="0" bIns="0" rtlCol="0" anchor="ctr"/>
          <a:lstStyle/>
          <a:p>
            <a:pPr indent="0" marL="0">
              <a:buNone/>
            </a:pPr>
            <a:r>
              <a:rPr lang="en-US" sz="1300" dirty="0">
                <a:solidFill>
                  <a:schemeClr val="tx1"/>
                </a:solidFill>
              </a:rPr>
              <a:t>What they learnt about themselves, in their own words.</a:t>
            </a:r>
            <a:endParaRPr lang="en-US" sz="1300" dirty="0"/>
          </a:p>
        </p:txBody>
      </p:sp>
      <p:sp>
        <p:nvSpPr>
          <p:cNvPr id="16" name="Text 11"/>
          <p:cNvSpPr txBox="1"/>
          <p:nvPr/>
        </p:nvSpPr>
        <p:spPr>
          <a:xfrm>
            <a:off x="457200" y="4160520"/>
            <a:ext cx="5120640" cy="457200"/>
          </a:xfrm>
          <a:prstGeom prst="rect">
            <a:avLst/>
          </a:prstGeom>
          <a:noFill/>
          <a:ln/>
        </p:spPr>
        <p:txBody>
          <a:bodyPr wrap="square" lIns="0" tIns="0" rIns="0" bIns="0" rtlCol="0" anchor="ctr"/>
          <a:lstStyle/>
          <a:p>
            <a:pPr indent="0" marL="0">
              <a:buNone/>
            </a:pPr>
            <a:r>
              <a:rPr lang="en-US" sz="1500" b="1" i="1" dirty="0">
                <a:solidFill>
                  <a:schemeClr val="accent2"/>
                </a:solidFill>
              </a:rPr>
              <a:t>Students look back, see how they have grown, and decide with evidence — not guesswork.</a:t>
            </a:r>
            <a:endParaRPr lang="en-US" sz="1500" dirty="0"/>
          </a:p>
        </p:txBody>
      </p:sp>
      <p:sp>
        <p:nvSpPr>
          <p:cNvPr id="17" name="Career passbook timeline screen frame"/>
          <p:cNvSpPr/>
          <p:nvPr/>
        </p:nvSpPr>
        <p:spPr>
          <a:xfrm>
            <a:off x="5998464" y="1014984"/>
            <a:ext cx="1720302" cy="3639312"/>
          </a:xfrm>
          <a:prstGeom prst="roundRect">
            <a:avLst>
              <a:gd name="adj" fmla="val 8505"/>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18" name="Career passbook timeline screen" descr="Career passbook timeline screen">    </p:cNvPr>
          <p:cNvPicPr>
            <a:picLocks noChangeAspect="1"/>
          </p:cNvPicPr>
          <p:nvPr/>
        </p:nvPicPr>
        <p:blipFill>
          <a:blip r:embed="rId4"/>
          <a:stretch>
            <a:fillRect/>
          </a:stretch>
        </p:blipFill>
        <p:spPr>
          <a:xfrm>
            <a:off x="6035040" y="1051560"/>
            <a:ext cx="1647150" cy="3566160"/>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A student’s journey in four steps</a:t>
            </a:r>
            <a:endParaRPr lang="en-US" sz="2800" dirty="0"/>
          </a:p>
        </p:txBody>
      </p:sp>
      <p:sp>
        <p:nvSpPr>
          <p:cNvPr id="3" name="Sign in screen frame"/>
          <p:cNvSpPr/>
          <p:nvPr/>
        </p:nvSpPr>
        <p:spPr>
          <a:xfrm>
            <a:off x="420624" y="1060704"/>
            <a:ext cx="1361308" cy="2862072"/>
          </a:xfrm>
          <a:prstGeom prst="roundRect">
            <a:avLst>
              <a:gd name="adj" fmla="val 10747"/>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4" name="Sign in screen" descr="Sign in screen">    </p:cNvPr>
          <p:cNvPicPr>
            <a:picLocks noChangeAspect="1"/>
          </p:cNvPicPr>
          <p:nvPr/>
        </p:nvPicPr>
        <p:blipFill>
          <a:blip r:embed="rId1"/>
          <a:stretch>
            <a:fillRect/>
          </a:stretch>
        </p:blipFill>
        <p:spPr>
          <a:xfrm>
            <a:off x="457200" y="1097280"/>
            <a:ext cx="1288156" cy="2788920"/>
          </a:xfrm>
          <a:prstGeom prst="rect">
            <a:avLst/>
          </a:prstGeom>
        </p:spPr>
      </p:pic>
      <p:sp>
        <p:nvSpPr>
          <p:cNvPr id="5" name="step 1 marker"/>
          <p:cNvSpPr/>
          <p:nvPr/>
        </p:nvSpPr>
        <p:spPr>
          <a:xfrm>
            <a:off x="320040" y="960120"/>
            <a:ext cx="384048" cy="384048"/>
          </a:xfrm>
          <a:prstGeom prst="ellipse">
            <a:avLst/>
          </a:prstGeom>
          <a:solidFill>
            <a:schemeClr val="accent2"/>
          </a:solidFill>
          <a:ln w="25400">
            <a:solidFill>
              <a:schemeClr val="bg1"/>
            </a:solidFill>
            <a:prstDash val="solid"/>
          </a:ln>
        </p:spPr>
      </p:sp>
      <p:sp>
        <p:nvSpPr>
          <p:cNvPr id="6" name="Text 3"/>
          <p:cNvSpPr txBox="1"/>
          <p:nvPr/>
        </p:nvSpPr>
        <p:spPr>
          <a:xfrm>
            <a:off x="320040" y="9601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274320" y="4005072"/>
            <a:ext cx="1653916" cy="292608"/>
          </a:xfrm>
          <a:prstGeom prst="rect">
            <a:avLst/>
          </a:prstGeom>
          <a:noFill/>
          <a:ln/>
        </p:spPr>
        <p:txBody>
          <a:bodyPr wrap="square" lIns="0" tIns="0" rIns="0" bIns="0" rtlCol="0" anchor="ctr"/>
          <a:lstStyle/>
          <a:p>
            <a:pPr algn="ctr" indent="0" marL="0">
              <a:buNone/>
            </a:pPr>
            <a:r>
              <a:rPr lang="en-US" sz="1500" b="1" dirty="0">
                <a:solidFill>
                  <a:schemeClr val="tx2"/>
                </a:solidFill>
              </a:rPr>
              <a:t>Sign in</a:t>
            </a:r>
            <a:endParaRPr lang="en-US" sz="1500" dirty="0"/>
          </a:p>
        </p:txBody>
      </p:sp>
      <p:sp>
        <p:nvSpPr>
          <p:cNvPr id="8" name="Text 5"/>
          <p:cNvSpPr txBox="1"/>
          <p:nvPr/>
        </p:nvSpPr>
        <p:spPr>
          <a:xfrm>
            <a:off x="228600" y="4279392"/>
            <a:ext cx="1745356" cy="274320"/>
          </a:xfrm>
          <a:prstGeom prst="rect">
            <a:avLst/>
          </a:prstGeom>
          <a:noFill/>
          <a:ln/>
        </p:spPr>
        <p:txBody>
          <a:bodyPr wrap="square" lIns="0" tIns="0" rIns="0" bIns="0" rtlCol="0" anchor="ctr"/>
          <a:lstStyle/>
          <a:p>
            <a:pPr algn="ctr" indent="0" marL="0">
              <a:buNone/>
            </a:pPr>
            <a:r>
              <a:rPr lang="en-US" sz="1100" dirty="0">
                <a:solidFill>
                  <a:schemeClr val="accent5"/>
                </a:solidFill>
              </a:rPr>
              <a:t>With the code the school gives</a:t>
            </a:r>
            <a:endParaRPr lang="en-US" sz="1100" dirty="0"/>
          </a:p>
        </p:txBody>
      </p:sp>
      <p:sp>
        <p:nvSpPr>
          <p:cNvPr id="9" name="Take the test screen frame"/>
          <p:cNvSpPr/>
          <p:nvPr/>
        </p:nvSpPr>
        <p:spPr>
          <a:xfrm>
            <a:off x="2734439" y="1060704"/>
            <a:ext cx="1361308" cy="2862072"/>
          </a:xfrm>
          <a:prstGeom prst="roundRect">
            <a:avLst>
              <a:gd name="adj" fmla="val 10747"/>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10" name="Take the test screen" descr="Take the test screen">    </p:cNvPr>
          <p:cNvPicPr>
            <a:picLocks noChangeAspect="1"/>
          </p:cNvPicPr>
          <p:nvPr/>
        </p:nvPicPr>
        <p:blipFill>
          <a:blip r:embed="rId2"/>
          <a:stretch>
            <a:fillRect/>
          </a:stretch>
        </p:blipFill>
        <p:spPr>
          <a:xfrm>
            <a:off x="2771015" y="1097280"/>
            <a:ext cx="1288156" cy="2788920"/>
          </a:xfrm>
          <a:prstGeom prst="rect">
            <a:avLst/>
          </a:prstGeom>
        </p:spPr>
      </p:pic>
      <p:sp>
        <p:nvSpPr>
          <p:cNvPr id="11" name="step 2 marker"/>
          <p:cNvSpPr/>
          <p:nvPr/>
        </p:nvSpPr>
        <p:spPr>
          <a:xfrm>
            <a:off x="2633855" y="960120"/>
            <a:ext cx="384048" cy="384048"/>
          </a:xfrm>
          <a:prstGeom prst="ellipse">
            <a:avLst/>
          </a:prstGeom>
          <a:solidFill>
            <a:schemeClr val="accent2"/>
          </a:solidFill>
          <a:ln w="25400">
            <a:solidFill>
              <a:schemeClr val="bg1"/>
            </a:solidFill>
            <a:prstDash val="solid"/>
          </a:ln>
        </p:spPr>
      </p:sp>
      <p:sp>
        <p:nvSpPr>
          <p:cNvPr id="12" name="Text 8"/>
          <p:cNvSpPr txBox="1"/>
          <p:nvPr/>
        </p:nvSpPr>
        <p:spPr>
          <a:xfrm>
            <a:off x="2633855" y="9601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9"/>
          <p:cNvSpPr txBox="1"/>
          <p:nvPr/>
        </p:nvSpPr>
        <p:spPr>
          <a:xfrm>
            <a:off x="2588135" y="4005072"/>
            <a:ext cx="1653916" cy="292608"/>
          </a:xfrm>
          <a:prstGeom prst="rect">
            <a:avLst/>
          </a:prstGeom>
          <a:noFill/>
          <a:ln/>
        </p:spPr>
        <p:txBody>
          <a:bodyPr wrap="square" lIns="0" tIns="0" rIns="0" bIns="0" rtlCol="0" anchor="ctr"/>
          <a:lstStyle/>
          <a:p>
            <a:pPr algn="ctr" indent="0" marL="0">
              <a:buNone/>
            </a:pPr>
            <a:r>
              <a:rPr lang="en-US" sz="1500" b="1" dirty="0">
                <a:solidFill>
                  <a:schemeClr val="tx2"/>
                </a:solidFill>
              </a:rPr>
              <a:t>Take the test</a:t>
            </a:r>
            <a:endParaRPr lang="en-US" sz="1500" dirty="0"/>
          </a:p>
        </p:txBody>
      </p:sp>
      <p:sp>
        <p:nvSpPr>
          <p:cNvPr id="14" name="Text 10"/>
          <p:cNvSpPr txBox="1"/>
          <p:nvPr/>
        </p:nvSpPr>
        <p:spPr>
          <a:xfrm>
            <a:off x="2542415" y="4279392"/>
            <a:ext cx="1745356" cy="274320"/>
          </a:xfrm>
          <a:prstGeom prst="rect">
            <a:avLst/>
          </a:prstGeom>
          <a:noFill/>
          <a:ln/>
        </p:spPr>
        <p:txBody>
          <a:bodyPr wrap="square" lIns="0" tIns="0" rIns="0" bIns="0" rtlCol="0" anchor="ctr"/>
          <a:lstStyle/>
          <a:p>
            <a:pPr algn="ctr" indent="0" marL="0">
              <a:buNone/>
            </a:pPr>
            <a:r>
              <a:rPr lang="en-US" sz="1100" dirty="0">
                <a:solidFill>
                  <a:schemeClr val="accent5"/>
                </a:solidFill>
              </a:rPr>
              <a:t>One question per screen</a:t>
            </a:r>
            <a:endParaRPr lang="en-US" sz="1100" dirty="0"/>
          </a:p>
        </p:txBody>
      </p:sp>
      <p:sp>
        <p:nvSpPr>
          <p:cNvPr id="15" name="Read the report screen frame"/>
          <p:cNvSpPr/>
          <p:nvPr/>
        </p:nvSpPr>
        <p:spPr>
          <a:xfrm>
            <a:off x="5048253" y="1060704"/>
            <a:ext cx="1361308" cy="2862072"/>
          </a:xfrm>
          <a:prstGeom prst="roundRect">
            <a:avLst>
              <a:gd name="adj" fmla="val 10747"/>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16" name="Read the report screen" descr="Read the report screen">    </p:cNvPr>
          <p:cNvPicPr>
            <a:picLocks noChangeAspect="1"/>
          </p:cNvPicPr>
          <p:nvPr/>
        </p:nvPicPr>
        <p:blipFill>
          <a:blip r:embed="rId3"/>
          <a:stretch>
            <a:fillRect/>
          </a:stretch>
        </p:blipFill>
        <p:spPr>
          <a:xfrm>
            <a:off x="5084829" y="1097280"/>
            <a:ext cx="1288156" cy="2788920"/>
          </a:xfrm>
          <a:prstGeom prst="rect">
            <a:avLst/>
          </a:prstGeom>
        </p:spPr>
      </p:pic>
      <p:sp>
        <p:nvSpPr>
          <p:cNvPr id="17" name="step 3 marker"/>
          <p:cNvSpPr/>
          <p:nvPr/>
        </p:nvSpPr>
        <p:spPr>
          <a:xfrm>
            <a:off x="4947669" y="960120"/>
            <a:ext cx="384048" cy="384048"/>
          </a:xfrm>
          <a:prstGeom prst="ellipse">
            <a:avLst/>
          </a:prstGeom>
          <a:solidFill>
            <a:schemeClr val="accent2"/>
          </a:solidFill>
          <a:ln w="25400">
            <a:solidFill>
              <a:schemeClr val="bg1"/>
            </a:solidFill>
            <a:prstDash val="solid"/>
          </a:ln>
        </p:spPr>
      </p:sp>
      <p:sp>
        <p:nvSpPr>
          <p:cNvPr id="18" name="Text 13"/>
          <p:cNvSpPr txBox="1"/>
          <p:nvPr/>
        </p:nvSpPr>
        <p:spPr>
          <a:xfrm>
            <a:off x="4947669" y="9601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Text 14"/>
          <p:cNvSpPr txBox="1"/>
          <p:nvPr/>
        </p:nvSpPr>
        <p:spPr>
          <a:xfrm>
            <a:off x="4901949" y="4005072"/>
            <a:ext cx="1653916" cy="292608"/>
          </a:xfrm>
          <a:prstGeom prst="rect">
            <a:avLst/>
          </a:prstGeom>
          <a:noFill/>
          <a:ln/>
        </p:spPr>
        <p:txBody>
          <a:bodyPr wrap="square" lIns="0" tIns="0" rIns="0" bIns="0" rtlCol="0" anchor="ctr"/>
          <a:lstStyle/>
          <a:p>
            <a:pPr algn="ctr" indent="0" marL="0">
              <a:buNone/>
            </a:pPr>
            <a:r>
              <a:rPr lang="en-US" sz="1500" b="1" dirty="0">
                <a:solidFill>
                  <a:schemeClr val="tx2"/>
                </a:solidFill>
              </a:rPr>
              <a:t>Read the report</a:t>
            </a:r>
            <a:endParaRPr lang="en-US" sz="1500" dirty="0"/>
          </a:p>
        </p:txBody>
      </p:sp>
      <p:sp>
        <p:nvSpPr>
          <p:cNvPr id="20" name="Text 15"/>
          <p:cNvSpPr txBox="1"/>
          <p:nvPr/>
        </p:nvSpPr>
        <p:spPr>
          <a:xfrm>
            <a:off x="4856229" y="4279392"/>
            <a:ext cx="1745356" cy="274320"/>
          </a:xfrm>
          <a:prstGeom prst="rect">
            <a:avLst/>
          </a:prstGeom>
          <a:noFill/>
          <a:ln/>
        </p:spPr>
        <p:txBody>
          <a:bodyPr wrap="square" lIns="0" tIns="0" rIns="0" bIns="0" rtlCol="0" anchor="ctr"/>
          <a:lstStyle/>
          <a:p>
            <a:pPr algn="ctr" indent="0" marL="0">
              <a:buNone/>
            </a:pPr>
            <a:r>
              <a:rPr lang="en-US" sz="1100" dirty="0">
                <a:solidFill>
                  <a:schemeClr val="accent5"/>
                </a:solidFill>
              </a:rPr>
              <a:t>Interest code and strengths</a:t>
            </a:r>
            <a:endParaRPr lang="en-US" sz="1100" dirty="0"/>
          </a:p>
        </p:txBody>
      </p:sp>
      <p:sp>
        <p:nvSpPr>
          <p:cNvPr id="21" name="Explore careers screen frame"/>
          <p:cNvSpPr/>
          <p:nvPr/>
        </p:nvSpPr>
        <p:spPr>
          <a:xfrm>
            <a:off x="7362068" y="1060704"/>
            <a:ext cx="1361308" cy="2862072"/>
          </a:xfrm>
          <a:prstGeom prst="roundRect">
            <a:avLst>
              <a:gd name="adj" fmla="val 10747"/>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22" name="Explore careers screen" descr="Explore careers screen">    </p:cNvPr>
          <p:cNvPicPr>
            <a:picLocks noChangeAspect="1"/>
          </p:cNvPicPr>
          <p:nvPr/>
        </p:nvPicPr>
        <p:blipFill>
          <a:blip r:embed="rId4"/>
          <a:stretch>
            <a:fillRect/>
          </a:stretch>
        </p:blipFill>
        <p:spPr>
          <a:xfrm>
            <a:off x="7398644" y="1097280"/>
            <a:ext cx="1288156" cy="2788920"/>
          </a:xfrm>
          <a:prstGeom prst="rect">
            <a:avLst/>
          </a:prstGeom>
        </p:spPr>
      </p:pic>
      <p:sp>
        <p:nvSpPr>
          <p:cNvPr id="23" name="step 4 marker"/>
          <p:cNvSpPr/>
          <p:nvPr/>
        </p:nvSpPr>
        <p:spPr>
          <a:xfrm>
            <a:off x="7261484" y="960120"/>
            <a:ext cx="384048" cy="384048"/>
          </a:xfrm>
          <a:prstGeom prst="ellipse">
            <a:avLst/>
          </a:prstGeom>
          <a:solidFill>
            <a:schemeClr val="accent2"/>
          </a:solidFill>
          <a:ln w="25400">
            <a:solidFill>
              <a:schemeClr val="bg1"/>
            </a:solidFill>
            <a:prstDash val="solid"/>
          </a:ln>
        </p:spPr>
      </p:sp>
      <p:sp>
        <p:nvSpPr>
          <p:cNvPr id="24" name="Text 18"/>
          <p:cNvSpPr txBox="1"/>
          <p:nvPr/>
        </p:nvSpPr>
        <p:spPr>
          <a:xfrm>
            <a:off x="7261484" y="9601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5" name="Text 19"/>
          <p:cNvSpPr txBox="1"/>
          <p:nvPr/>
        </p:nvSpPr>
        <p:spPr>
          <a:xfrm>
            <a:off x="7215764" y="4005072"/>
            <a:ext cx="1653916" cy="292608"/>
          </a:xfrm>
          <a:prstGeom prst="rect">
            <a:avLst/>
          </a:prstGeom>
          <a:noFill/>
          <a:ln/>
        </p:spPr>
        <p:txBody>
          <a:bodyPr wrap="square" lIns="0" tIns="0" rIns="0" bIns="0" rtlCol="0" anchor="ctr"/>
          <a:lstStyle/>
          <a:p>
            <a:pPr algn="ctr" indent="0" marL="0">
              <a:buNone/>
            </a:pPr>
            <a:r>
              <a:rPr lang="en-US" sz="1500" b="1" dirty="0">
                <a:solidFill>
                  <a:schemeClr val="tx2"/>
                </a:solidFill>
              </a:rPr>
              <a:t>Explore careers</a:t>
            </a:r>
            <a:endParaRPr lang="en-US" sz="1500" dirty="0"/>
          </a:p>
        </p:txBody>
      </p:sp>
      <p:sp>
        <p:nvSpPr>
          <p:cNvPr id="26" name="Text 20"/>
          <p:cNvSpPr txBox="1"/>
          <p:nvPr/>
        </p:nvSpPr>
        <p:spPr>
          <a:xfrm>
            <a:off x="7170044" y="4279392"/>
            <a:ext cx="1745356" cy="274320"/>
          </a:xfrm>
          <a:prstGeom prst="rect">
            <a:avLst/>
          </a:prstGeom>
          <a:noFill/>
          <a:ln/>
        </p:spPr>
        <p:txBody>
          <a:bodyPr wrap="square" lIns="0" tIns="0" rIns="0" bIns="0" rtlCol="0" anchor="ctr"/>
          <a:lstStyle/>
          <a:p>
            <a:pPr algn="ctr" indent="0" marL="0">
              <a:buNone/>
            </a:pPr>
            <a:r>
              <a:rPr lang="en-US" sz="1100" dirty="0">
                <a:solidFill>
                  <a:schemeClr val="accent5"/>
                </a:solidFill>
              </a:rPr>
              <a:t>Best fit first, with routes</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RIASEC: six ways people like to work</a:t>
            </a:r>
            <a:endParaRPr lang="en-US" sz="2800" dirty="0"/>
          </a:p>
        </p:txBody>
      </p:sp>
      <p:sp>
        <p:nvSpPr>
          <p:cNvPr id="3" name="Text 1"/>
          <p:cNvSpPr txBox="1"/>
          <p:nvPr/>
        </p:nvSpPr>
        <p:spPr>
          <a:xfrm>
            <a:off x="457200" y="987552"/>
            <a:ext cx="8229600" cy="365760"/>
          </a:xfrm>
          <a:prstGeom prst="rect">
            <a:avLst/>
          </a:prstGeom>
          <a:noFill/>
          <a:ln/>
        </p:spPr>
        <p:txBody>
          <a:bodyPr wrap="square" lIns="0" tIns="0" rIns="0" bIns="0" rtlCol="0" anchor="ctr"/>
          <a:lstStyle/>
          <a:p>
            <a:pPr indent="0" marL="0">
              <a:buNone/>
            </a:pPr>
            <a:r>
              <a:rPr lang="en-US" sz="1400" dirty="0">
                <a:solidFill>
                  <a:schemeClr val="accent5"/>
                </a:solidFill>
              </a:rPr>
              <a:t>Holland’s model: people thrive in work that matches what they enjoy. A student’s three strongest types become their interest code.</a:t>
            </a:r>
            <a:endParaRPr lang="en-US" sz="1400" dirty="0"/>
          </a:p>
        </p:txBody>
      </p:sp>
      <p:sp>
        <p:nvSpPr>
          <p:cNvPr id="4" name="riasec R card"/>
          <p:cNvSpPr/>
          <p:nvPr/>
        </p:nvSpPr>
        <p:spPr>
          <a:xfrm>
            <a:off x="457200" y="1463040"/>
            <a:ext cx="2606040" cy="1325880"/>
          </a:xfrm>
          <a:prstGeom prst="roundRect">
            <a:avLst>
              <a:gd name="adj" fmla="val 8276"/>
            </a:avLst>
          </a:prstGeom>
          <a:solidFill>
            <a:schemeClr val="bg2"/>
          </a:solidFill>
          <a:ln/>
        </p:spPr>
      </p:sp>
      <p:sp>
        <p:nvSpPr>
          <p:cNvPr id="5" name="riasec R circle"/>
          <p:cNvSpPr/>
          <p:nvPr/>
        </p:nvSpPr>
        <p:spPr>
          <a:xfrm>
            <a:off x="621792" y="1627632"/>
            <a:ext cx="502920" cy="502920"/>
          </a:xfrm>
          <a:prstGeom prst="ellipse">
            <a:avLst/>
          </a:prstGeom>
          <a:solidFill>
            <a:srgbClr val="0F766E"/>
          </a:solidFill>
          <a:ln/>
        </p:spPr>
      </p:sp>
      <p:sp>
        <p:nvSpPr>
          <p:cNvPr id="6" name="Text 4"/>
          <p:cNvSpPr txBox="1"/>
          <p:nvPr/>
        </p:nvSpPr>
        <p:spPr>
          <a:xfrm>
            <a:off x="621792" y="1627632"/>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rPr>
              <a:t>R</a:t>
            </a:r>
            <a:endParaRPr lang="en-US" sz="2200" dirty="0"/>
          </a:p>
        </p:txBody>
      </p:sp>
      <p:sp>
        <p:nvSpPr>
          <p:cNvPr id="7" name="Text 5"/>
          <p:cNvSpPr txBox="1"/>
          <p:nvPr/>
        </p:nvSpPr>
        <p:spPr>
          <a:xfrm>
            <a:off x="1243584" y="1591056"/>
            <a:ext cx="1737360" cy="566928"/>
          </a:xfrm>
          <a:prstGeom prst="rect">
            <a:avLst/>
          </a:prstGeom>
          <a:noFill/>
          <a:ln/>
        </p:spPr>
        <p:txBody>
          <a:bodyPr wrap="square" lIns="0" tIns="0" rIns="0" bIns="0" rtlCol="0" anchor="ctr"/>
          <a:lstStyle/>
          <a:p>
            <a:pPr indent="0" marL="0">
              <a:buNone/>
            </a:pPr>
            <a:r>
              <a:rPr lang="en-US" sz="1500" b="1" dirty="0">
                <a:solidFill>
                  <a:schemeClr val="tx2"/>
                </a:solidFill>
              </a:rPr>
              <a:t>Realistic</a:t>
            </a:r>
            <a:endParaRPr lang="en-US" sz="1500" dirty="0"/>
          </a:p>
          <a:p>
            <a:pPr indent="0" marL="0">
              <a:buNone/>
            </a:pPr>
            <a:r>
              <a:rPr lang="en-US" sz="1200" dirty="0">
                <a:solidFill>
                  <a:schemeClr val="accent5"/>
                </a:solidFill>
              </a:rPr>
              <a:t>Doer</a:t>
            </a:r>
            <a:endParaRPr lang="en-US" sz="1500" dirty="0"/>
          </a:p>
        </p:txBody>
      </p:sp>
      <p:sp>
        <p:nvSpPr>
          <p:cNvPr id="8" name="Text 6"/>
          <p:cNvSpPr txBox="1"/>
          <p:nvPr/>
        </p:nvSpPr>
        <p:spPr>
          <a:xfrm>
            <a:off x="621792" y="2194560"/>
            <a:ext cx="2331720" cy="274320"/>
          </a:xfrm>
          <a:prstGeom prst="rect">
            <a:avLst/>
          </a:prstGeom>
          <a:noFill/>
          <a:ln/>
        </p:spPr>
        <p:txBody>
          <a:bodyPr wrap="square" lIns="0" tIns="0" rIns="0" bIns="0" rtlCol="0" anchor="ctr"/>
          <a:lstStyle/>
          <a:p>
            <a:pPr indent="0" marL="0">
              <a:buNone/>
            </a:pPr>
            <a:r>
              <a:rPr lang="en-US" sz="1200" dirty="0">
                <a:solidFill>
                  <a:schemeClr val="tx1"/>
                </a:solidFill>
              </a:rPr>
              <a:t>Tools, machines, the outdoors</a:t>
            </a:r>
            <a:endParaRPr lang="en-US" sz="1200" dirty="0"/>
          </a:p>
        </p:txBody>
      </p:sp>
      <p:sp>
        <p:nvSpPr>
          <p:cNvPr id="9" name="Text 7"/>
          <p:cNvSpPr txBox="1"/>
          <p:nvPr/>
        </p:nvSpPr>
        <p:spPr>
          <a:xfrm>
            <a:off x="621792" y="2450592"/>
            <a:ext cx="2331720" cy="256032"/>
          </a:xfrm>
          <a:prstGeom prst="rect">
            <a:avLst/>
          </a:prstGeom>
          <a:noFill/>
          <a:ln/>
        </p:spPr>
        <p:txBody>
          <a:bodyPr wrap="square" lIns="0" tIns="0" rIns="0" bIns="0" rtlCol="0" anchor="ctr"/>
          <a:lstStyle/>
          <a:p>
            <a:pPr indent="0" marL="0">
              <a:buNone/>
            </a:pPr>
            <a:r>
              <a:rPr lang="en-US" sz="1100" i="1" dirty="0">
                <a:solidFill>
                  <a:schemeClr val="accent5"/>
                </a:solidFill>
              </a:rPr>
              <a:t>Electrician · Civil engineer</a:t>
            </a:r>
            <a:endParaRPr lang="en-US" sz="1100" dirty="0"/>
          </a:p>
        </p:txBody>
      </p:sp>
      <p:sp>
        <p:nvSpPr>
          <p:cNvPr id="10" name="riasec I card"/>
          <p:cNvSpPr/>
          <p:nvPr/>
        </p:nvSpPr>
        <p:spPr>
          <a:xfrm>
            <a:off x="3246120" y="1463040"/>
            <a:ext cx="2606040" cy="1325880"/>
          </a:xfrm>
          <a:prstGeom prst="roundRect">
            <a:avLst>
              <a:gd name="adj" fmla="val 8276"/>
            </a:avLst>
          </a:prstGeom>
          <a:solidFill>
            <a:schemeClr val="bg2"/>
          </a:solidFill>
          <a:ln/>
        </p:spPr>
      </p:sp>
      <p:sp>
        <p:nvSpPr>
          <p:cNvPr id="11" name="riasec I circle"/>
          <p:cNvSpPr/>
          <p:nvPr/>
        </p:nvSpPr>
        <p:spPr>
          <a:xfrm>
            <a:off x="3410712" y="1627632"/>
            <a:ext cx="502920" cy="502920"/>
          </a:xfrm>
          <a:prstGeom prst="ellipse">
            <a:avLst/>
          </a:prstGeom>
          <a:solidFill>
            <a:srgbClr val="2563EB"/>
          </a:solidFill>
          <a:ln/>
        </p:spPr>
      </p:sp>
      <p:sp>
        <p:nvSpPr>
          <p:cNvPr id="12" name="Text 10"/>
          <p:cNvSpPr txBox="1"/>
          <p:nvPr/>
        </p:nvSpPr>
        <p:spPr>
          <a:xfrm>
            <a:off x="3410712" y="1627632"/>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rPr>
              <a:t>I</a:t>
            </a:r>
            <a:endParaRPr lang="en-US" sz="2200" dirty="0"/>
          </a:p>
        </p:txBody>
      </p:sp>
      <p:sp>
        <p:nvSpPr>
          <p:cNvPr id="13" name="Text 11"/>
          <p:cNvSpPr txBox="1"/>
          <p:nvPr/>
        </p:nvSpPr>
        <p:spPr>
          <a:xfrm>
            <a:off x="4032504" y="1591056"/>
            <a:ext cx="1737360" cy="566928"/>
          </a:xfrm>
          <a:prstGeom prst="rect">
            <a:avLst/>
          </a:prstGeom>
          <a:noFill/>
          <a:ln/>
        </p:spPr>
        <p:txBody>
          <a:bodyPr wrap="square" lIns="0" tIns="0" rIns="0" bIns="0" rtlCol="0" anchor="ctr"/>
          <a:lstStyle/>
          <a:p>
            <a:pPr indent="0" marL="0">
              <a:buNone/>
            </a:pPr>
            <a:r>
              <a:rPr lang="en-US" sz="1500" b="1" dirty="0">
                <a:solidFill>
                  <a:schemeClr val="tx2"/>
                </a:solidFill>
              </a:rPr>
              <a:t>Investigative</a:t>
            </a:r>
            <a:endParaRPr lang="en-US" sz="1500" dirty="0"/>
          </a:p>
          <a:p>
            <a:pPr indent="0" marL="0">
              <a:buNone/>
            </a:pPr>
            <a:r>
              <a:rPr lang="en-US" sz="1200" dirty="0">
                <a:solidFill>
                  <a:schemeClr val="accent5"/>
                </a:solidFill>
              </a:rPr>
              <a:t>Thinker</a:t>
            </a:r>
            <a:endParaRPr lang="en-US" sz="1500" dirty="0"/>
          </a:p>
        </p:txBody>
      </p:sp>
      <p:sp>
        <p:nvSpPr>
          <p:cNvPr id="14" name="Text 12"/>
          <p:cNvSpPr txBox="1"/>
          <p:nvPr/>
        </p:nvSpPr>
        <p:spPr>
          <a:xfrm>
            <a:off x="3410712" y="2194560"/>
            <a:ext cx="2331720" cy="274320"/>
          </a:xfrm>
          <a:prstGeom prst="rect">
            <a:avLst/>
          </a:prstGeom>
          <a:noFill/>
          <a:ln/>
        </p:spPr>
        <p:txBody>
          <a:bodyPr wrap="square" lIns="0" tIns="0" rIns="0" bIns="0" rtlCol="0" anchor="ctr"/>
          <a:lstStyle/>
          <a:p>
            <a:pPr indent="0" marL="0">
              <a:buNone/>
            </a:pPr>
            <a:r>
              <a:rPr lang="en-US" sz="1200" dirty="0">
                <a:solidFill>
                  <a:schemeClr val="tx1"/>
                </a:solidFill>
              </a:rPr>
              <a:t>Science and solving problems</a:t>
            </a:r>
            <a:endParaRPr lang="en-US" sz="1200" dirty="0"/>
          </a:p>
        </p:txBody>
      </p:sp>
      <p:sp>
        <p:nvSpPr>
          <p:cNvPr id="15" name="Text 13"/>
          <p:cNvSpPr txBox="1"/>
          <p:nvPr/>
        </p:nvSpPr>
        <p:spPr>
          <a:xfrm>
            <a:off x="3410712" y="2450592"/>
            <a:ext cx="2331720" cy="256032"/>
          </a:xfrm>
          <a:prstGeom prst="rect">
            <a:avLst/>
          </a:prstGeom>
          <a:noFill/>
          <a:ln/>
        </p:spPr>
        <p:txBody>
          <a:bodyPr wrap="square" lIns="0" tIns="0" rIns="0" bIns="0" rtlCol="0" anchor="ctr"/>
          <a:lstStyle/>
          <a:p>
            <a:pPr indent="0" marL="0">
              <a:buNone/>
            </a:pPr>
            <a:r>
              <a:rPr lang="en-US" sz="1100" i="1" dirty="0">
                <a:solidFill>
                  <a:schemeClr val="accent5"/>
                </a:solidFill>
              </a:rPr>
              <a:t>Doctor · Data analyst</a:t>
            </a:r>
            <a:endParaRPr lang="en-US" sz="1100" dirty="0"/>
          </a:p>
        </p:txBody>
      </p:sp>
      <p:sp>
        <p:nvSpPr>
          <p:cNvPr id="16" name="riasec A card"/>
          <p:cNvSpPr/>
          <p:nvPr/>
        </p:nvSpPr>
        <p:spPr>
          <a:xfrm>
            <a:off x="6035040" y="1463040"/>
            <a:ext cx="2606040" cy="1325880"/>
          </a:xfrm>
          <a:prstGeom prst="roundRect">
            <a:avLst>
              <a:gd name="adj" fmla="val 8276"/>
            </a:avLst>
          </a:prstGeom>
          <a:solidFill>
            <a:schemeClr val="bg2"/>
          </a:solidFill>
          <a:ln/>
        </p:spPr>
      </p:sp>
      <p:sp>
        <p:nvSpPr>
          <p:cNvPr id="17" name="riasec A circle"/>
          <p:cNvSpPr/>
          <p:nvPr/>
        </p:nvSpPr>
        <p:spPr>
          <a:xfrm>
            <a:off x="6199632" y="1627632"/>
            <a:ext cx="502920" cy="502920"/>
          </a:xfrm>
          <a:prstGeom prst="ellipse">
            <a:avLst/>
          </a:prstGeom>
          <a:solidFill>
            <a:srgbClr val="9333EA"/>
          </a:solidFill>
          <a:ln/>
        </p:spPr>
      </p:sp>
      <p:sp>
        <p:nvSpPr>
          <p:cNvPr id="18" name="Text 16"/>
          <p:cNvSpPr txBox="1"/>
          <p:nvPr/>
        </p:nvSpPr>
        <p:spPr>
          <a:xfrm>
            <a:off x="6199632" y="1627632"/>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19" name="Text 17"/>
          <p:cNvSpPr txBox="1"/>
          <p:nvPr/>
        </p:nvSpPr>
        <p:spPr>
          <a:xfrm>
            <a:off x="6821424" y="1591056"/>
            <a:ext cx="1737360" cy="566928"/>
          </a:xfrm>
          <a:prstGeom prst="rect">
            <a:avLst/>
          </a:prstGeom>
          <a:noFill/>
          <a:ln/>
        </p:spPr>
        <p:txBody>
          <a:bodyPr wrap="square" lIns="0" tIns="0" rIns="0" bIns="0" rtlCol="0" anchor="ctr"/>
          <a:lstStyle/>
          <a:p>
            <a:pPr indent="0" marL="0">
              <a:buNone/>
            </a:pPr>
            <a:r>
              <a:rPr lang="en-US" sz="1500" b="1" dirty="0">
                <a:solidFill>
                  <a:schemeClr val="tx2"/>
                </a:solidFill>
              </a:rPr>
              <a:t>Artistic</a:t>
            </a:r>
            <a:endParaRPr lang="en-US" sz="1500" dirty="0"/>
          </a:p>
          <a:p>
            <a:pPr indent="0" marL="0">
              <a:buNone/>
            </a:pPr>
            <a:r>
              <a:rPr lang="en-US" sz="1200" dirty="0">
                <a:solidFill>
                  <a:schemeClr val="accent5"/>
                </a:solidFill>
              </a:rPr>
              <a:t>Creator</a:t>
            </a:r>
            <a:endParaRPr lang="en-US" sz="1500" dirty="0"/>
          </a:p>
        </p:txBody>
      </p:sp>
      <p:sp>
        <p:nvSpPr>
          <p:cNvPr id="20" name="Text 18"/>
          <p:cNvSpPr txBox="1"/>
          <p:nvPr/>
        </p:nvSpPr>
        <p:spPr>
          <a:xfrm>
            <a:off x="6199632" y="2194560"/>
            <a:ext cx="2331720" cy="274320"/>
          </a:xfrm>
          <a:prstGeom prst="rect">
            <a:avLst/>
          </a:prstGeom>
          <a:noFill/>
          <a:ln/>
        </p:spPr>
        <p:txBody>
          <a:bodyPr wrap="square" lIns="0" tIns="0" rIns="0" bIns="0" rtlCol="0" anchor="ctr"/>
          <a:lstStyle/>
          <a:p>
            <a:pPr indent="0" marL="0">
              <a:buNone/>
            </a:pPr>
            <a:r>
              <a:rPr lang="en-US" sz="1200" dirty="0">
                <a:solidFill>
                  <a:schemeClr val="tx1"/>
                </a:solidFill>
              </a:rPr>
              <a:t>Art, words, music and design</a:t>
            </a:r>
            <a:endParaRPr lang="en-US" sz="1200" dirty="0"/>
          </a:p>
        </p:txBody>
      </p:sp>
      <p:sp>
        <p:nvSpPr>
          <p:cNvPr id="21" name="Text 19"/>
          <p:cNvSpPr txBox="1"/>
          <p:nvPr/>
        </p:nvSpPr>
        <p:spPr>
          <a:xfrm>
            <a:off x="6199632" y="2450592"/>
            <a:ext cx="2331720" cy="256032"/>
          </a:xfrm>
          <a:prstGeom prst="rect">
            <a:avLst/>
          </a:prstGeom>
          <a:noFill/>
          <a:ln/>
        </p:spPr>
        <p:txBody>
          <a:bodyPr wrap="square" lIns="0" tIns="0" rIns="0" bIns="0" rtlCol="0" anchor="ctr"/>
          <a:lstStyle/>
          <a:p>
            <a:pPr indent="0" marL="0">
              <a:buNone/>
            </a:pPr>
            <a:r>
              <a:rPr lang="en-US" sz="1100" i="1" dirty="0">
                <a:solidFill>
                  <a:schemeClr val="accent5"/>
                </a:solidFill>
              </a:rPr>
              <a:t>Designer · Architect</a:t>
            </a:r>
            <a:endParaRPr lang="en-US" sz="1100" dirty="0"/>
          </a:p>
        </p:txBody>
      </p:sp>
      <p:sp>
        <p:nvSpPr>
          <p:cNvPr id="22" name="riasec S card"/>
          <p:cNvSpPr/>
          <p:nvPr/>
        </p:nvSpPr>
        <p:spPr>
          <a:xfrm>
            <a:off x="457200" y="2926080"/>
            <a:ext cx="2606040" cy="1325880"/>
          </a:xfrm>
          <a:prstGeom prst="roundRect">
            <a:avLst>
              <a:gd name="adj" fmla="val 8276"/>
            </a:avLst>
          </a:prstGeom>
          <a:solidFill>
            <a:schemeClr val="bg2"/>
          </a:solidFill>
          <a:ln/>
        </p:spPr>
      </p:sp>
      <p:sp>
        <p:nvSpPr>
          <p:cNvPr id="23" name="riasec S circle"/>
          <p:cNvSpPr/>
          <p:nvPr/>
        </p:nvSpPr>
        <p:spPr>
          <a:xfrm>
            <a:off x="621792" y="3090672"/>
            <a:ext cx="502920" cy="502920"/>
          </a:xfrm>
          <a:prstGeom prst="ellipse">
            <a:avLst/>
          </a:prstGeom>
          <a:solidFill>
            <a:srgbClr val="16A34A"/>
          </a:solidFill>
          <a:ln/>
        </p:spPr>
      </p:sp>
      <p:sp>
        <p:nvSpPr>
          <p:cNvPr id="24" name="Text 22"/>
          <p:cNvSpPr txBox="1"/>
          <p:nvPr/>
        </p:nvSpPr>
        <p:spPr>
          <a:xfrm>
            <a:off x="621792" y="3090672"/>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rPr>
              <a:t>S</a:t>
            </a:r>
            <a:endParaRPr lang="en-US" sz="2200" dirty="0"/>
          </a:p>
        </p:txBody>
      </p:sp>
      <p:sp>
        <p:nvSpPr>
          <p:cNvPr id="25" name="Text 23"/>
          <p:cNvSpPr txBox="1"/>
          <p:nvPr/>
        </p:nvSpPr>
        <p:spPr>
          <a:xfrm>
            <a:off x="1243584" y="3054096"/>
            <a:ext cx="1737360" cy="566928"/>
          </a:xfrm>
          <a:prstGeom prst="rect">
            <a:avLst/>
          </a:prstGeom>
          <a:noFill/>
          <a:ln/>
        </p:spPr>
        <p:txBody>
          <a:bodyPr wrap="square" lIns="0" tIns="0" rIns="0" bIns="0" rtlCol="0" anchor="ctr"/>
          <a:lstStyle/>
          <a:p>
            <a:pPr indent="0" marL="0">
              <a:buNone/>
            </a:pPr>
            <a:r>
              <a:rPr lang="en-US" sz="1500" b="1" dirty="0">
                <a:solidFill>
                  <a:schemeClr val="tx2"/>
                </a:solidFill>
              </a:rPr>
              <a:t>Social</a:t>
            </a:r>
            <a:endParaRPr lang="en-US" sz="1500" dirty="0"/>
          </a:p>
          <a:p>
            <a:pPr indent="0" marL="0">
              <a:buNone/>
            </a:pPr>
            <a:r>
              <a:rPr lang="en-US" sz="1200" dirty="0">
                <a:solidFill>
                  <a:schemeClr val="accent5"/>
                </a:solidFill>
              </a:rPr>
              <a:t>Helper</a:t>
            </a:r>
            <a:endParaRPr lang="en-US" sz="1500" dirty="0"/>
          </a:p>
        </p:txBody>
      </p:sp>
      <p:sp>
        <p:nvSpPr>
          <p:cNvPr id="26" name="Text 24"/>
          <p:cNvSpPr txBox="1"/>
          <p:nvPr/>
        </p:nvSpPr>
        <p:spPr>
          <a:xfrm>
            <a:off x="621792" y="3657600"/>
            <a:ext cx="2331720" cy="274320"/>
          </a:xfrm>
          <a:prstGeom prst="rect">
            <a:avLst/>
          </a:prstGeom>
          <a:noFill/>
          <a:ln/>
        </p:spPr>
        <p:txBody>
          <a:bodyPr wrap="square" lIns="0" tIns="0" rIns="0" bIns="0" rtlCol="0" anchor="ctr"/>
          <a:lstStyle/>
          <a:p>
            <a:pPr indent="0" marL="0">
              <a:buNone/>
            </a:pPr>
            <a:r>
              <a:rPr lang="en-US" sz="1200" dirty="0">
                <a:solidFill>
                  <a:schemeClr val="tx1"/>
                </a:solidFill>
              </a:rPr>
              <a:t>Teaching, caring, helping people</a:t>
            </a:r>
            <a:endParaRPr lang="en-US" sz="1200" dirty="0"/>
          </a:p>
        </p:txBody>
      </p:sp>
      <p:sp>
        <p:nvSpPr>
          <p:cNvPr id="27" name="Text 25"/>
          <p:cNvSpPr txBox="1"/>
          <p:nvPr/>
        </p:nvSpPr>
        <p:spPr>
          <a:xfrm>
            <a:off x="621792" y="3913632"/>
            <a:ext cx="2331720" cy="256032"/>
          </a:xfrm>
          <a:prstGeom prst="rect">
            <a:avLst/>
          </a:prstGeom>
          <a:noFill/>
          <a:ln/>
        </p:spPr>
        <p:txBody>
          <a:bodyPr wrap="square" lIns="0" tIns="0" rIns="0" bIns="0" rtlCol="0" anchor="ctr"/>
          <a:lstStyle/>
          <a:p>
            <a:pPr indent="0" marL="0">
              <a:buNone/>
            </a:pPr>
            <a:r>
              <a:rPr lang="en-US" sz="1100" i="1" dirty="0">
                <a:solidFill>
                  <a:schemeClr val="accent5"/>
                </a:solidFill>
              </a:rPr>
              <a:t>Teacher · Nurse</a:t>
            </a:r>
            <a:endParaRPr lang="en-US" sz="1100" dirty="0"/>
          </a:p>
        </p:txBody>
      </p:sp>
      <p:sp>
        <p:nvSpPr>
          <p:cNvPr id="28" name="riasec E card"/>
          <p:cNvSpPr/>
          <p:nvPr/>
        </p:nvSpPr>
        <p:spPr>
          <a:xfrm>
            <a:off x="3246120" y="2926080"/>
            <a:ext cx="2606040" cy="1325880"/>
          </a:xfrm>
          <a:prstGeom prst="roundRect">
            <a:avLst>
              <a:gd name="adj" fmla="val 8276"/>
            </a:avLst>
          </a:prstGeom>
          <a:solidFill>
            <a:schemeClr val="bg2"/>
          </a:solidFill>
          <a:ln/>
        </p:spPr>
      </p:sp>
      <p:sp>
        <p:nvSpPr>
          <p:cNvPr id="29" name="riasec E circle"/>
          <p:cNvSpPr/>
          <p:nvPr/>
        </p:nvSpPr>
        <p:spPr>
          <a:xfrm>
            <a:off x="3410712" y="3090672"/>
            <a:ext cx="502920" cy="502920"/>
          </a:xfrm>
          <a:prstGeom prst="ellipse">
            <a:avLst/>
          </a:prstGeom>
          <a:solidFill>
            <a:srgbClr val="F59E0B"/>
          </a:solidFill>
          <a:ln/>
        </p:spPr>
      </p:sp>
      <p:sp>
        <p:nvSpPr>
          <p:cNvPr id="30" name="Text 28"/>
          <p:cNvSpPr txBox="1"/>
          <p:nvPr/>
        </p:nvSpPr>
        <p:spPr>
          <a:xfrm>
            <a:off x="3410712" y="3090672"/>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rPr>
              <a:t>E</a:t>
            </a:r>
            <a:endParaRPr lang="en-US" sz="2200" dirty="0"/>
          </a:p>
        </p:txBody>
      </p:sp>
      <p:sp>
        <p:nvSpPr>
          <p:cNvPr id="31" name="Text 29"/>
          <p:cNvSpPr txBox="1"/>
          <p:nvPr/>
        </p:nvSpPr>
        <p:spPr>
          <a:xfrm>
            <a:off x="4032504" y="3054096"/>
            <a:ext cx="1737360" cy="566928"/>
          </a:xfrm>
          <a:prstGeom prst="rect">
            <a:avLst/>
          </a:prstGeom>
          <a:noFill/>
          <a:ln/>
        </p:spPr>
        <p:txBody>
          <a:bodyPr wrap="square" lIns="0" tIns="0" rIns="0" bIns="0" rtlCol="0" anchor="ctr"/>
          <a:lstStyle/>
          <a:p>
            <a:pPr indent="0" marL="0">
              <a:buNone/>
            </a:pPr>
            <a:r>
              <a:rPr lang="en-US" sz="1500" b="1" dirty="0">
                <a:solidFill>
                  <a:schemeClr val="tx2"/>
                </a:solidFill>
              </a:rPr>
              <a:t>Enterprising</a:t>
            </a:r>
            <a:endParaRPr lang="en-US" sz="1500" dirty="0"/>
          </a:p>
          <a:p>
            <a:pPr indent="0" marL="0">
              <a:buNone/>
            </a:pPr>
            <a:r>
              <a:rPr lang="en-US" sz="1200" dirty="0">
                <a:solidFill>
                  <a:schemeClr val="accent5"/>
                </a:solidFill>
              </a:rPr>
              <a:t>Persuader</a:t>
            </a:r>
            <a:endParaRPr lang="en-US" sz="1500" dirty="0"/>
          </a:p>
        </p:txBody>
      </p:sp>
      <p:sp>
        <p:nvSpPr>
          <p:cNvPr id="32" name="Text 30"/>
          <p:cNvSpPr txBox="1"/>
          <p:nvPr/>
        </p:nvSpPr>
        <p:spPr>
          <a:xfrm>
            <a:off x="3410712" y="3657600"/>
            <a:ext cx="2331720" cy="274320"/>
          </a:xfrm>
          <a:prstGeom prst="rect">
            <a:avLst/>
          </a:prstGeom>
          <a:noFill/>
          <a:ln/>
        </p:spPr>
        <p:txBody>
          <a:bodyPr wrap="square" lIns="0" tIns="0" rIns="0" bIns="0" rtlCol="0" anchor="ctr"/>
          <a:lstStyle/>
          <a:p>
            <a:pPr indent="0" marL="0">
              <a:buNone/>
            </a:pPr>
            <a:r>
              <a:rPr lang="en-US" sz="1200" dirty="0">
                <a:solidFill>
                  <a:schemeClr val="tx1"/>
                </a:solidFill>
              </a:rPr>
              <a:t>Leading, selling, starting things</a:t>
            </a:r>
            <a:endParaRPr lang="en-US" sz="1200" dirty="0"/>
          </a:p>
        </p:txBody>
      </p:sp>
      <p:sp>
        <p:nvSpPr>
          <p:cNvPr id="33" name="Text 31"/>
          <p:cNvSpPr txBox="1"/>
          <p:nvPr/>
        </p:nvSpPr>
        <p:spPr>
          <a:xfrm>
            <a:off x="3410712" y="3913632"/>
            <a:ext cx="2331720" cy="256032"/>
          </a:xfrm>
          <a:prstGeom prst="rect">
            <a:avLst/>
          </a:prstGeom>
          <a:noFill/>
          <a:ln/>
        </p:spPr>
        <p:txBody>
          <a:bodyPr wrap="square" lIns="0" tIns="0" rIns="0" bIns="0" rtlCol="0" anchor="ctr"/>
          <a:lstStyle/>
          <a:p>
            <a:pPr indent="0" marL="0">
              <a:buNone/>
            </a:pPr>
            <a:r>
              <a:rPr lang="en-US" sz="1100" i="1" dirty="0">
                <a:solidFill>
                  <a:schemeClr val="accent5"/>
                </a:solidFill>
              </a:rPr>
              <a:t>Entrepreneur · Lawyer</a:t>
            </a:r>
            <a:endParaRPr lang="en-US" sz="1100" dirty="0"/>
          </a:p>
        </p:txBody>
      </p:sp>
      <p:sp>
        <p:nvSpPr>
          <p:cNvPr id="34" name="riasec C card"/>
          <p:cNvSpPr/>
          <p:nvPr/>
        </p:nvSpPr>
        <p:spPr>
          <a:xfrm>
            <a:off x="6035040" y="2926080"/>
            <a:ext cx="2606040" cy="1325880"/>
          </a:xfrm>
          <a:prstGeom prst="roundRect">
            <a:avLst>
              <a:gd name="adj" fmla="val 8276"/>
            </a:avLst>
          </a:prstGeom>
          <a:solidFill>
            <a:schemeClr val="bg2"/>
          </a:solidFill>
          <a:ln/>
        </p:spPr>
      </p:sp>
      <p:sp>
        <p:nvSpPr>
          <p:cNvPr id="35" name="riasec C circle"/>
          <p:cNvSpPr/>
          <p:nvPr/>
        </p:nvSpPr>
        <p:spPr>
          <a:xfrm>
            <a:off x="6199632" y="3090672"/>
            <a:ext cx="502920" cy="502920"/>
          </a:xfrm>
          <a:prstGeom prst="ellipse">
            <a:avLst/>
          </a:prstGeom>
          <a:solidFill>
            <a:srgbClr val="022964"/>
          </a:solidFill>
          <a:ln/>
        </p:spPr>
      </p:sp>
      <p:sp>
        <p:nvSpPr>
          <p:cNvPr id="36" name="Text 34"/>
          <p:cNvSpPr txBox="1"/>
          <p:nvPr/>
        </p:nvSpPr>
        <p:spPr>
          <a:xfrm>
            <a:off x="6199632" y="3090672"/>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rPr>
              <a:t>C</a:t>
            </a:r>
            <a:endParaRPr lang="en-US" sz="2200" dirty="0"/>
          </a:p>
        </p:txBody>
      </p:sp>
      <p:sp>
        <p:nvSpPr>
          <p:cNvPr id="37" name="Text 35"/>
          <p:cNvSpPr txBox="1"/>
          <p:nvPr/>
        </p:nvSpPr>
        <p:spPr>
          <a:xfrm>
            <a:off x="6821424" y="3054096"/>
            <a:ext cx="1737360" cy="566928"/>
          </a:xfrm>
          <a:prstGeom prst="rect">
            <a:avLst/>
          </a:prstGeom>
          <a:noFill/>
          <a:ln/>
        </p:spPr>
        <p:txBody>
          <a:bodyPr wrap="square" lIns="0" tIns="0" rIns="0" bIns="0" rtlCol="0" anchor="ctr"/>
          <a:lstStyle/>
          <a:p>
            <a:pPr indent="0" marL="0">
              <a:buNone/>
            </a:pPr>
            <a:r>
              <a:rPr lang="en-US" sz="1500" b="1" dirty="0">
                <a:solidFill>
                  <a:schemeClr val="tx2"/>
                </a:solidFill>
              </a:rPr>
              <a:t>Conventional</a:t>
            </a:r>
            <a:endParaRPr lang="en-US" sz="1500" dirty="0"/>
          </a:p>
          <a:p>
            <a:pPr indent="0" marL="0">
              <a:buNone/>
            </a:pPr>
            <a:r>
              <a:rPr lang="en-US" sz="1200" dirty="0">
                <a:solidFill>
                  <a:schemeClr val="accent5"/>
                </a:solidFill>
              </a:rPr>
              <a:t>Organiser</a:t>
            </a:r>
            <a:endParaRPr lang="en-US" sz="1500" dirty="0"/>
          </a:p>
        </p:txBody>
      </p:sp>
      <p:sp>
        <p:nvSpPr>
          <p:cNvPr id="38" name="Text 36"/>
          <p:cNvSpPr txBox="1"/>
          <p:nvPr/>
        </p:nvSpPr>
        <p:spPr>
          <a:xfrm>
            <a:off x="6199632" y="3657600"/>
            <a:ext cx="2331720" cy="274320"/>
          </a:xfrm>
          <a:prstGeom prst="rect">
            <a:avLst/>
          </a:prstGeom>
          <a:noFill/>
          <a:ln/>
        </p:spPr>
        <p:txBody>
          <a:bodyPr wrap="square" lIns="0" tIns="0" rIns="0" bIns="0" rtlCol="0" anchor="ctr"/>
          <a:lstStyle/>
          <a:p>
            <a:pPr indent="0" marL="0">
              <a:buNone/>
            </a:pPr>
            <a:r>
              <a:rPr lang="en-US" sz="1200" dirty="0">
                <a:solidFill>
                  <a:schemeClr val="tx1"/>
                </a:solidFill>
              </a:rPr>
              <a:t>Order, numbers and detail</a:t>
            </a:r>
            <a:endParaRPr lang="en-US" sz="1200" dirty="0"/>
          </a:p>
        </p:txBody>
      </p:sp>
      <p:sp>
        <p:nvSpPr>
          <p:cNvPr id="39" name="Text 37"/>
          <p:cNvSpPr txBox="1"/>
          <p:nvPr/>
        </p:nvSpPr>
        <p:spPr>
          <a:xfrm>
            <a:off x="6199632" y="3913632"/>
            <a:ext cx="2331720" cy="256032"/>
          </a:xfrm>
          <a:prstGeom prst="rect">
            <a:avLst/>
          </a:prstGeom>
          <a:noFill/>
          <a:ln/>
        </p:spPr>
        <p:txBody>
          <a:bodyPr wrap="square" lIns="0" tIns="0" rIns="0" bIns="0" rtlCol="0" anchor="ctr"/>
          <a:lstStyle/>
          <a:p>
            <a:pPr indent="0" marL="0">
              <a:buNone/>
            </a:pPr>
            <a:r>
              <a:rPr lang="en-US" sz="1100" i="1" dirty="0">
                <a:solidFill>
                  <a:schemeClr val="accent5"/>
                </a:solidFill>
              </a:rPr>
              <a:t>Accountant · Bank officer</a:t>
            </a:r>
            <a:endParaRPr lang="en-US" sz="1100" dirty="0"/>
          </a:p>
        </p:txBody>
      </p:sp>
      <p:sp>
        <p:nvSpPr>
          <p:cNvPr id="40" name="Text 38"/>
          <p:cNvSpPr txBox="1"/>
          <p:nvPr/>
        </p:nvSpPr>
        <p:spPr>
          <a:xfrm>
            <a:off x="457200" y="4407408"/>
            <a:ext cx="8229600" cy="329184"/>
          </a:xfrm>
          <a:prstGeom prst="rect">
            <a:avLst/>
          </a:prstGeom>
          <a:noFill/>
          <a:ln/>
        </p:spPr>
        <p:txBody>
          <a:bodyPr wrap="square" lIns="0" tIns="0" rIns="0" bIns="0" rtlCol="0" anchor="b"/>
          <a:lstStyle/>
          <a:p>
            <a:pPr indent="0" marL="0">
              <a:buNone/>
            </a:pPr>
            <a:r>
              <a:rPr lang="en-US" sz="900" dirty="0">
                <a:solidFill>
                  <a:schemeClr val="accent5"/>
                </a:solidFill>
              </a:rPr>
              <a:t>Based on John Holland’s theory of vocational choice (RIASEC). The app’s 36 interest questions are original and not yet validated.</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test: 56 questions, about 10 minutes</a:t>
            </a:r>
            <a:endParaRPr lang="en-US" sz="2800" dirty="0"/>
          </a:p>
        </p:txBody>
      </p:sp>
      <p:sp>
        <p:nvSpPr>
          <p:cNvPr id="3" name="test point 1 circle"/>
          <p:cNvSpPr/>
          <p:nvPr/>
        </p:nvSpPr>
        <p:spPr>
          <a:xfrm>
            <a:off x="457200" y="1143000"/>
            <a:ext cx="502920" cy="502920"/>
          </a:xfrm>
          <a:prstGeom prst="ellipse">
            <a:avLst/>
          </a:prstGeom>
          <a:solidFill>
            <a:schemeClr val="accent1"/>
          </a:solidFill>
          <a:ln/>
        </p:spPr>
      </p:sp>
      <p:pic>
        <p:nvPicPr>
          <p:cNvPr id="4" name="test point 1 icon" descr="preencoded.png">    </p:cNvPr>
          <p:cNvPicPr>
            <a:picLocks noChangeAspect="1"/>
          </p:cNvPicPr>
          <p:nvPr/>
        </p:nvPicPr>
        <p:blipFill>
          <a:blip r:embed="rId1"/>
          <a:stretch>
            <a:fillRect/>
          </a:stretch>
        </p:blipFill>
        <p:spPr>
          <a:xfrm>
            <a:off x="587959" y="1273759"/>
            <a:ext cx="241402" cy="241402"/>
          </a:xfrm>
          <a:prstGeom prst="rect">
            <a:avLst/>
          </a:prstGeom>
        </p:spPr>
      </p:pic>
      <p:sp>
        <p:nvSpPr>
          <p:cNvPr id="5" name="Text 2"/>
          <p:cNvSpPr txBox="1"/>
          <p:nvPr/>
        </p:nvSpPr>
        <p:spPr>
          <a:xfrm>
            <a:off x="1143000" y="1097280"/>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36 interest questions</a:t>
            </a:r>
            <a:endParaRPr lang="en-US" sz="1600" dirty="0"/>
          </a:p>
        </p:txBody>
      </p:sp>
      <p:sp>
        <p:nvSpPr>
          <p:cNvPr id="6" name="Text 3"/>
          <p:cNvSpPr txBox="1"/>
          <p:nvPr/>
        </p:nvSpPr>
        <p:spPr>
          <a:xfrm>
            <a:off x="1143000" y="1389888"/>
            <a:ext cx="4023360" cy="502920"/>
          </a:xfrm>
          <a:prstGeom prst="rect">
            <a:avLst/>
          </a:prstGeom>
          <a:noFill/>
          <a:ln/>
        </p:spPr>
        <p:txBody>
          <a:bodyPr wrap="square" lIns="0" tIns="0" rIns="0" bIns="0" rtlCol="0" anchor="t"/>
          <a:lstStyle/>
          <a:p>
            <a:pPr indent="0" marL="0">
              <a:buNone/>
            </a:pPr>
            <a:r>
              <a:rPr lang="en-US" sz="1300" dirty="0">
                <a:solidFill>
                  <a:schemeClr val="tx1"/>
                </a:solidFill>
              </a:rPr>
              <a:t>Six per RIASEC type, about everyday activities — repairing a fan, helping a child study.</a:t>
            </a:r>
            <a:endParaRPr lang="en-US" sz="1300" dirty="0"/>
          </a:p>
        </p:txBody>
      </p:sp>
      <p:sp>
        <p:nvSpPr>
          <p:cNvPr id="7" name="test point 2 circle"/>
          <p:cNvSpPr/>
          <p:nvPr/>
        </p:nvSpPr>
        <p:spPr>
          <a:xfrm>
            <a:off x="457200" y="1984248"/>
            <a:ext cx="502920" cy="502920"/>
          </a:xfrm>
          <a:prstGeom prst="ellipse">
            <a:avLst/>
          </a:prstGeom>
          <a:solidFill>
            <a:schemeClr val="accent2"/>
          </a:solidFill>
          <a:ln/>
        </p:spPr>
      </p:sp>
      <p:pic>
        <p:nvPicPr>
          <p:cNvPr id="8" name="test point 2 icon" descr="preencoded.png">    </p:cNvPr>
          <p:cNvPicPr>
            <a:picLocks noChangeAspect="1"/>
          </p:cNvPicPr>
          <p:nvPr/>
        </p:nvPicPr>
        <p:blipFill>
          <a:blip r:embed="rId2"/>
          <a:stretch>
            <a:fillRect/>
          </a:stretch>
        </p:blipFill>
        <p:spPr>
          <a:xfrm>
            <a:off x="587959" y="2115007"/>
            <a:ext cx="241402" cy="241402"/>
          </a:xfrm>
          <a:prstGeom prst="rect">
            <a:avLst/>
          </a:prstGeom>
        </p:spPr>
      </p:pic>
      <p:sp>
        <p:nvSpPr>
          <p:cNvPr id="9" name="Text 5"/>
          <p:cNvSpPr txBox="1"/>
          <p:nvPr/>
        </p:nvSpPr>
        <p:spPr>
          <a:xfrm>
            <a:off x="1143000" y="1938528"/>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20 personality questions</a:t>
            </a:r>
            <a:endParaRPr lang="en-US" sz="1600" dirty="0"/>
          </a:p>
        </p:txBody>
      </p:sp>
      <p:sp>
        <p:nvSpPr>
          <p:cNvPr id="10" name="Text 6"/>
          <p:cNvSpPr txBox="1"/>
          <p:nvPr/>
        </p:nvSpPr>
        <p:spPr>
          <a:xfrm>
            <a:off x="1143000" y="2231136"/>
            <a:ext cx="4023360" cy="502920"/>
          </a:xfrm>
          <a:prstGeom prst="rect">
            <a:avLst/>
          </a:prstGeom>
          <a:noFill/>
          <a:ln/>
        </p:spPr>
        <p:txBody>
          <a:bodyPr wrap="square" lIns="0" tIns="0" rIns="0" bIns="0" rtlCol="0" anchor="t"/>
          <a:lstStyle/>
          <a:p>
            <a:pPr indent="0" marL="0">
              <a:buNone/>
            </a:pPr>
            <a:r>
              <a:rPr lang="en-US" sz="1300" dirty="0">
                <a:solidFill>
                  <a:schemeClr val="tx1"/>
                </a:solidFill>
              </a:rPr>
              <a:t>The Mini-IPIP Big Five, from the public-domain International Personality Item Pool.</a:t>
            </a:r>
            <a:endParaRPr lang="en-US" sz="1300" dirty="0"/>
          </a:p>
        </p:txBody>
      </p:sp>
      <p:sp>
        <p:nvSpPr>
          <p:cNvPr id="11" name="test point 3 circle"/>
          <p:cNvSpPr/>
          <p:nvPr/>
        </p:nvSpPr>
        <p:spPr>
          <a:xfrm>
            <a:off x="457200" y="2825496"/>
            <a:ext cx="502920" cy="502920"/>
          </a:xfrm>
          <a:prstGeom prst="ellipse">
            <a:avLst/>
          </a:prstGeom>
          <a:solidFill>
            <a:schemeClr val="accent3"/>
          </a:solidFill>
          <a:ln/>
        </p:spPr>
      </p:sp>
      <p:pic>
        <p:nvPicPr>
          <p:cNvPr id="12" name="test point 3 icon" descr="preencoded.png">    </p:cNvPr>
          <p:cNvPicPr>
            <a:picLocks noChangeAspect="1"/>
          </p:cNvPicPr>
          <p:nvPr/>
        </p:nvPicPr>
        <p:blipFill>
          <a:blip r:embed="rId3"/>
          <a:stretch>
            <a:fillRect/>
          </a:stretch>
        </p:blipFill>
        <p:spPr>
          <a:xfrm>
            <a:off x="587959" y="2956255"/>
            <a:ext cx="241402" cy="241402"/>
          </a:xfrm>
          <a:prstGeom prst="rect">
            <a:avLst/>
          </a:prstGeom>
        </p:spPr>
      </p:pic>
      <p:sp>
        <p:nvSpPr>
          <p:cNvPr id="13" name="Text 8"/>
          <p:cNvSpPr txBox="1"/>
          <p:nvPr/>
        </p:nvSpPr>
        <p:spPr>
          <a:xfrm>
            <a:off x="1143000" y="2779776"/>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Made for a shared phone</a:t>
            </a:r>
            <a:endParaRPr lang="en-US" sz="1600" dirty="0"/>
          </a:p>
        </p:txBody>
      </p:sp>
      <p:sp>
        <p:nvSpPr>
          <p:cNvPr id="14" name="Text 9"/>
          <p:cNvSpPr txBox="1"/>
          <p:nvPr/>
        </p:nvSpPr>
        <p:spPr>
          <a:xfrm>
            <a:off x="1143000" y="3072384"/>
            <a:ext cx="4023360" cy="502920"/>
          </a:xfrm>
          <a:prstGeom prst="rect">
            <a:avLst/>
          </a:prstGeom>
          <a:noFill/>
          <a:ln/>
        </p:spPr>
        <p:txBody>
          <a:bodyPr wrap="square" lIns="0" tIns="0" rIns="0" bIns="0" rtlCol="0" anchor="t"/>
          <a:lstStyle/>
          <a:p>
            <a:pPr indent="0" marL="0">
              <a:buNone/>
            </a:pPr>
            <a:r>
              <a:rPr lang="en-US" sz="1300" dirty="0">
                <a:solidFill>
                  <a:schemeClr val="tx1"/>
                </a:solidFill>
              </a:rPr>
              <a:t>Big tap targets, an emoji per activity, progress kept through a reload or a phone call.</a:t>
            </a:r>
            <a:endParaRPr lang="en-US" sz="1300" dirty="0"/>
          </a:p>
        </p:txBody>
      </p:sp>
      <p:sp>
        <p:nvSpPr>
          <p:cNvPr id="15" name="test point 4 circle"/>
          <p:cNvSpPr/>
          <p:nvPr/>
        </p:nvSpPr>
        <p:spPr>
          <a:xfrm>
            <a:off x="457200" y="3666744"/>
            <a:ext cx="502920" cy="502920"/>
          </a:xfrm>
          <a:prstGeom prst="ellipse">
            <a:avLst/>
          </a:prstGeom>
          <a:solidFill>
            <a:schemeClr val="tx2"/>
          </a:solidFill>
          <a:ln/>
        </p:spPr>
      </p:sp>
      <p:pic>
        <p:nvPicPr>
          <p:cNvPr id="16" name="test point 4 icon" descr="preencoded.png">    </p:cNvPr>
          <p:cNvPicPr>
            <a:picLocks noChangeAspect="1"/>
          </p:cNvPicPr>
          <p:nvPr/>
        </p:nvPicPr>
        <p:blipFill>
          <a:blip r:embed="rId4"/>
          <a:stretch>
            <a:fillRect/>
          </a:stretch>
        </p:blipFill>
        <p:spPr>
          <a:xfrm>
            <a:off x="587959" y="3797503"/>
            <a:ext cx="241402" cy="241402"/>
          </a:xfrm>
          <a:prstGeom prst="rect">
            <a:avLst/>
          </a:prstGeom>
        </p:spPr>
      </p:pic>
      <p:sp>
        <p:nvSpPr>
          <p:cNvPr id="17" name="Text 11"/>
          <p:cNvSpPr txBox="1"/>
          <p:nvPr/>
        </p:nvSpPr>
        <p:spPr>
          <a:xfrm>
            <a:off x="1143000" y="3621024"/>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Scored on the server</a:t>
            </a:r>
            <a:endParaRPr lang="en-US" sz="1600" dirty="0"/>
          </a:p>
        </p:txBody>
      </p:sp>
      <p:sp>
        <p:nvSpPr>
          <p:cNvPr id="18" name="Text 12"/>
          <p:cNvSpPr txBox="1"/>
          <p:nvPr/>
        </p:nvSpPr>
        <p:spPr>
          <a:xfrm>
            <a:off x="1143000" y="3913632"/>
            <a:ext cx="4023360" cy="502920"/>
          </a:xfrm>
          <a:prstGeom prst="rect">
            <a:avLst/>
          </a:prstGeom>
          <a:noFill/>
          <a:ln/>
        </p:spPr>
        <p:txBody>
          <a:bodyPr wrap="square" lIns="0" tIns="0" rIns="0" bIns="0" rtlCol="0" anchor="t"/>
          <a:lstStyle/>
          <a:p>
            <a:pPr indent="0" marL="0">
              <a:buNone/>
            </a:pPr>
            <a:r>
              <a:rPr lang="en-US" sz="1300" dirty="0">
                <a:solidFill>
                  <a:schemeClr val="tx1"/>
                </a:solidFill>
              </a:rPr>
              <a:t>The phone sends answers; the server scores and saves them, so nobody can edit a result.</a:t>
            </a:r>
            <a:endParaRPr lang="en-US" sz="1300" dirty="0"/>
          </a:p>
        </p:txBody>
      </p:sp>
      <p:sp>
        <p:nvSpPr>
          <p:cNvPr id="19" name="Interest question screen frame"/>
          <p:cNvSpPr/>
          <p:nvPr/>
        </p:nvSpPr>
        <p:spPr>
          <a:xfrm>
            <a:off x="5449824" y="1060704"/>
            <a:ext cx="1593598" cy="3364992"/>
          </a:xfrm>
          <a:prstGeom prst="roundRect">
            <a:avLst>
              <a:gd name="adj" fmla="val 9181"/>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20" name="Interest question screen" descr="Interest question screen">    </p:cNvPr>
          <p:cNvPicPr>
            <a:picLocks noChangeAspect="1"/>
          </p:cNvPicPr>
          <p:nvPr/>
        </p:nvPicPr>
        <p:blipFill>
          <a:blip r:embed="rId5"/>
          <a:stretch>
            <a:fillRect/>
          </a:stretch>
        </p:blipFill>
        <p:spPr>
          <a:xfrm>
            <a:off x="5486400" y="1097280"/>
            <a:ext cx="1520446" cy="3291840"/>
          </a:xfrm>
          <a:prstGeom prst="rect">
            <a:avLst/>
          </a:prstGeom>
        </p:spPr>
      </p:pic>
      <p:sp>
        <p:nvSpPr>
          <p:cNvPr id="21" name="Personality question screen frame"/>
          <p:cNvSpPr/>
          <p:nvPr/>
        </p:nvSpPr>
        <p:spPr>
          <a:xfrm>
            <a:off x="7141464" y="1289304"/>
            <a:ext cx="1488012" cy="3136392"/>
          </a:xfrm>
          <a:prstGeom prst="roundRect">
            <a:avLst>
              <a:gd name="adj" fmla="val 9832"/>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22" name="Personality question screen" descr="Personality question screen">    </p:cNvPr>
          <p:cNvPicPr>
            <a:picLocks noChangeAspect="1"/>
          </p:cNvPicPr>
          <p:nvPr/>
        </p:nvPicPr>
        <p:blipFill>
          <a:blip r:embed="rId6"/>
          <a:stretch>
            <a:fillRect/>
          </a:stretch>
        </p:blipFill>
        <p:spPr>
          <a:xfrm>
            <a:off x="7178040" y="1325880"/>
            <a:ext cx="1414860" cy="3063240"/>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Psychometrics, done responsibly</a:t>
            </a:r>
            <a:endParaRPr lang="en-US" sz="2800" dirty="0"/>
          </a:p>
        </p:txBody>
      </p:sp>
      <p:sp>
        <p:nvSpPr>
          <p:cNvPr id="3" name="psychometrics 1"/>
          <p:cNvSpPr/>
          <p:nvPr/>
        </p:nvSpPr>
        <p:spPr>
          <a:xfrm>
            <a:off x="457200" y="1143000"/>
            <a:ext cx="2606040" cy="3154680"/>
          </a:xfrm>
          <a:prstGeom prst="roundRect">
            <a:avLst>
              <a:gd name="adj" fmla="val 4211"/>
            </a:avLst>
          </a:prstGeom>
          <a:solidFill>
            <a:schemeClr val="bg2"/>
          </a:solidFill>
          <a:ln/>
        </p:spPr>
      </p:sp>
      <p:sp>
        <p:nvSpPr>
          <p:cNvPr id="4" name="psychometrics 1 circle"/>
          <p:cNvSpPr/>
          <p:nvPr/>
        </p:nvSpPr>
        <p:spPr>
          <a:xfrm>
            <a:off x="640080" y="1325880"/>
            <a:ext cx="457200" cy="457200"/>
          </a:xfrm>
          <a:prstGeom prst="ellipse">
            <a:avLst/>
          </a:prstGeom>
          <a:solidFill>
            <a:schemeClr val="accent1"/>
          </a:solidFill>
          <a:ln/>
        </p:spPr>
      </p:sp>
      <p:pic>
        <p:nvPicPr>
          <p:cNvPr id="5" name="psychometrics 1 icon" descr="preencoded.png">    </p:cNvPr>
          <p:cNvPicPr>
            <a:picLocks noChangeAspect="1"/>
          </p:cNvPicPr>
          <p:nvPr/>
        </p:nvPicPr>
        <p:blipFill>
          <a:blip r:embed="rId1"/>
          <a:stretch>
            <a:fillRect/>
          </a:stretch>
        </p:blipFill>
        <p:spPr>
          <a:xfrm>
            <a:off x="758952" y="1444752"/>
            <a:ext cx="219456" cy="219456"/>
          </a:xfrm>
          <a:prstGeom prst="rect">
            <a:avLst/>
          </a:prstGeom>
        </p:spPr>
      </p:pic>
      <p:sp>
        <p:nvSpPr>
          <p:cNvPr id="6" name="Text 3"/>
          <p:cNvSpPr txBox="1"/>
          <p:nvPr/>
        </p:nvSpPr>
        <p:spPr>
          <a:xfrm>
            <a:off x="1207008" y="13258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What we measure</a:t>
            </a:r>
            <a:endParaRPr lang="en-US" sz="1600" dirty="0"/>
          </a:p>
        </p:txBody>
      </p:sp>
      <p:sp>
        <p:nvSpPr>
          <p:cNvPr id="7" name="Text 4"/>
          <p:cNvSpPr txBox="1"/>
          <p:nvPr/>
        </p:nvSpPr>
        <p:spPr>
          <a:xfrm>
            <a:off x="640080" y="1920240"/>
            <a:ext cx="2286000" cy="22402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Interests: 36 everyday activities, six per RIASEC type, from “really dislike” to “really like”.</a:t>
            </a:r>
            <a:endParaRPr lang="en-US" sz="1200" dirty="0"/>
          </a:p>
          <a:p>
            <a:pPr marL="152400" indent="-152400">
              <a:spcAft>
                <a:spcPts val="600"/>
              </a:spcAft>
              <a:buSzPct val="100000"/>
              <a:buChar char="•"/>
            </a:pPr>
            <a:r>
              <a:rPr lang="en-US" sz="1200" dirty="0">
                <a:solidFill>
                  <a:schemeClr val="tx1"/>
                </a:solidFill>
              </a:rPr>
              <a:t>Personality: the Big Five, with the 20-item public-domain Mini-IPIP.</a:t>
            </a:r>
            <a:endParaRPr lang="en-US" sz="1200" dirty="0"/>
          </a:p>
        </p:txBody>
      </p:sp>
      <p:sp>
        <p:nvSpPr>
          <p:cNvPr id="8" name="psychometrics 2"/>
          <p:cNvSpPr/>
          <p:nvPr/>
        </p:nvSpPr>
        <p:spPr>
          <a:xfrm>
            <a:off x="3246120" y="1143000"/>
            <a:ext cx="2606040" cy="3154680"/>
          </a:xfrm>
          <a:prstGeom prst="roundRect">
            <a:avLst>
              <a:gd name="adj" fmla="val 4211"/>
            </a:avLst>
          </a:prstGeom>
          <a:solidFill>
            <a:schemeClr val="bg2"/>
          </a:solidFill>
          <a:ln/>
        </p:spPr>
      </p:sp>
      <p:sp>
        <p:nvSpPr>
          <p:cNvPr id="9" name="psychometrics 2 circle"/>
          <p:cNvSpPr/>
          <p:nvPr/>
        </p:nvSpPr>
        <p:spPr>
          <a:xfrm>
            <a:off x="3429000" y="1325880"/>
            <a:ext cx="457200" cy="457200"/>
          </a:xfrm>
          <a:prstGeom prst="ellipse">
            <a:avLst/>
          </a:prstGeom>
          <a:solidFill>
            <a:schemeClr val="accent2"/>
          </a:solidFill>
          <a:ln/>
        </p:spPr>
      </p:sp>
      <p:pic>
        <p:nvPicPr>
          <p:cNvPr id="10" name="psychometrics 2 icon" descr="preencoded.png">    </p:cNvPr>
          <p:cNvPicPr>
            <a:picLocks noChangeAspect="1"/>
          </p:cNvPicPr>
          <p:nvPr/>
        </p:nvPicPr>
        <p:blipFill>
          <a:blip r:embed="rId2"/>
          <a:stretch>
            <a:fillRect/>
          </a:stretch>
        </p:blipFill>
        <p:spPr>
          <a:xfrm>
            <a:off x="3547872" y="1444752"/>
            <a:ext cx="219456" cy="219456"/>
          </a:xfrm>
          <a:prstGeom prst="rect">
            <a:avLst/>
          </a:prstGeom>
        </p:spPr>
      </p:pic>
      <p:sp>
        <p:nvSpPr>
          <p:cNvPr id="11" name="Text 7"/>
          <p:cNvSpPr txBox="1"/>
          <p:nvPr/>
        </p:nvSpPr>
        <p:spPr>
          <a:xfrm>
            <a:off x="3995928" y="13258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How it is scored</a:t>
            </a:r>
            <a:endParaRPr lang="en-US" sz="1600" dirty="0"/>
          </a:p>
        </p:txBody>
      </p:sp>
      <p:sp>
        <p:nvSpPr>
          <p:cNvPr id="12" name="Text 8"/>
          <p:cNvSpPr txBox="1"/>
          <p:nvPr/>
        </p:nvSpPr>
        <p:spPr>
          <a:xfrm>
            <a:off x="3429000" y="1920240"/>
            <a:ext cx="2286000" cy="22402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Each type scores the share of “really like” it got; the top three form the interest code.</a:t>
            </a:r>
            <a:endParaRPr lang="en-US" sz="1200" dirty="0"/>
          </a:p>
          <a:p>
            <a:pPr marL="152400" indent="-152400">
              <a:spcAft>
                <a:spcPts val="600"/>
              </a:spcAft>
              <a:buSzPct val="100000"/>
              <a:buChar char="•"/>
            </a:pPr>
            <a:r>
              <a:rPr lang="en-US" sz="1200" dirty="0">
                <a:solidFill>
                  <a:schemeClr val="tx1"/>
                </a:solidFill>
              </a:rPr>
              <a:t>Careers are ranked by how well their RIASEC code matches the student’s.</a:t>
            </a:r>
            <a:endParaRPr lang="en-US" sz="1200" dirty="0"/>
          </a:p>
          <a:p>
            <a:pPr marL="152400" indent="-152400">
              <a:spcAft>
                <a:spcPts val="600"/>
              </a:spcAft>
              <a:buSzPct val="100000"/>
              <a:buChar char="•"/>
            </a:pPr>
            <a:r>
              <a:rPr lang="en-US" sz="1200" dirty="0">
                <a:solidFill>
                  <a:schemeClr val="tx1"/>
                </a:solidFill>
              </a:rPr>
              <a:t>Scored on the server only.</a:t>
            </a:r>
            <a:endParaRPr lang="en-US" sz="1200" dirty="0"/>
          </a:p>
        </p:txBody>
      </p:sp>
      <p:sp>
        <p:nvSpPr>
          <p:cNvPr id="13" name="psychometrics 3"/>
          <p:cNvSpPr/>
          <p:nvPr/>
        </p:nvSpPr>
        <p:spPr>
          <a:xfrm>
            <a:off x="6035040" y="1143000"/>
            <a:ext cx="2606040" cy="3154680"/>
          </a:xfrm>
          <a:prstGeom prst="roundRect">
            <a:avLst>
              <a:gd name="adj" fmla="val 4211"/>
            </a:avLst>
          </a:prstGeom>
          <a:solidFill>
            <a:schemeClr val="bg2"/>
          </a:solidFill>
          <a:ln/>
        </p:spPr>
      </p:sp>
      <p:sp>
        <p:nvSpPr>
          <p:cNvPr id="14" name="psychometrics 3 circle"/>
          <p:cNvSpPr/>
          <p:nvPr/>
        </p:nvSpPr>
        <p:spPr>
          <a:xfrm>
            <a:off x="6217920" y="1325880"/>
            <a:ext cx="457200" cy="457200"/>
          </a:xfrm>
          <a:prstGeom prst="ellipse">
            <a:avLst/>
          </a:prstGeom>
          <a:solidFill>
            <a:schemeClr val="accent3"/>
          </a:solidFill>
          <a:ln/>
        </p:spPr>
      </p:sp>
      <p:pic>
        <p:nvPicPr>
          <p:cNvPr id="15" name="psychometrics 3 icon" descr="preencoded.png">    </p:cNvPr>
          <p:cNvPicPr>
            <a:picLocks noChangeAspect="1"/>
          </p:cNvPicPr>
          <p:nvPr/>
        </p:nvPicPr>
        <p:blipFill>
          <a:blip r:embed="rId3"/>
          <a:stretch>
            <a:fillRect/>
          </a:stretch>
        </p:blipFill>
        <p:spPr>
          <a:xfrm>
            <a:off x="6336792" y="1444752"/>
            <a:ext cx="219456" cy="219456"/>
          </a:xfrm>
          <a:prstGeom prst="rect">
            <a:avLst/>
          </a:prstGeom>
        </p:spPr>
      </p:pic>
      <p:sp>
        <p:nvSpPr>
          <p:cNvPr id="16" name="Text 11"/>
          <p:cNvSpPr txBox="1"/>
          <p:nvPr/>
        </p:nvSpPr>
        <p:spPr>
          <a:xfrm>
            <a:off x="6784848" y="13258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Safeguards</a:t>
            </a:r>
            <a:endParaRPr lang="en-US" sz="1600" dirty="0"/>
          </a:p>
        </p:txBody>
      </p:sp>
      <p:sp>
        <p:nvSpPr>
          <p:cNvPr id="17" name="Text 12"/>
          <p:cNvSpPr txBox="1"/>
          <p:nvPr/>
        </p:nvSpPr>
        <p:spPr>
          <a:xfrm>
            <a:off x="6217920" y="1920240"/>
            <a:ext cx="2286000" cy="22402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No ranking against other students.</a:t>
            </a:r>
            <a:endParaRPr lang="en-US" sz="1200" dirty="0"/>
          </a:p>
          <a:p>
            <a:pPr marL="152400" indent="-152400">
              <a:spcAft>
                <a:spcPts val="600"/>
              </a:spcAft>
              <a:buSzPct val="100000"/>
              <a:buChar char="•"/>
            </a:pPr>
            <a:r>
              <a:rPr lang="en-US" sz="1200" dirty="0">
                <a:solidFill>
                  <a:schemeClr val="tx1"/>
                </a:solidFill>
              </a:rPr>
              <a:t>Every trait framed as a strength; Neuroticism shown as Calmness.</a:t>
            </a:r>
            <a:endParaRPr lang="en-US" sz="1200" dirty="0"/>
          </a:p>
          <a:p>
            <a:pPr marL="152400" indent="-152400">
              <a:spcAft>
                <a:spcPts val="600"/>
              </a:spcAft>
              <a:buSzPct val="100000"/>
              <a:buChar char="•"/>
            </a:pPr>
            <a:r>
              <a:rPr lang="en-US" sz="1200" dirty="0">
                <a:solidFill>
                  <a:schemeClr val="tx1"/>
                </a:solidFill>
              </a:rPr>
              <a:t>Flags “same answer to everything”.</a:t>
            </a:r>
            <a:endParaRPr lang="en-US" sz="1200" dirty="0"/>
          </a:p>
          <a:p>
            <a:pPr marL="152400" indent="-152400">
              <a:spcAft>
                <a:spcPts val="600"/>
              </a:spcAft>
              <a:buSzPct val="100000"/>
              <a:buChar char="•"/>
            </a:pPr>
            <a:r>
              <a:rPr lang="en-US" sz="1200" dirty="0">
                <a:solidFill>
                  <a:schemeClr val="tx1"/>
                </a:solidFill>
              </a:rPr>
              <a:t>Called a starting point, not a verdict.</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A report written for the student, not the counsellor</a:t>
            </a:r>
            <a:endParaRPr lang="en-US" sz="2800" dirty="0"/>
          </a:p>
        </p:txBody>
      </p:sp>
      <p:sp>
        <p:nvSpPr>
          <p:cNvPr id="3" name="Report summary screen frame"/>
          <p:cNvSpPr/>
          <p:nvPr/>
        </p:nvSpPr>
        <p:spPr>
          <a:xfrm>
            <a:off x="420624" y="1060704"/>
            <a:ext cx="1593598" cy="3364992"/>
          </a:xfrm>
          <a:prstGeom prst="roundRect">
            <a:avLst>
              <a:gd name="adj" fmla="val 9181"/>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4" name="Report summary screen" descr="Report summary screen">    </p:cNvPr>
          <p:cNvPicPr>
            <a:picLocks noChangeAspect="1"/>
          </p:cNvPicPr>
          <p:nvPr/>
        </p:nvPicPr>
        <p:blipFill>
          <a:blip r:embed="rId1"/>
          <a:stretch>
            <a:fillRect/>
          </a:stretch>
        </p:blipFill>
        <p:spPr>
          <a:xfrm>
            <a:off x="457200" y="1097280"/>
            <a:ext cx="1520446" cy="3291840"/>
          </a:xfrm>
          <a:prstGeom prst="rect">
            <a:avLst/>
          </a:prstGeom>
        </p:spPr>
      </p:pic>
      <p:sp>
        <p:nvSpPr>
          <p:cNvPr id="5" name="Report careers screen frame"/>
          <p:cNvSpPr/>
          <p:nvPr/>
        </p:nvSpPr>
        <p:spPr>
          <a:xfrm>
            <a:off x="2112264" y="1289304"/>
            <a:ext cx="1488012" cy="3136392"/>
          </a:xfrm>
          <a:prstGeom prst="roundRect">
            <a:avLst>
              <a:gd name="adj" fmla="val 9832"/>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6" name="Report careers screen" descr="Report careers screen">    </p:cNvPr>
          <p:cNvPicPr>
            <a:picLocks noChangeAspect="1"/>
          </p:cNvPicPr>
          <p:nvPr/>
        </p:nvPicPr>
        <p:blipFill>
          <a:blip r:embed="rId2"/>
          <a:stretch>
            <a:fillRect/>
          </a:stretch>
        </p:blipFill>
        <p:spPr>
          <a:xfrm>
            <a:off x="2148840" y="1325880"/>
            <a:ext cx="1414860" cy="3063240"/>
          </a:xfrm>
          <a:prstGeom prst="rect">
            <a:avLst/>
          </a:prstGeom>
        </p:spPr>
      </p:pic>
      <p:sp>
        <p:nvSpPr>
          <p:cNvPr id="7" name="report point 1 marker"/>
          <p:cNvSpPr/>
          <p:nvPr/>
        </p:nvSpPr>
        <p:spPr>
          <a:xfrm>
            <a:off x="4160520" y="1133856"/>
            <a:ext cx="329184" cy="329184"/>
          </a:xfrm>
          <a:prstGeom prst="ellipse">
            <a:avLst/>
          </a:prstGeom>
          <a:solidFill>
            <a:schemeClr val="accent1"/>
          </a:solidFill>
          <a:ln/>
        </p:spPr>
      </p:sp>
      <p:sp>
        <p:nvSpPr>
          <p:cNvPr id="8" name="Text 4"/>
          <p:cNvSpPr txBox="1"/>
          <p:nvPr/>
        </p:nvSpPr>
        <p:spPr>
          <a:xfrm>
            <a:off x="4160520" y="113385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5"/>
          <p:cNvSpPr txBox="1"/>
          <p:nvPr/>
        </p:nvSpPr>
        <p:spPr>
          <a:xfrm>
            <a:off x="4663440" y="1097280"/>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Their interest code</a:t>
            </a:r>
            <a:endParaRPr lang="en-US" sz="1600" dirty="0"/>
          </a:p>
        </p:txBody>
      </p:sp>
      <p:sp>
        <p:nvSpPr>
          <p:cNvPr id="10" name="Text 6"/>
          <p:cNvSpPr txBox="1"/>
          <p:nvPr/>
        </p:nvSpPr>
        <p:spPr>
          <a:xfrm>
            <a:off x="4663440" y="1389888"/>
            <a:ext cx="4023360" cy="475488"/>
          </a:xfrm>
          <a:prstGeom prst="rect">
            <a:avLst/>
          </a:prstGeom>
          <a:noFill/>
          <a:ln/>
        </p:spPr>
        <p:txBody>
          <a:bodyPr wrap="square" lIns="0" tIns="0" rIns="0" bIns="0" rtlCol="0" anchor="t"/>
          <a:lstStyle/>
          <a:p>
            <a:pPr indent="0" marL="0">
              <a:buNone/>
            </a:pPr>
            <a:r>
              <a:rPr lang="en-US" sz="1300" dirty="0">
                <a:solidFill>
                  <a:schemeClr val="tx1"/>
                </a:solidFill>
              </a:rPr>
              <a:t>e.g. Creator · Helper · Thinker, with what each means.</a:t>
            </a:r>
            <a:endParaRPr lang="en-US" sz="1300" dirty="0"/>
          </a:p>
        </p:txBody>
      </p:sp>
      <p:sp>
        <p:nvSpPr>
          <p:cNvPr id="11" name="report point 2 marker"/>
          <p:cNvSpPr/>
          <p:nvPr/>
        </p:nvSpPr>
        <p:spPr>
          <a:xfrm>
            <a:off x="4160520" y="1938528"/>
            <a:ext cx="329184" cy="329184"/>
          </a:xfrm>
          <a:prstGeom prst="ellipse">
            <a:avLst/>
          </a:prstGeom>
          <a:solidFill>
            <a:schemeClr val="accent1"/>
          </a:solidFill>
          <a:ln/>
        </p:spPr>
      </p:sp>
      <p:sp>
        <p:nvSpPr>
          <p:cNvPr id="12" name="Text 8"/>
          <p:cNvSpPr txBox="1"/>
          <p:nvPr/>
        </p:nvSpPr>
        <p:spPr>
          <a:xfrm>
            <a:off x="4160520" y="19385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9"/>
          <p:cNvSpPr txBox="1"/>
          <p:nvPr/>
        </p:nvSpPr>
        <p:spPr>
          <a:xfrm>
            <a:off x="4663440" y="1901952"/>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Strengths, never weaknesses</a:t>
            </a:r>
            <a:endParaRPr lang="en-US" sz="1600" dirty="0"/>
          </a:p>
        </p:txBody>
      </p:sp>
      <p:sp>
        <p:nvSpPr>
          <p:cNvPr id="14" name="Text 10"/>
          <p:cNvSpPr txBox="1"/>
          <p:nvPr/>
        </p:nvSpPr>
        <p:spPr>
          <a:xfrm>
            <a:off x="4663440" y="2194560"/>
            <a:ext cx="4023360" cy="475488"/>
          </a:xfrm>
          <a:prstGeom prst="rect">
            <a:avLst/>
          </a:prstGeom>
          <a:noFill/>
          <a:ln/>
        </p:spPr>
        <p:txBody>
          <a:bodyPr wrap="square" lIns="0" tIns="0" rIns="0" bIns="0" rtlCol="0" anchor="t"/>
          <a:lstStyle/>
          <a:p>
            <a:pPr indent="0" marL="0">
              <a:buNone/>
            </a:pPr>
            <a:r>
              <a:rPr lang="en-US" sz="1300" dirty="0">
                <a:solidFill>
                  <a:schemeClr val="tx1"/>
                </a:solidFill>
              </a:rPr>
              <a:t>Every level of every trait is a way of being that suits some work. Neuroticism is shown as Calmness.</a:t>
            </a:r>
            <a:endParaRPr lang="en-US" sz="1300" dirty="0"/>
          </a:p>
        </p:txBody>
      </p:sp>
      <p:sp>
        <p:nvSpPr>
          <p:cNvPr id="15" name="report point 3 marker"/>
          <p:cNvSpPr/>
          <p:nvPr/>
        </p:nvSpPr>
        <p:spPr>
          <a:xfrm>
            <a:off x="4160520" y="2743200"/>
            <a:ext cx="329184" cy="329184"/>
          </a:xfrm>
          <a:prstGeom prst="ellipse">
            <a:avLst/>
          </a:prstGeom>
          <a:solidFill>
            <a:schemeClr val="accent1"/>
          </a:solidFill>
          <a:ln/>
        </p:spPr>
      </p:sp>
      <p:sp>
        <p:nvSpPr>
          <p:cNvPr id="16" name="Text 12"/>
          <p:cNvSpPr txBox="1"/>
          <p:nvPr/>
        </p:nvSpPr>
        <p:spPr>
          <a:xfrm>
            <a:off x="4160520" y="27432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3"/>
          <p:cNvSpPr txBox="1"/>
          <p:nvPr/>
        </p:nvSpPr>
        <p:spPr>
          <a:xfrm>
            <a:off x="4663440" y="2706624"/>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Six careers that fit</a:t>
            </a:r>
            <a:endParaRPr lang="en-US" sz="1600" dirty="0"/>
          </a:p>
        </p:txBody>
      </p:sp>
      <p:sp>
        <p:nvSpPr>
          <p:cNvPr id="18" name="Text 14"/>
          <p:cNvSpPr txBox="1"/>
          <p:nvPr/>
        </p:nvSpPr>
        <p:spPr>
          <a:xfrm>
            <a:off x="4663440" y="2999232"/>
            <a:ext cx="4023360" cy="475488"/>
          </a:xfrm>
          <a:prstGeom prst="rect">
            <a:avLst/>
          </a:prstGeom>
          <a:noFill/>
          <a:ln/>
        </p:spPr>
        <p:txBody>
          <a:bodyPr wrap="square" lIns="0" tIns="0" rIns="0" bIns="0" rtlCol="0" anchor="t"/>
          <a:lstStyle/>
          <a:p>
            <a:pPr indent="0" marL="0">
              <a:buNone/>
            </a:pPr>
            <a:r>
              <a:rPr lang="en-US" sz="1300" dirty="0">
                <a:solidFill>
                  <a:schemeClr val="tx1"/>
                </a:solidFill>
              </a:rPr>
              <a:t>Each with what the job is and how to get there from Class 10.</a:t>
            </a:r>
            <a:endParaRPr lang="en-US" sz="1300" dirty="0"/>
          </a:p>
        </p:txBody>
      </p:sp>
      <p:sp>
        <p:nvSpPr>
          <p:cNvPr id="19" name="report point 4 marker"/>
          <p:cNvSpPr/>
          <p:nvPr/>
        </p:nvSpPr>
        <p:spPr>
          <a:xfrm>
            <a:off x="4160520" y="3547872"/>
            <a:ext cx="329184" cy="329184"/>
          </a:xfrm>
          <a:prstGeom prst="ellipse">
            <a:avLst/>
          </a:prstGeom>
          <a:solidFill>
            <a:schemeClr val="accent1"/>
          </a:solidFill>
          <a:ln/>
        </p:spPr>
      </p:sp>
      <p:sp>
        <p:nvSpPr>
          <p:cNvPr id="20" name="Text 16"/>
          <p:cNvSpPr txBox="1"/>
          <p:nvPr/>
        </p:nvSpPr>
        <p:spPr>
          <a:xfrm>
            <a:off x="4160520" y="35478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7"/>
          <p:cNvSpPr txBox="1"/>
          <p:nvPr/>
        </p:nvSpPr>
        <p:spPr>
          <a:xfrm>
            <a:off x="4663440" y="3511296"/>
            <a:ext cx="4023360" cy="292608"/>
          </a:xfrm>
          <a:prstGeom prst="rect">
            <a:avLst/>
          </a:prstGeom>
          <a:noFill/>
          <a:ln/>
        </p:spPr>
        <p:txBody>
          <a:bodyPr wrap="square" lIns="0" tIns="0" rIns="0" bIns="0" rtlCol="0" anchor="ctr"/>
          <a:lstStyle/>
          <a:p>
            <a:pPr indent="0" marL="0">
              <a:buNone/>
            </a:pPr>
            <a:r>
              <a:rPr lang="en-US" sz="1600" b="1" dirty="0">
                <a:solidFill>
                  <a:schemeClr val="tx2"/>
                </a:solidFill>
              </a:rPr>
              <a:t>Next steps — and a printout</a:t>
            </a:r>
            <a:endParaRPr lang="en-US" sz="1600" dirty="0"/>
          </a:p>
        </p:txBody>
      </p:sp>
      <p:sp>
        <p:nvSpPr>
          <p:cNvPr id="22" name="Text 18"/>
          <p:cNvSpPr txBox="1"/>
          <p:nvPr/>
        </p:nvSpPr>
        <p:spPr>
          <a:xfrm>
            <a:off x="4663440" y="3803904"/>
            <a:ext cx="4023360" cy="475488"/>
          </a:xfrm>
          <a:prstGeom prst="rect">
            <a:avLst/>
          </a:prstGeom>
          <a:noFill/>
          <a:ln/>
        </p:spPr>
        <p:txBody>
          <a:bodyPr wrap="square" lIns="0" tIns="0" rIns="0" bIns="0" rtlCol="0" anchor="t"/>
          <a:lstStyle/>
          <a:p>
            <a:pPr indent="0" marL="0">
              <a:buNone/>
            </a:pPr>
            <a:r>
              <a:rPr lang="en-US" sz="1300" dirty="0">
                <a:solidFill>
                  <a:schemeClr val="tx1"/>
                </a:solidFill>
              </a:rPr>
              <a:t>What to do this month, and a print-ready page to discuss at home.</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How it guides a student, step by step</a:t>
            </a:r>
            <a:endParaRPr lang="en-US" sz="2800" dirty="0"/>
          </a:p>
        </p:txBody>
      </p:sp>
      <p:sp>
        <p:nvSpPr>
          <p:cNvPr id="3" name="guide step 1"/>
          <p:cNvSpPr/>
          <p:nvPr/>
        </p:nvSpPr>
        <p:spPr>
          <a:xfrm>
            <a:off x="457200" y="1143000"/>
            <a:ext cx="2606040" cy="1371600"/>
          </a:xfrm>
          <a:prstGeom prst="roundRect">
            <a:avLst>
              <a:gd name="adj" fmla="val 8000"/>
            </a:avLst>
          </a:prstGeom>
          <a:solidFill>
            <a:schemeClr val="bg2"/>
          </a:solidFill>
          <a:ln w="12700">
            <a:solidFill>
              <a:srgbClr val="DBEAFE"/>
            </a:solidFill>
            <a:prstDash val="solid"/>
          </a:ln>
        </p:spPr>
      </p:sp>
      <p:sp>
        <p:nvSpPr>
          <p:cNvPr id="4" name="guide step 1 number"/>
          <p:cNvSpPr/>
          <p:nvPr/>
        </p:nvSpPr>
        <p:spPr>
          <a:xfrm>
            <a:off x="621792" y="1307592"/>
            <a:ext cx="457200" cy="457200"/>
          </a:xfrm>
          <a:prstGeom prst="ellipse">
            <a:avLst/>
          </a:prstGeom>
          <a:solidFill>
            <a:schemeClr val="accent2"/>
          </a:solidFill>
          <a:ln/>
        </p:spPr>
      </p:sp>
      <p:sp>
        <p:nvSpPr>
          <p:cNvPr id="5" name="Text 3"/>
          <p:cNvSpPr txBox="1"/>
          <p:nvPr/>
        </p:nvSpPr>
        <p:spPr>
          <a:xfrm>
            <a:off x="621792" y="130759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Text 4"/>
          <p:cNvSpPr txBox="1"/>
          <p:nvPr/>
        </p:nvSpPr>
        <p:spPr>
          <a:xfrm>
            <a:off x="1207008" y="1307592"/>
            <a:ext cx="1280160" cy="457200"/>
          </a:xfrm>
          <a:prstGeom prst="rect">
            <a:avLst/>
          </a:prstGeom>
          <a:noFill/>
          <a:ln/>
        </p:spPr>
        <p:txBody>
          <a:bodyPr wrap="square" lIns="0" tIns="0" rIns="0" bIns="0" rtlCol="0" anchor="ctr"/>
          <a:lstStyle/>
          <a:p>
            <a:pPr indent="0" marL="0">
              <a:buNone/>
            </a:pPr>
            <a:r>
              <a:rPr lang="en-US" sz="1700" b="1" dirty="0">
                <a:solidFill>
                  <a:schemeClr val="tx2"/>
                </a:solidFill>
              </a:rPr>
              <a:t>Discover</a:t>
            </a:r>
            <a:endParaRPr lang="en-US" sz="1700" dirty="0"/>
          </a:p>
        </p:txBody>
      </p:sp>
      <p:sp>
        <p:nvSpPr>
          <p:cNvPr id="7" name="guide step 1 icon circle"/>
          <p:cNvSpPr/>
          <p:nvPr/>
        </p:nvSpPr>
        <p:spPr>
          <a:xfrm>
            <a:off x="2514600" y="1325880"/>
            <a:ext cx="402336" cy="402336"/>
          </a:xfrm>
          <a:prstGeom prst="ellipse">
            <a:avLst/>
          </a:prstGeom>
          <a:solidFill>
            <a:schemeClr val="accent1"/>
          </a:solidFill>
          <a:ln/>
        </p:spPr>
      </p:sp>
      <p:pic>
        <p:nvPicPr>
          <p:cNvPr id="8" name="guide step 1 icon icon" descr="preencoded.png">    </p:cNvPr>
          <p:cNvPicPr>
            <a:picLocks noChangeAspect="1"/>
          </p:cNvPicPr>
          <p:nvPr/>
        </p:nvPicPr>
        <p:blipFill>
          <a:blip r:embed="rId1"/>
          <a:stretch>
            <a:fillRect/>
          </a:stretch>
        </p:blipFill>
        <p:spPr>
          <a:xfrm>
            <a:off x="2619207" y="1430487"/>
            <a:ext cx="193121" cy="193121"/>
          </a:xfrm>
          <a:prstGeom prst="rect">
            <a:avLst/>
          </a:prstGeom>
        </p:spPr>
      </p:pic>
      <p:sp>
        <p:nvSpPr>
          <p:cNvPr id="9" name="Text 6"/>
          <p:cNvSpPr txBox="1"/>
          <p:nvPr/>
        </p:nvSpPr>
        <p:spPr>
          <a:xfrm>
            <a:off x="621792" y="1874520"/>
            <a:ext cx="2286000" cy="566928"/>
          </a:xfrm>
          <a:prstGeom prst="rect">
            <a:avLst/>
          </a:prstGeom>
          <a:noFill/>
          <a:ln/>
        </p:spPr>
        <p:txBody>
          <a:bodyPr wrap="square" lIns="0" tIns="0" rIns="0" bIns="0" rtlCol="0" anchor="t"/>
          <a:lstStyle/>
          <a:p>
            <a:pPr indent="0" marL="0">
              <a:buNone/>
            </a:pPr>
            <a:r>
              <a:rPr lang="en-US" sz="1300" dirty="0">
                <a:solidFill>
                  <a:schemeClr val="tx1"/>
                </a:solidFill>
              </a:rPr>
              <a:t>Take the 10-minute test on any phone.</a:t>
            </a:r>
            <a:endParaRPr lang="en-US" sz="1300" dirty="0"/>
          </a:p>
        </p:txBody>
      </p:sp>
      <p:sp>
        <p:nvSpPr>
          <p:cNvPr id="10" name="guide step 2"/>
          <p:cNvSpPr/>
          <p:nvPr/>
        </p:nvSpPr>
        <p:spPr>
          <a:xfrm>
            <a:off x="3246120" y="1143000"/>
            <a:ext cx="2606040" cy="1371600"/>
          </a:xfrm>
          <a:prstGeom prst="roundRect">
            <a:avLst>
              <a:gd name="adj" fmla="val 8000"/>
            </a:avLst>
          </a:prstGeom>
          <a:solidFill>
            <a:schemeClr val="bg2"/>
          </a:solidFill>
          <a:ln w="12700">
            <a:solidFill>
              <a:srgbClr val="DBEAFE"/>
            </a:solidFill>
            <a:prstDash val="solid"/>
          </a:ln>
        </p:spPr>
      </p:sp>
      <p:sp>
        <p:nvSpPr>
          <p:cNvPr id="11" name="guide step 2 number"/>
          <p:cNvSpPr/>
          <p:nvPr/>
        </p:nvSpPr>
        <p:spPr>
          <a:xfrm>
            <a:off x="3410712" y="1307592"/>
            <a:ext cx="457200" cy="457200"/>
          </a:xfrm>
          <a:prstGeom prst="ellipse">
            <a:avLst/>
          </a:prstGeom>
          <a:solidFill>
            <a:schemeClr val="accent2"/>
          </a:solidFill>
          <a:ln/>
        </p:spPr>
      </p:sp>
      <p:sp>
        <p:nvSpPr>
          <p:cNvPr id="12" name="Text 9"/>
          <p:cNvSpPr txBox="1"/>
          <p:nvPr/>
        </p:nvSpPr>
        <p:spPr>
          <a:xfrm>
            <a:off x="3410712" y="130759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Text 10"/>
          <p:cNvSpPr txBox="1"/>
          <p:nvPr/>
        </p:nvSpPr>
        <p:spPr>
          <a:xfrm>
            <a:off x="3995928" y="1307592"/>
            <a:ext cx="1280160" cy="457200"/>
          </a:xfrm>
          <a:prstGeom prst="rect">
            <a:avLst/>
          </a:prstGeom>
          <a:noFill/>
          <a:ln/>
        </p:spPr>
        <p:txBody>
          <a:bodyPr wrap="square" lIns="0" tIns="0" rIns="0" bIns="0" rtlCol="0" anchor="ctr"/>
          <a:lstStyle/>
          <a:p>
            <a:pPr indent="0" marL="0">
              <a:buNone/>
            </a:pPr>
            <a:r>
              <a:rPr lang="en-US" sz="1700" b="1" dirty="0">
                <a:solidFill>
                  <a:schemeClr val="tx2"/>
                </a:solidFill>
              </a:rPr>
              <a:t>Understand</a:t>
            </a:r>
            <a:endParaRPr lang="en-US" sz="1700" dirty="0"/>
          </a:p>
        </p:txBody>
      </p:sp>
      <p:sp>
        <p:nvSpPr>
          <p:cNvPr id="14" name="guide step 2 icon circle"/>
          <p:cNvSpPr/>
          <p:nvPr/>
        </p:nvSpPr>
        <p:spPr>
          <a:xfrm>
            <a:off x="5303520" y="1325880"/>
            <a:ext cx="402336" cy="402336"/>
          </a:xfrm>
          <a:prstGeom prst="ellipse">
            <a:avLst/>
          </a:prstGeom>
          <a:solidFill>
            <a:schemeClr val="accent1"/>
          </a:solidFill>
          <a:ln/>
        </p:spPr>
      </p:sp>
      <p:pic>
        <p:nvPicPr>
          <p:cNvPr id="15" name="guide step 2 icon icon" descr="preencoded.png">    </p:cNvPr>
          <p:cNvPicPr>
            <a:picLocks noChangeAspect="1"/>
          </p:cNvPicPr>
          <p:nvPr/>
        </p:nvPicPr>
        <p:blipFill>
          <a:blip r:embed="rId2"/>
          <a:stretch>
            <a:fillRect/>
          </a:stretch>
        </p:blipFill>
        <p:spPr>
          <a:xfrm>
            <a:off x="5408127" y="1430487"/>
            <a:ext cx="193121" cy="193121"/>
          </a:xfrm>
          <a:prstGeom prst="rect">
            <a:avLst/>
          </a:prstGeom>
        </p:spPr>
      </p:pic>
      <p:sp>
        <p:nvSpPr>
          <p:cNvPr id="16" name="Text 12"/>
          <p:cNvSpPr txBox="1"/>
          <p:nvPr/>
        </p:nvSpPr>
        <p:spPr>
          <a:xfrm>
            <a:off x="3410712" y="1874520"/>
            <a:ext cx="2286000" cy="566928"/>
          </a:xfrm>
          <a:prstGeom prst="rect">
            <a:avLst/>
          </a:prstGeom>
          <a:noFill/>
          <a:ln/>
        </p:spPr>
        <p:txBody>
          <a:bodyPr wrap="square" lIns="0" tIns="0" rIns="0" bIns="0" rtlCol="0" anchor="t"/>
          <a:lstStyle/>
          <a:p>
            <a:pPr indent="0" marL="0">
              <a:buNone/>
            </a:pPr>
            <a:r>
              <a:rPr lang="en-US" sz="1300" dirty="0">
                <a:solidFill>
                  <a:schemeClr val="tx1"/>
                </a:solidFill>
              </a:rPr>
              <a:t>See their interest code and strengths in plain words.</a:t>
            </a:r>
            <a:endParaRPr lang="en-US" sz="1300" dirty="0"/>
          </a:p>
        </p:txBody>
      </p:sp>
      <p:sp>
        <p:nvSpPr>
          <p:cNvPr id="17" name="guide step 3"/>
          <p:cNvSpPr/>
          <p:nvPr/>
        </p:nvSpPr>
        <p:spPr>
          <a:xfrm>
            <a:off x="6035040" y="1143000"/>
            <a:ext cx="2606040" cy="1371600"/>
          </a:xfrm>
          <a:prstGeom prst="roundRect">
            <a:avLst>
              <a:gd name="adj" fmla="val 8000"/>
            </a:avLst>
          </a:prstGeom>
          <a:solidFill>
            <a:schemeClr val="bg2"/>
          </a:solidFill>
          <a:ln w="12700">
            <a:solidFill>
              <a:srgbClr val="DBEAFE"/>
            </a:solidFill>
            <a:prstDash val="solid"/>
          </a:ln>
        </p:spPr>
      </p:sp>
      <p:sp>
        <p:nvSpPr>
          <p:cNvPr id="18" name="guide step 3 number"/>
          <p:cNvSpPr/>
          <p:nvPr/>
        </p:nvSpPr>
        <p:spPr>
          <a:xfrm>
            <a:off x="6199632" y="1307592"/>
            <a:ext cx="457200" cy="457200"/>
          </a:xfrm>
          <a:prstGeom prst="ellipse">
            <a:avLst/>
          </a:prstGeom>
          <a:solidFill>
            <a:schemeClr val="accent2"/>
          </a:solidFill>
          <a:ln/>
        </p:spPr>
      </p:sp>
      <p:sp>
        <p:nvSpPr>
          <p:cNvPr id="19" name="Text 15"/>
          <p:cNvSpPr txBox="1"/>
          <p:nvPr/>
        </p:nvSpPr>
        <p:spPr>
          <a:xfrm>
            <a:off x="6199632" y="130759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0" name="Text 16"/>
          <p:cNvSpPr txBox="1"/>
          <p:nvPr/>
        </p:nvSpPr>
        <p:spPr>
          <a:xfrm>
            <a:off x="6784848" y="1307592"/>
            <a:ext cx="1280160" cy="457200"/>
          </a:xfrm>
          <a:prstGeom prst="rect">
            <a:avLst/>
          </a:prstGeom>
          <a:noFill/>
          <a:ln/>
        </p:spPr>
        <p:txBody>
          <a:bodyPr wrap="square" lIns="0" tIns="0" rIns="0" bIns="0" rtlCol="0" anchor="ctr"/>
          <a:lstStyle/>
          <a:p>
            <a:pPr indent="0" marL="0">
              <a:buNone/>
            </a:pPr>
            <a:r>
              <a:rPr lang="en-US" sz="1700" b="1" dirty="0">
                <a:solidFill>
                  <a:schemeClr val="tx2"/>
                </a:solidFill>
              </a:rPr>
              <a:t>Explore</a:t>
            </a:r>
            <a:endParaRPr lang="en-US" sz="1700" dirty="0"/>
          </a:p>
        </p:txBody>
      </p:sp>
      <p:sp>
        <p:nvSpPr>
          <p:cNvPr id="21" name="guide step 3 icon circle"/>
          <p:cNvSpPr/>
          <p:nvPr/>
        </p:nvSpPr>
        <p:spPr>
          <a:xfrm>
            <a:off x="8092440" y="1325880"/>
            <a:ext cx="402336" cy="402336"/>
          </a:xfrm>
          <a:prstGeom prst="ellipse">
            <a:avLst/>
          </a:prstGeom>
          <a:solidFill>
            <a:schemeClr val="accent1"/>
          </a:solidFill>
          <a:ln/>
        </p:spPr>
      </p:sp>
      <p:pic>
        <p:nvPicPr>
          <p:cNvPr id="22" name="guide step 3 icon icon" descr="preencoded.png">    </p:cNvPr>
          <p:cNvPicPr>
            <a:picLocks noChangeAspect="1"/>
          </p:cNvPicPr>
          <p:nvPr/>
        </p:nvPicPr>
        <p:blipFill>
          <a:blip r:embed="rId3"/>
          <a:stretch>
            <a:fillRect/>
          </a:stretch>
        </p:blipFill>
        <p:spPr>
          <a:xfrm>
            <a:off x="8197047" y="1430487"/>
            <a:ext cx="193121" cy="193121"/>
          </a:xfrm>
          <a:prstGeom prst="rect">
            <a:avLst/>
          </a:prstGeom>
        </p:spPr>
      </p:pic>
      <p:sp>
        <p:nvSpPr>
          <p:cNvPr id="23" name="Text 18"/>
          <p:cNvSpPr txBox="1"/>
          <p:nvPr/>
        </p:nvSpPr>
        <p:spPr>
          <a:xfrm>
            <a:off x="6199632" y="1874520"/>
            <a:ext cx="2286000" cy="566928"/>
          </a:xfrm>
          <a:prstGeom prst="rect">
            <a:avLst/>
          </a:prstGeom>
          <a:noFill/>
          <a:ln/>
        </p:spPr>
        <p:txBody>
          <a:bodyPr wrap="square" lIns="0" tIns="0" rIns="0" bIns="0" rtlCol="0" anchor="t"/>
          <a:lstStyle/>
          <a:p>
            <a:pPr indent="0" marL="0">
              <a:buNone/>
            </a:pPr>
            <a:r>
              <a:rPr lang="en-US" sz="1300" dirty="0">
                <a:solidFill>
                  <a:schemeClr val="tx1"/>
                </a:solidFill>
              </a:rPr>
              <a:t>36 careers ranked by fit, each with the route from Class 10.</a:t>
            </a:r>
            <a:endParaRPr lang="en-US" sz="1300" dirty="0"/>
          </a:p>
        </p:txBody>
      </p:sp>
      <p:sp>
        <p:nvSpPr>
          <p:cNvPr id="24" name="guide step 4"/>
          <p:cNvSpPr/>
          <p:nvPr/>
        </p:nvSpPr>
        <p:spPr>
          <a:xfrm>
            <a:off x="457200" y="2697480"/>
            <a:ext cx="2606040" cy="1371600"/>
          </a:xfrm>
          <a:prstGeom prst="roundRect">
            <a:avLst>
              <a:gd name="adj" fmla="val 8000"/>
            </a:avLst>
          </a:prstGeom>
          <a:solidFill>
            <a:schemeClr val="bg1"/>
          </a:solidFill>
          <a:ln w="12700">
            <a:solidFill>
              <a:srgbClr val="DBEAFE"/>
            </a:solidFill>
            <a:prstDash val="solid"/>
          </a:ln>
        </p:spPr>
      </p:sp>
      <p:sp>
        <p:nvSpPr>
          <p:cNvPr id="25" name="guide step 4 number"/>
          <p:cNvSpPr/>
          <p:nvPr/>
        </p:nvSpPr>
        <p:spPr>
          <a:xfrm>
            <a:off x="621792" y="2862072"/>
            <a:ext cx="457200" cy="457200"/>
          </a:xfrm>
          <a:prstGeom prst="ellipse">
            <a:avLst/>
          </a:prstGeom>
          <a:solidFill>
            <a:schemeClr val="accent2"/>
          </a:solidFill>
          <a:ln/>
        </p:spPr>
      </p:sp>
      <p:sp>
        <p:nvSpPr>
          <p:cNvPr id="26" name="Text 21"/>
          <p:cNvSpPr txBox="1"/>
          <p:nvPr/>
        </p:nvSpPr>
        <p:spPr>
          <a:xfrm>
            <a:off x="621792" y="286207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7" name="Text 22"/>
          <p:cNvSpPr txBox="1"/>
          <p:nvPr/>
        </p:nvSpPr>
        <p:spPr>
          <a:xfrm>
            <a:off x="1207008" y="2862072"/>
            <a:ext cx="1280160" cy="457200"/>
          </a:xfrm>
          <a:prstGeom prst="rect">
            <a:avLst/>
          </a:prstGeom>
          <a:noFill/>
          <a:ln/>
        </p:spPr>
        <p:txBody>
          <a:bodyPr wrap="square" lIns="0" tIns="0" rIns="0" bIns="0" rtlCol="0" anchor="ctr"/>
          <a:lstStyle/>
          <a:p>
            <a:pPr indent="0" marL="0">
              <a:buNone/>
            </a:pPr>
            <a:r>
              <a:rPr lang="en-US" sz="1700" b="1" dirty="0">
                <a:solidFill>
                  <a:schemeClr val="tx2"/>
                </a:solidFill>
              </a:rPr>
              <a:t>Plan</a:t>
            </a:r>
            <a:endParaRPr lang="en-US" sz="1700" dirty="0"/>
          </a:p>
        </p:txBody>
      </p:sp>
      <p:sp>
        <p:nvSpPr>
          <p:cNvPr id="28" name="guide step 4 icon circle"/>
          <p:cNvSpPr/>
          <p:nvPr/>
        </p:nvSpPr>
        <p:spPr>
          <a:xfrm>
            <a:off x="2514600" y="2880360"/>
            <a:ext cx="402336" cy="402336"/>
          </a:xfrm>
          <a:prstGeom prst="ellipse">
            <a:avLst/>
          </a:prstGeom>
          <a:solidFill>
            <a:schemeClr val="accent1"/>
          </a:solidFill>
          <a:ln/>
        </p:spPr>
      </p:sp>
      <p:pic>
        <p:nvPicPr>
          <p:cNvPr id="29" name="guide step 4 icon icon" descr="preencoded.png">    </p:cNvPr>
          <p:cNvPicPr>
            <a:picLocks noChangeAspect="1"/>
          </p:cNvPicPr>
          <p:nvPr/>
        </p:nvPicPr>
        <p:blipFill>
          <a:blip r:embed="rId4"/>
          <a:stretch>
            <a:fillRect/>
          </a:stretch>
        </p:blipFill>
        <p:spPr>
          <a:xfrm>
            <a:off x="2619207" y="2984967"/>
            <a:ext cx="193121" cy="193121"/>
          </a:xfrm>
          <a:prstGeom prst="rect">
            <a:avLst/>
          </a:prstGeom>
        </p:spPr>
      </p:pic>
      <p:sp>
        <p:nvSpPr>
          <p:cNvPr id="30" name="Text 24"/>
          <p:cNvSpPr txBox="1"/>
          <p:nvPr/>
        </p:nvSpPr>
        <p:spPr>
          <a:xfrm>
            <a:off x="621792" y="3429000"/>
            <a:ext cx="2286000" cy="566928"/>
          </a:xfrm>
          <a:prstGeom prst="rect">
            <a:avLst/>
          </a:prstGeom>
          <a:noFill/>
          <a:ln/>
        </p:spPr>
        <p:txBody>
          <a:bodyPr wrap="square" lIns="0" tIns="0" rIns="0" bIns="0" rtlCol="0" anchor="t"/>
          <a:lstStyle/>
          <a:p>
            <a:pPr indent="0" marL="0">
              <a:buNone/>
            </a:pPr>
            <a:r>
              <a:rPr lang="en-US" sz="1300" dirty="0">
                <a:solidFill>
                  <a:schemeClr val="tx1"/>
                </a:solidFill>
              </a:rPr>
              <a:t>Choose next steps for this year and save the plan.</a:t>
            </a:r>
            <a:endParaRPr lang="en-US" sz="1300" dirty="0"/>
          </a:p>
        </p:txBody>
      </p:sp>
      <p:sp>
        <p:nvSpPr>
          <p:cNvPr id="31" name="guide step 5"/>
          <p:cNvSpPr/>
          <p:nvPr/>
        </p:nvSpPr>
        <p:spPr>
          <a:xfrm>
            <a:off x="3246120" y="2697480"/>
            <a:ext cx="2606040" cy="1371600"/>
          </a:xfrm>
          <a:prstGeom prst="roundRect">
            <a:avLst>
              <a:gd name="adj" fmla="val 8000"/>
            </a:avLst>
          </a:prstGeom>
          <a:solidFill>
            <a:schemeClr val="bg1"/>
          </a:solidFill>
          <a:ln w="12700">
            <a:solidFill>
              <a:srgbClr val="DBEAFE"/>
            </a:solidFill>
            <a:prstDash val="solid"/>
          </a:ln>
        </p:spPr>
      </p:sp>
      <p:sp>
        <p:nvSpPr>
          <p:cNvPr id="32" name="guide step 5 number"/>
          <p:cNvSpPr/>
          <p:nvPr/>
        </p:nvSpPr>
        <p:spPr>
          <a:xfrm>
            <a:off x="3410712" y="2862072"/>
            <a:ext cx="457200" cy="457200"/>
          </a:xfrm>
          <a:prstGeom prst="ellipse">
            <a:avLst/>
          </a:prstGeom>
          <a:solidFill>
            <a:schemeClr val="accent2"/>
          </a:solidFill>
          <a:ln/>
        </p:spPr>
      </p:sp>
      <p:sp>
        <p:nvSpPr>
          <p:cNvPr id="33" name="Text 27"/>
          <p:cNvSpPr txBox="1"/>
          <p:nvPr/>
        </p:nvSpPr>
        <p:spPr>
          <a:xfrm>
            <a:off x="3410712" y="286207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34" name="Text 28"/>
          <p:cNvSpPr txBox="1"/>
          <p:nvPr/>
        </p:nvSpPr>
        <p:spPr>
          <a:xfrm>
            <a:off x="3995928" y="2862072"/>
            <a:ext cx="1280160" cy="457200"/>
          </a:xfrm>
          <a:prstGeom prst="rect">
            <a:avLst/>
          </a:prstGeom>
          <a:noFill/>
          <a:ln/>
        </p:spPr>
        <p:txBody>
          <a:bodyPr wrap="square" lIns="0" tIns="0" rIns="0" bIns="0" rtlCol="0" anchor="ctr"/>
          <a:lstStyle/>
          <a:p>
            <a:pPr indent="0" marL="0">
              <a:buNone/>
            </a:pPr>
            <a:r>
              <a:rPr lang="en-US" sz="1700" b="1" dirty="0">
                <a:solidFill>
                  <a:schemeClr val="tx2"/>
                </a:solidFill>
              </a:rPr>
              <a:t>Talk</a:t>
            </a:r>
            <a:endParaRPr lang="en-US" sz="1700" dirty="0"/>
          </a:p>
        </p:txBody>
      </p:sp>
      <p:sp>
        <p:nvSpPr>
          <p:cNvPr id="35" name="guide step 5 icon circle"/>
          <p:cNvSpPr/>
          <p:nvPr/>
        </p:nvSpPr>
        <p:spPr>
          <a:xfrm>
            <a:off x="5303520" y="2880360"/>
            <a:ext cx="402336" cy="402336"/>
          </a:xfrm>
          <a:prstGeom prst="ellipse">
            <a:avLst/>
          </a:prstGeom>
          <a:solidFill>
            <a:schemeClr val="accent1"/>
          </a:solidFill>
          <a:ln/>
        </p:spPr>
      </p:sp>
      <p:pic>
        <p:nvPicPr>
          <p:cNvPr id="36" name="guide step 5 icon icon" descr="preencoded.png">    </p:cNvPr>
          <p:cNvPicPr>
            <a:picLocks noChangeAspect="1"/>
          </p:cNvPicPr>
          <p:nvPr/>
        </p:nvPicPr>
        <p:blipFill>
          <a:blip r:embed="rId5"/>
          <a:stretch>
            <a:fillRect/>
          </a:stretch>
        </p:blipFill>
        <p:spPr>
          <a:xfrm>
            <a:off x="5408127" y="2984967"/>
            <a:ext cx="193121" cy="193121"/>
          </a:xfrm>
          <a:prstGeom prst="rect">
            <a:avLst/>
          </a:prstGeom>
        </p:spPr>
      </p:pic>
      <p:sp>
        <p:nvSpPr>
          <p:cNvPr id="37" name="Text 30"/>
          <p:cNvSpPr txBox="1"/>
          <p:nvPr/>
        </p:nvSpPr>
        <p:spPr>
          <a:xfrm>
            <a:off x="3410712" y="3429000"/>
            <a:ext cx="2286000" cy="566928"/>
          </a:xfrm>
          <a:prstGeom prst="rect">
            <a:avLst/>
          </a:prstGeom>
          <a:noFill/>
          <a:ln/>
        </p:spPr>
        <p:txBody>
          <a:bodyPr wrap="square" lIns="0" tIns="0" rIns="0" bIns="0" rtlCol="0" anchor="t"/>
          <a:lstStyle/>
          <a:p>
            <a:pPr indent="0" marL="0">
              <a:buNone/>
            </a:pPr>
            <a:r>
              <a:rPr lang="en-US" sz="1300" dirty="0">
                <a:solidFill>
                  <a:schemeClr val="tx1"/>
                </a:solidFill>
              </a:rPr>
              <a:t>Print the report; discuss it with family and teachers.</a:t>
            </a:r>
            <a:endParaRPr lang="en-US" sz="1300" dirty="0"/>
          </a:p>
        </p:txBody>
      </p:sp>
      <p:sp>
        <p:nvSpPr>
          <p:cNvPr id="38" name="guide step 6"/>
          <p:cNvSpPr/>
          <p:nvPr/>
        </p:nvSpPr>
        <p:spPr>
          <a:xfrm>
            <a:off x="6035040" y="2697480"/>
            <a:ext cx="2606040" cy="1371600"/>
          </a:xfrm>
          <a:prstGeom prst="roundRect">
            <a:avLst>
              <a:gd name="adj" fmla="val 8000"/>
            </a:avLst>
          </a:prstGeom>
          <a:solidFill>
            <a:schemeClr val="bg1"/>
          </a:solidFill>
          <a:ln w="12700">
            <a:solidFill>
              <a:srgbClr val="DBEAFE"/>
            </a:solidFill>
            <a:prstDash val="solid"/>
          </a:ln>
        </p:spPr>
      </p:sp>
      <p:sp>
        <p:nvSpPr>
          <p:cNvPr id="39" name="guide step 6 number"/>
          <p:cNvSpPr/>
          <p:nvPr/>
        </p:nvSpPr>
        <p:spPr>
          <a:xfrm>
            <a:off x="6199632" y="2862072"/>
            <a:ext cx="457200" cy="457200"/>
          </a:xfrm>
          <a:prstGeom prst="ellipse">
            <a:avLst/>
          </a:prstGeom>
          <a:solidFill>
            <a:schemeClr val="accent2"/>
          </a:solidFill>
          <a:ln/>
        </p:spPr>
      </p:sp>
      <p:sp>
        <p:nvSpPr>
          <p:cNvPr id="40" name="Text 33"/>
          <p:cNvSpPr txBox="1"/>
          <p:nvPr/>
        </p:nvSpPr>
        <p:spPr>
          <a:xfrm>
            <a:off x="6199632" y="286207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41" name="Text 34"/>
          <p:cNvSpPr txBox="1"/>
          <p:nvPr/>
        </p:nvSpPr>
        <p:spPr>
          <a:xfrm>
            <a:off x="6784848" y="2862072"/>
            <a:ext cx="1280160" cy="457200"/>
          </a:xfrm>
          <a:prstGeom prst="rect">
            <a:avLst/>
          </a:prstGeom>
          <a:noFill/>
          <a:ln/>
        </p:spPr>
        <p:txBody>
          <a:bodyPr wrap="square" lIns="0" tIns="0" rIns="0" bIns="0" rtlCol="0" anchor="ctr"/>
          <a:lstStyle/>
          <a:p>
            <a:pPr indent="0" marL="0">
              <a:buNone/>
            </a:pPr>
            <a:r>
              <a:rPr lang="en-US" sz="1700" b="1" dirty="0">
                <a:solidFill>
                  <a:schemeClr val="tx2"/>
                </a:solidFill>
              </a:rPr>
              <a:t>Reflect</a:t>
            </a:r>
            <a:endParaRPr lang="en-US" sz="1700" dirty="0"/>
          </a:p>
        </p:txBody>
      </p:sp>
      <p:sp>
        <p:nvSpPr>
          <p:cNvPr id="42" name="guide step 6 icon circle"/>
          <p:cNvSpPr/>
          <p:nvPr/>
        </p:nvSpPr>
        <p:spPr>
          <a:xfrm>
            <a:off x="8092440" y="2880360"/>
            <a:ext cx="402336" cy="402336"/>
          </a:xfrm>
          <a:prstGeom prst="ellipse">
            <a:avLst/>
          </a:prstGeom>
          <a:solidFill>
            <a:schemeClr val="accent1"/>
          </a:solidFill>
          <a:ln/>
        </p:spPr>
      </p:sp>
      <p:pic>
        <p:nvPicPr>
          <p:cNvPr id="43" name="guide step 6 icon icon" descr="preencoded.png">    </p:cNvPr>
          <p:cNvPicPr>
            <a:picLocks noChangeAspect="1"/>
          </p:cNvPicPr>
          <p:nvPr/>
        </p:nvPicPr>
        <p:blipFill>
          <a:blip r:embed="rId6"/>
          <a:stretch>
            <a:fillRect/>
          </a:stretch>
        </p:blipFill>
        <p:spPr>
          <a:xfrm>
            <a:off x="8197047" y="2984967"/>
            <a:ext cx="193121" cy="193121"/>
          </a:xfrm>
          <a:prstGeom prst="rect">
            <a:avLst/>
          </a:prstGeom>
        </p:spPr>
      </p:pic>
      <p:sp>
        <p:nvSpPr>
          <p:cNvPr id="44" name="Text 36"/>
          <p:cNvSpPr txBox="1"/>
          <p:nvPr/>
        </p:nvSpPr>
        <p:spPr>
          <a:xfrm>
            <a:off x="6199632" y="3429000"/>
            <a:ext cx="2286000" cy="566928"/>
          </a:xfrm>
          <a:prstGeom prst="rect">
            <a:avLst/>
          </a:prstGeom>
          <a:noFill/>
          <a:ln/>
        </p:spPr>
        <p:txBody>
          <a:bodyPr wrap="square" lIns="0" tIns="0" rIns="0" bIns="0" rtlCol="0" anchor="t"/>
          <a:lstStyle/>
          <a:p>
            <a:pPr indent="0" marL="0">
              <a:buNone/>
            </a:pPr>
            <a:r>
              <a:rPr lang="en-US" sz="1300" dirty="0">
                <a:solidFill>
                  <a:schemeClr val="tx1"/>
                </a:solidFill>
              </a:rPr>
              <a:t>Write in the passbook; retake each year and see how they have grown.</a:t>
            </a:r>
            <a:endParaRPr lang="en-US" sz="1300" dirty="0"/>
          </a:p>
        </p:txBody>
      </p:sp>
      <p:sp>
        <p:nvSpPr>
          <p:cNvPr id="45" name="Text 37"/>
          <p:cNvSpPr txBox="1"/>
          <p:nvPr/>
        </p:nvSpPr>
        <p:spPr>
          <a:xfrm>
            <a:off x="457200" y="4407408"/>
            <a:ext cx="8229600" cy="329184"/>
          </a:xfrm>
          <a:prstGeom prst="rect">
            <a:avLst/>
          </a:prstGeom>
          <a:noFill/>
          <a:ln/>
        </p:spPr>
        <p:txBody>
          <a:bodyPr wrap="square" lIns="0" tIns="0" rIns="0" bIns="0" rtlCol="0" anchor="b"/>
          <a:lstStyle/>
          <a:p>
            <a:pPr indent="0" marL="0">
              <a:buNone/>
            </a:pPr>
            <a:r>
              <a:rPr lang="en-US" sz="900" dirty="0">
                <a:solidFill>
                  <a:schemeClr val="accent5"/>
                </a:solidFill>
              </a:rPr>
              <a:t>Every step is recorded in the student’s career passbook.</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Teachers see the whole class at a glance</a:t>
            </a:r>
            <a:endParaRPr lang="en-US" sz="2800" dirty="0"/>
          </a:p>
        </p:txBody>
      </p:sp>
      <p:sp>
        <p:nvSpPr>
          <p:cNvPr id="3" name="teacher point 1 circle"/>
          <p:cNvSpPr/>
          <p:nvPr/>
        </p:nvSpPr>
        <p:spPr>
          <a:xfrm>
            <a:off x="457200" y="1188720"/>
            <a:ext cx="594360" cy="594360"/>
          </a:xfrm>
          <a:prstGeom prst="ellipse">
            <a:avLst/>
          </a:prstGeom>
          <a:solidFill>
            <a:schemeClr val="accent3"/>
          </a:solidFill>
          <a:ln/>
        </p:spPr>
      </p:sp>
      <p:pic>
        <p:nvPicPr>
          <p:cNvPr id="4" name="teacher point 1 icon" descr="preencoded.png">    </p:cNvPr>
          <p:cNvPicPr>
            <a:picLocks noChangeAspect="1"/>
          </p:cNvPicPr>
          <p:nvPr/>
        </p:nvPicPr>
        <p:blipFill>
          <a:blip r:embed="rId1"/>
          <a:stretch>
            <a:fillRect/>
          </a:stretch>
        </p:blipFill>
        <p:spPr>
          <a:xfrm>
            <a:off x="611734" y="1343254"/>
            <a:ext cx="285293" cy="285293"/>
          </a:xfrm>
          <a:prstGeom prst="rect">
            <a:avLst/>
          </a:prstGeom>
        </p:spPr>
      </p:pic>
      <p:sp>
        <p:nvSpPr>
          <p:cNvPr id="5" name="Text 2"/>
          <p:cNvSpPr txBox="1"/>
          <p:nvPr/>
        </p:nvSpPr>
        <p:spPr>
          <a:xfrm>
            <a:off x="1280160" y="1170432"/>
            <a:ext cx="3657600" cy="329184"/>
          </a:xfrm>
          <a:prstGeom prst="rect">
            <a:avLst/>
          </a:prstGeom>
          <a:noFill/>
          <a:ln/>
        </p:spPr>
        <p:txBody>
          <a:bodyPr wrap="square" lIns="0" tIns="0" rIns="0" bIns="0" rtlCol="0" anchor="ctr"/>
          <a:lstStyle/>
          <a:p>
            <a:pPr indent="0" marL="0">
              <a:buNone/>
            </a:pPr>
            <a:r>
              <a:rPr lang="en-US" sz="1700" b="1" dirty="0">
                <a:solidFill>
                  <a:schemeClr val="tx2"/>
                </a:solidFill>
              </a:rPr>
              <a:t>Who has finished</a:t>
            </a:r>
            <a:endParaRPr lang="en-US" sz="1700" dirty="0"/>
          </a:p>
        </p:txBody>
      </p:sp>
      <p:sp>
        <p:nvSpPr>
          <p:cNvPr id="6" name="Text 3"/>
          <p:cNvSpPr txBox="1"/>
          <p:nvPr/>
        </p:nvSpPr>
        <p:spPr>
          <a:xfrm>
            <a:off x="1280160" y="1499616"/>
            <a:ext cx="3657600" cy="365760"/>
          </a:xfrm>
          <a:prstGeom prst="rect">
            <a:avLst/>
          </a:prstGeom>
          <a:noFill/>
          <a:ln/>
        </p:spPr>
        <p:txBody>
          <a:bodyPr wrap="square" lIns="0" tIns="0" rIns="0" bIns="0" rtlCol="0" anchor="ctr"/>
          <a:lstStyle/>
          <a:p>
            <a:pPr indent="0" marL="0">
              <a:buNone/>
            </a:pPr>
            <a:r>
              <a:rPr lang="en-US" sz="1400" dirty="0">
                <a:solidFill>
                  <a:schemeClr val="tx1"/>
                </a:solidFill>
              </a:rPr>
              <a:t>Follow up with the students who haven’t.</a:t>
            </a:r>
            <a:endParaRPr lang="en-US" sz="1400" dirty="0"/>
          </a:p>
        </p:txBody>
      </p:sp>
      <p:sp>
        <p:nvSpPr>
          <p:cNvPr id="7" name="teacher point 2 circle"/>
          <p:cNvSpPr/>
          <p:nvPr/>
        </p:nvSpPr>
        <p:spPr>
          <a:xfrm>
            <a:off x="457200" y="2194560"/>
            <a:ext cx="594360" cy="594360"/>
          </a:xfrm>
          <a:prstGeom prst="ellipse">
            <a:avLst/>
          </a:prstGeom>
          <a:solidFill>
            <a:schemeClr val="accent1"/>
          </a:solidFill>
          <a:ln/>
        </p:spPr>
      </p:sp>
      <p:pic>
        <p:nvPicPr>
          <p:cNvPr id="8" name="teacher point 2 icon" descr="preencoded.png">    </p:cNvPr>
          <p:cNvPicPr>
            <a:picLocks noChangeAspect="1"/>
          </p:cNvPicPr>
          <p:nvPr/>
        </p:nvPicPr>
        <p:blipFill>
          <a:blip r:embed="rId2"/>
          <a:stretch>
            <a:fillRect/>
          </a:stretch>
        </p:blipFill>
        <p:spPr>
          <a:xfrm>
            <a:off x="611734" y="2349094"/>
            <a:ext cx="285293" cy="285293"/>
          </a:xfrm>
          <a:prstGeom prst="rect">
            <a:avLst/>
          </a:prstGeom>
        </p:spPr>
      </p:pic>
      <p:sp>
        <p:nvSpPr>
          <p:cNvPr id="9" name="Text 5"/>
          <p:cNvSpPr txBox="1"/>
          <p:nvPr/>
        </p:nvSpPr>
        <p:spPr>
          <a:xfrm>
            <a:off x="1280160" y="2176272"/>
            <a:ext cx="3657600" cy="329184"/>
          </a:xfrm>
          <a:prstGeom prst="rect">
            <a:avLst/>
          </a:prstGeom>
          <a:noFill/>
          <a:ln/>
        </p:spPr>
        <p:txBody>
          <a:bodyPr wrap="square" lIns="0" tIns="0" rIns="0" bIns="0" rtlCol="0" anchor="ctr"/>
          <a:lstStyle/>
          <a:p>
            <a:pPr indent="0" marL="0">
              <a:buNone/>
            </a:pPr>
            <a:r>
              <a:rPr lang="en-US" sz="1700" b="1" dirty="0">
                <a:solidFill>
                  <a:schemeClr val="tx2"/>
                </a:solidFill>
              </a:rPr>
              <a:t>Where the class’s interests lie</a:t>
            </a:r>
            <a:endParaRPr lang="en-US" sz="1700" dirty="0"/>
          </a:p>
        </p:txBody>
      </p:sp>
      <p:sp>
        <p:nvSpPr>
          <p:cNvPr id="10" name="Text 6"/>
          <p:cNvSpPr txBox="1"/>
          <p:nvPr/>
        </p:nvSpPr>
        <p:spPr>
          <a:xfrm>
            <a:off x="1280160" y="2505456"/>
            <a:ext cx="3657600" cy="365760"/>
          </a:xfrm>
          <a:prstGeom prst="rect">
            <a:avLst/>
          </a:prstGeom>
          <a:noFill/>
          <a:ln/>
        </p:spPr>
        <p:txBody>
          <a:bodyPr wrap="square" lIns="0" tIns="0" rIns="0" bIns="0" rtlCol="0" anchor="ctr"/>
          <a:lstStyle/>
          <a:p>
            <a:pPr indent="0" marL="0">
              <a:buNone/>
            </a:pPr>
            <a:r>
              <a:rPr lang="en-US" sz="1400" dirty="0">
                <a:solidFill>
                  <a:schemeClr val="tx1"/>
                </a:solidFill>
              </a:rPr>
              <a:t>Plan career talks, visits and subject choices around them.</a:t>
            </a:r>
            <a:endParaRPr lang="en-US" sz="1400" dirty="0"/>
          </a:p>
        </p:txBody>
      </p:sp>
      <p:sp>
        <p:nvSpPr>
          <p:cNvPr id="11" name="teacher point 3 circle"/>
          <p:cNvSpPr/>
          <p:nvPr/>
        </p:nvSpPr>
        <p:spPr>
          <a:xfrm>
            <a:off x="457200" y="3200400"/>
            <a:ext cx="594360" cy="594360"/>
          </a:xfrm>
          <a:prstGeom prst="ellipse">
            <a:avLst/>
          </a:prstGeom>
          <a:solidFill>
            <a:schemeClr val="accent2"/>
          </a:solidFill>
          <a:ln/>
        </p:spPr>
      </p:sp>
      <p:pic>
        <p:nvPicPr>
          <p:cNvPr id="12" name="teacher point 3 icon" descr="preencoded.png">    </p:cNvPr>
          <p:cNvPicPr>
            <a:picLocks noChangeAspect="1"/>
          </p:cNvPicPr>
          <p:nvPr/>
        </p:nvPicPr>
        <p:blipFill>
          <a:blip r:embed="rId3"/>
          <a:stretch>
            <a:fillRect/>
          </a:stretch>
        </p:blipFill>
        <p:spPr>
          <a:xfrm>
            <a:off x="611734" y="3354934"/>
            <a:ext cx="285293" cy="285293"/>
          </a:xfrm>
          <a:prstGeom prst="rect">
            <a:avLst/>
          </a:prstGeom>
        </p:spPr>
      </p:pic>
      <p:sp>
        <p:nvSpPr>
          <p:cNvPr id="13" name="Text 8"/>
          <p:cNvSpPr txBox="1"/>
          <p:nvPr/>
        </p:nvSpPr>
        <p:spPr>
          <a:xfrm>
            <a:off x="1280160" y="3182112"/>
            <a:ext cx="3657600" cy="329184"/>
          </a:xfrm>
          <a:prstGeom prst="rect">
            <a:avLst/>
          </a:prstGeom>
          <a:noFill/>
          <a:ln/>
        </p:spPr>
        <p:txBody>
          <a:bodyPr wrap="square" lIns="0" tIns="0" rIns="0" bIns="0" rtlCol="0" anchor="ctr"/>
          <a:lstStyle/>
          <a:p>
            <a:pPr indent="0" marL="0">
              <a:buNone/>
            </a:pPr>
            <a:r>
              <a:rPr lang="en-US" sz="1700" b="1" dirty="0">
                <a:solidFill>
                  <a:schemeClr val="tx2"/>
                </a:solidFill>
              </a:rPr>
              <a:t>Each student’s code</a:t>
            </a:r>
            <a:endParaRPr lang="en-US" sz="1700" dirty="0"/>
          </a:p>
        </p:txBody>
      </p:sp>
      <p:sp>
        <p:nvSpPr>
          <p:cNvPr id="14" name="Text 9"/>
          <p:cNvSpPr txBox="1"/>
          <p:nvPr/>
        </p:nvSpPr>
        <p:spPr>
          <a:xfrm>
            <a:off x="1280160" y="3511296"/>
            <a:ext cx="3657600" cy="365760"/>
          </a:xfrm>
          <a:prstGeom prst="rect">
            <a:avLst/>
          </a:prstGeom>
          <a:noFill/>
          <a:ln/>
        </p:spPr>
        <p:txBody>
          <a:bodyPr wrap="square" lIns="0" tIns="0" rIns="0" bIns="0" rtlCol="0" anchor="ctr"/>
          <a:lstStyle/>
          <a:p>
            <a:pPr indent="0" marL="0">
              <a:buNone/>
            </a:pPr>
            <a:r>
              <a:rPr lang="en-US" sz="1400" dirty="0">
                <a:solidFill>
                  <a:schemeClr val="tx1"/>
                </a:solidFill>
              </a:rPr>
              <a:t>A ready starting point for a one-to-one or a parent meeting.</a:t>
            </a:r>
            <a:endParaRPr lang="en-US" sz="1400" dirty="0"/>
          </a:p>
        </p:txBody>
      </p:sp>
      <p:sp>
        <p:nvSpPr>
          <p:cNvPr id="15" name="Teacher class view screen frame"/>
          <p:cNvSpPr/>
          <p:nvPr/>
        </p:nvSpPr>
        <p:spPr>
          <a:xfrm>
            <a:off x="5175504" y="1014984"/>
            <a:ext cx="1551364" cy="3273552"/>
          </a:xfrm>
          <a:prstGeom prst="roundRect">
            <a:avLst>
              <a:gd name="adj" fmla="val 9431"/>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16" name="Teacher class view screen" descr="Teacher class view screen">    </p:cNvPr>
          <p:cNvPicPr>
            <a:picLocks noChangeAspect="1"/>
          </p:cNvPicPr>
          <p:nvPr/>
        </p:nvPicPr>
        <p:blipFill>
          <a:blip r:embed="rId4"/>
          <a:stretch>
            <a:fillRect/>
          </a:stretch>
        </p:blipFill>
        <p:spPr>
          <a:xfrm>
            <a:off x="5212080" y="1051560"/>
            <a:ext cx="1478212" cy="3200400"/>
          </a:xfrm>
          <a:prstGeom prst="rect">
            <a:avLst/>
          </a:prstGeom>
        </p:spPr>
      </p:pic>
      <p:sp>
        <p:nvSpPr>
          <p:cNvPr id="17" name="Counsellor chat screen frame"/>
          <p:cNvSpPr/>
          <p:nvPr/>
        </p:nvSpPr>
        <p:spPr>
          <a:xfrm>
            <a:off x="6912864" y="1197864"/>
            <a:ext cx="1466894" cy="3090672"/>
          </a:xfrm>
          <a:prstGeom prst="roundRect">
            <a:avLst>
              <a:gd name="adj" fmla="val 9974"/>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18" name="Counsellor chat screen" descr="Counsellor chat screen">    </p:cNvPr>
          <p:cNvPicPr>
            <a:picLocks noChangeAspect="1"/>
          </p:cNvPicPr>
          <p:nvPr/>
        </p:nvPicPr>
        <p:blipFill>
          <a:blip r:embed="rId5"/>
          <a:stretch>
            <a:fillRect/>
          </a:stretch>
        </p:blipFill>
        <p:spPr>
          <a:xfrm>
            <a:off x="6949440" y="1234440"/>
            <a:ext cx="1393742" cy="3017520"/>
          </a:xfrm>
          <a:prstGeom prst="rect">
            <a:avLst/>
          </a:prstGeom>
        </p:spPr>
      </p:pic>
      <p:sp>
        <p:nvSpPr>
          <p:cNvPr id="19" name="Text 12"/>
          <p:cNvSpPr txBox="1"/>
          <p:nvPr/>
        </p:nvSpPr>
        <p:spPr>
          <a:xfrm>
            <a:off x="5120640" y="4407408"/>
            <a:ext cx="3566160" cy="228600"/>
          </a:xfrm>
          <a:prstGeom prst="rect">
            <a:avLst/>
          </a:prstGeom>
          <a:noFill/>
          <a:ln/>
        </p:spPr>
        <p:txBody>
          <a:bodyPr wrap="square" lIns="0" tIns="0" rIns="0" bIns="0" rtlCol="0" anchor="ctr"/>
          <a:lstStyle/>
          <a:p>
            <a:pPr algn="ctr" indent="0" marL="0">
              <a:buNone/>
            </a:pPr>
            <a:r>
              <a:rPr lang="en-US" sz="1000" i="1" dirty="0">
                <a:solidFill>
                  <a:schemeClr val="accent5"/>
                </a:solidFill>
              </a:rPr>
              <a:t>Class view · counsellor chat</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Simple to run, open by design</a:t>
            </a:r>
            <a:endParaRPr lang="en-US" sz="2800" dirty="0"/>
          </a:p>
        </p:txBody>
      </p:sp>
      <p:sp>
        <p:nvSpPr>
          <p:cNvPr id="3" name="app box"/>
          <p:cNvSpPr/>
          <p:nvPr/>
        </p:nvSpPr>
        <p:spPr>
          <a:xfrm>
            <a:off x="457200" y="1234440"/>
            <a:ext cx="2377440" cy="1417320"/>
          </a:xfrm>
          <a:prstGeom prst="roundRect">
            <a:avLst>
              <a:gd name="adj" fmla="val 7742"/>
            </a:avLst>
          </a:prstGeom>
          <a:solidFill>
            <a:schemeClr val="bg2"/>
          </a:solidFill>
          <a:ln w="12700">
            <a:solidFill>
              <a:srgbClr val="DBEAFE"/>
            </a:solidFill>
            <a:prstDash val="solid"/>
          </a:ln>
        </p:spPr>
      </p:sp>
      <p:sp>
        <p:nvSpPr>
          <p:cNvPr id="4" name="app box badge circle"/>
          <p:cNvSpPr/>
          <p:nvPr/>
        </p:nvSpPr>
        <p:spPr>
          <a:xfrm>
            <a:off x="621792" y="1417320"/>
            <a:ext cx="438912" cy="438912"/>
          </a:xfrm>
          <a:prstGeom prst="ellipse">
            <a:avLst/>
          </a:prstGeom>
          <a:solidFill>
            <a:schemeClr val="accent1"/>
          </a:solidFill>
          <a:ln/>
        </p:spPr>
      </p:sp>
      <p:pic>
        <p:nvPicPr>
          <p:cNvPr id="5" name="app box badge icon" descr="preencoded.png">    </p:cNvPr>
          <p:cNvPicPr>
            <a:picLocks noChangeAspect="1"/>
          </p:cNvPicPr>
          <p:nvPr/>
        </p:nvPicPr>
        <p:blipFill>
          <a:blip r:embed="rId1"/>
          <a:stretch>
            <a:fillRect/>
          </a:stretch>
        </p:blipFill>
        <p:spPr>
          <a:xfrm>
            <a:off x="735909" y="1531437"/>
            <a:ext cx="210678" cy="210678"/>
          </a:xfrm>
          <a:prstGeom prst="rect">
            <a:avLst/>
          </a:prstGeom>
        </p:spPr>
      </p:pic>
      <p:sp>
        <p:nvSpPr>
          <p:cNvPr id="6" name="Text 3"/>
          <p:cNvSpPr txBox="1"/>
          <p:nvPr/>
        </p:nvSpPr>
        <p:spPr>
          <a:xfrm>
            <a:off x="1170432" y="1399032"/>
            <a:ext cx="1554480" cy="475488"/>
          </a:xfrm>
          <a:prstGeom prst="rect">
            <a:avLst/>
          </a:prstGeom>
          <a:noFill/>
          <a:ln/>
        </p:spPr>
        <p:txBody>
          <a:bodyPr wrap="square" lIns="0" tIns="0" rIns="0" bIns="0" rtlCol="0" anchor="ctr"/>
          <a:lstStyle/>
          <a:p>
            <a:pPr indent="0" marL="0">
              <a:buNone/>
            </a:pPr>
            <a:r>
              <a:rPr lang="en-US" sz="1500" b="1" dirty="0">
                <a:solidFill>
                  <a:schemeClr val="tx2"/>
                </a:solidFill>
              </a:rPr>
              <a:t>Phone app</a:t>
            </a:r>
            <a:endParaRPr lang="en-US" sz="1500" dirty="0"/>
          </a:p>
        </p:txBody>
      </p:sp>
      <p:sp>
        <p:nvSpPr>
          <p:cNvPr id="7" name="Text 4"/>
          <p:cNvSpPr txBox="1"/>
          <p:nvPr/>
        </p:nvSpPr>
        <p:spPr>
          <a:xfrm>
            <a:off x="621792" y="1947672"/>
            <a:ext cx="2103120" cy="612648"/>
          </a:xfrm>
          <a:prstGeom prst="rect">
            <a:avLst/>
          </a:prstGeom>
          <a:noFill/>
          <a:ln/>
        </p:spPr>
        <p:txBody>
          <a:bodyPr wrap="square" lIns="0" tIns="0" rIns="0" bIns="0" rtlCol="0" anchor="t"/>
          <a:lstStyle/>
          <a:p>
            <a:pPr indent="0" marL="0">
              <a:buNone/>
            </a:pPr>
            <a:r>
              <a:rPr lang="en-US" sz="1200" dirty="0">
                <a:solidFill>
                  <a:schemeClr val="tx1"/>
                </a:solidFill>
              </a:rPr>
              <a:t>React, works on any phone browser. Sessions live in the tab only.</a:t>
            </a:r>
            <a:endParaRPr lang="en-US" sz="1200" dirty="0"/>
          </a:p>
        </p:txBody>
      </p:sp>
      <p:sp>
        <p:nvSpPr>
          <p:cNvPr id="8" name="server box"/>
          <p:cNvSpPr/>
          <p:nvPr/>
        </p:nvSpPr>
        <p:spPr>
          <a:xfrm>
            <a:off x="3383280" y="1234440"/>
            <a:ext cx="2377440" cy="1417320"/>
          </a:xfrm>
          <a:prstGeom prst="roundRect">
            <a:avLst>
              <a:gd name="adj" fmla="val 7742"/>
            </a:avLst>
          </a:prstGeom>
          <a:solidFill>
            <a:schemeClr val="bg2"/>
          </a:solidFill>
          <a:ln w="12700">
            <a:solidFill>
              <a:srgbClr val="DBEAFE"/>
            </a:solidFill>
            <a:prstDash val="solid"/>
          </a:ln>
        </p:spPr>
      </p:sp>
      <p:sp>
        <p:nvSpPr>
          <p:cNvPr id="9" name="server box badge circle"/>
          <p:cNvSpPr/>
          <p:nvPr/>
        </p:nvSpPr>
        <p:spPr>
          <a:xfrm>
            <a:off x="3547872" y="1417320"/>
            <a:ext cx="438912" cy="438912"/>
          </a:xfrm>
          <a:prstGeom prst="ellipse">
            <a:avLst/>
          </a:prstGeom>
          <a:solidFill>
            <a:schemeClr val="tx2"/>
          </a:solidFill>
          <a:ln/>
        </p:spPr>
      </p:sp>
      <p:pic>
        <p:nvPicPr>
          <p:cNvPr id="10" name="server box badge icon" descr="preencoded.png">    </p:cNvPr>
          <p:cNvPicPr>
            <a:picLocks noChangeAspect="1"/>
          </p:cNvPicPr>
          <p:nvPr/>
        </p:nvPicPr>
        <p:blipFill>
          <a:blip r:embed="rId2"/>
          <a:stretch>
            <a:fillRect/>
          </a:stretch>
        </p:blipFill>
        <p:spPr>
          <a:xfrm>
            <a:off x="3661989" y="1531437"/>
            <a:ext cx="210678" cy="210678"/>
          </a:xfrm>
          <a:prstGeom prst="rect">
            <a:avLst/>
          </a:prstGeom>
        </p:spPr>
      </p:pic>
      <p:sp>
        <p:nvSpPr>
          <p:cNvPr id="11" name="Text 7"/>
          <p:cNvSpPr txBox="1"/>
          <p:nvPr/>
        </p:nvSpPr>
        <p:spPr>
          <a:xfrm>
            <a:off x="4096512" y="1399032"/>
            <a:ext cx="1554480" cy="475488"/>
          </a:xfrm>
          <a:prstGeom prst="rect">
            <a:avLst/>
          </a:prstGeom>
          <a:noFill/>
          <a:ln/>
        </p:spPr>
        <p:txBody>
          <a:bodyPr wrap="square" lIns="0" tIns="0" rIns="0" bIns="0" rtlCol="0" anchor="ctr"/>
          <a:lstStyle/>
          <a:p>
            <a:pPr indent="0" marL="0">
              <a:buNone/>
            </a:pPr>
            <a:r>
              <a:rPr lang="en-US" sz="1500" b="1" dirty="0">
                <a:solidFill>
                  <a:schemeClr val="tx2"/>
                </a:solidFill>
              </a:rPr>
              <a:t>One small server</a:t>
            </a:r>
            <a:endParaRPr lang="en-US" sz="1500" dirty="0"/>
          </a:p>
        </p:txBody>
      </p:sp>
      <p:sp>
        <p:nvSpPr>
          <p:cNvPr id="12" name="Text 8"/>
          <p:cNvSpPr txBox="1"/>
          <p:nvPr/>
        </p:nvSpPr>
        <p:spPr>
          <a:xfrm>
            <a:off x="3547872" y="1947672"/>
            <a:ext cx="2103120" cy="612648"/>
          </a:xfrm>
          <a:prstGeom prst="rect">
            <a:avLst/>
          </a:prstGeom>
          <a:noFill/>
          <a:ln/>
        </p:spPr>
        <p:txBody>
          <a:bodyPr wrap="square" lIns="0" tIns="0" rIns="0" bIns="0" rtlCol="0" anchor="t"/>
          <a:lstStyle/>
          <a:p>
            <a:pPr indent="0" marL="0">
              <a:buNone/>
            </a:pPr>
            <a:r>
              <a:rPr lang="en-US" sz="1200" dirty="0">
                <a:solidFill>
                  <a:schemeClr val="tx1"/>
                </a:solidFill>
              </a:rPr>
              <a:t>Express API: sign-in, results, class view, counsellor stream.</a:t>
            </a:r>
            <a:endParaRPr lang="en-US" sz="1200" dirty="0"/>
          </a:p>
        </p:txBody>
      </p:sp>
      <p:sp>
        <p:nvSpPr>
          <p:cNvPr id="13" name="scoring box"/>
          <p:cNvSpPr/>
          <p:nvPr/>
        </p:nvSpPr>
        <p:spPr>
          <a:xfrm>
            <a:off x="6309360" y="1234440"/>
            <a:ext cx="2377440" cy="1417320"/>
          </a:xfrm>
          <a:prstGeom prst="roundRect">
            <a:avLst>
              <a:gd name="adj" fmla="val 7742"/>
            </a:avLst>
          </a:prstGeom>
          <a:solidFill>
            <a:schemeClr val="bg2"/>
          </a:solidFill>
          <a:ln w="12700">
            <a:solidFill>
              <a:srgbClr val="DBEAFE"/>
            </a:solidFill>
            <a:prstDash val="solid"/>
          </a:ln>
        </p:spPr>
      </p:sp>
      <p:sp>
        <p:nvSpPr>
          <p:cNvPr id="14" name="scoring box badge circle"/>
          <p:cNvSpPr/>
          <p:nvPr/>
        </p:nvSpPr>
        <p:spPr>
          <a:xfrm>
            <a:off x="6473952" y="1417320"/>
            <a:ext cx="438912" cy="438912"/>
          </a:xfrm>
          <a:prstGeom prst="ellipse">
            <a:avLst/>
          </a:prstGeom>
          <a:solidFill>
            <a:schemeClr val="accent2"/>
          </a:solidFill>
          <a:ln/>
        </p:spPr>
      </p:sp>
      <p:pic>
        <p:nvPicPr>
          <p:cNvPr id="15" name="scoring box badge icon" descr="preencoded.png">    </p:cNvPr>
          <p:cNvPicPr>
            <a:picLocks noChangeAspect="1"/>
          </p:cNvPicPr>
          <p:nvPr/>
        </p:nvPicPr>
        <p:blipFill>
          <a:blip r:embed="rId3"/>
          <a:stretch>
            <a:fillRect/>
          </a:stretch>
        </p:blipFill>
        <p:spPr>
          <a:xfrm>
            <a:off x="6588069" y="1531437"/>
            <a:ext cx="210678" cy="210678"/>
          </a:xfrm>
          <a:prstGeom prst="rect">
            <a:avLst/>
          </a:prstGeom>
        </p:spPr>
      </p:pic>
      <p:sp>
        <p:nvSpPr>
          <p:cNvPr id="16" name="Text 11"/>
          <p:cNvSpPr txBox="1"/>
          <p:nvPr/>
        </p:nvSpPr>
        <p:spPr>
          <a:xfrm>
            <a:off x="7022592" y="1399032"/>
            <a:ext cx="1554480" cy="475488"/>
          </a:xfrm>
          <a:prstGeom prst="rect">
            <a:avLst/>
          </a:prstGeom>
          <a:noFill/>
          <a:ln/>
        </p:spPr>
        <p:txBody>
          <a:bodyPr wrap="square" lIns="0" tIns="0" rIns="0" bIns="0" rtlCol="0" anchor="ctr"/>
          <a:lstStyle/>
          <a:p>
            <a:pPr indent="0" marL="0">
              <a:buNone/>
            </a:pPr>
            <a:r>
              <a:rPr lang="en-US" sz="1500" b="1" dirty="0">
                <a:solidFill>
                  <a:schemeClr val="tx2"/>
                </a:solidFill>
              </a:rPr>
              <a:t>Scoring module</a:t>
            </a:r>
            <a:endParaRPr lang="en-US" sz="1500" dirty="0"/>
          </a:p>
        </p:txBody>
      </p:sp>
      <p:sp>
        <p:nvSpPr>
          <p:cNvPr id="17" name="Text 12"/>
          <p:cNvSpPr txBox="1"/>
          <p:nvPr/>
        </p:nvSpPr>
        <p:spPr>
          <a:xfrm>
            <a:off x="6473952" y="1947672"/>
            <a:ext cx="2103120" cy="612648"/>
          </a:xfrm>
          <a:prstGeom prst="rect">
            <a:avLst/>
          </a:prstGeom>
          <a:noFill/>
          <a:ln/>
        </p:spPr>
        <p:txBody>
          <a:bodyPr wrap="square" lIns="0" tIns="0" rIns="0" bIns="0" rtlCol="0" anchor="t"/>
          <a:lstStyle/>
          <a:p>
            <a:pPr indent="0" marL="0">
              <a:buNone/>
            </a:pPr>
            <a:r>
              <a:rPr lang="en-US" sz="1200" dirty="0">
                <a:solidFill>
                  <a:schemeClr val="tx1"/>
                </a:solidFill>
              </a:rPr>
              <a:t>Test items, scoring and report wording. Unit-tested.</a:t>
            </a:r>
            <a:endParaRPr lang="en-US" sz="1200" dirty="0"/>
          </a:p>
        </p:txBody>
      </p:sp>
      <p:sp>
        <p:nvSpPr>
          <p:cNvPr id="18" name="store box"/>
          <p:cNvSpPr/>
          <p:nvPr/>
        </p:nvSpPr>
        <p:spPr>
          <a:xfrm>
            <a:off x="3383280" y="2971800"/>
            <a:ext cx="2377440" cy="1325880"/>
          </a:xfrm>
          <a:prstGeom prst="roundRect">
            <a:avLst>
              <a:gd name="adj" fmla="val 8276"/>
            </a:avLst>
          </a:prstGeom>
          <a:solidFill>
            <a:schemeClr val="bg2"/>
          </a:solidFill>
          <a:ln w="12700">
            <a:solidFill>
              <a:srgbClr val="DBEAFE"/>
            </a:solidFill>
            <a:prstDash val="solid"/>
          </a:ln>
        </p:spPr>
      </p:sp>
      <p:sp>
        <p:nvSpPr>
          <p:cNvPr id="19" name="store box badge circle"/>
          <p:cNvSpPr/>
          <p:nvPr/>
        </p:nvSpPr>
        <p:spPr>
          <a:xfrm>
            <a:off x="3547872" y="3154680"/>
            <a:ext cx="438912" cy="438912"/>
          </a:xfrm>
          <a:prstGeom prst="ellipse">
            <a:avLst/>
          </a:prstGeom>
          <a:solidFill>
            <a:schemeClr val="accent3"/>
          </a:solidFill>
          <a:ln/>
        </p:spPr>
      </p:sp>
      <p:pic>
        <p:nvPicPr>
          <p:cNvPr id="20" name="store box badge icon" descr="preencoded.png">    </p:cNvPr>
          <p:cNvPicPr>
            <a:picLocks noChangeAspect="1"/>
          </p:cNvPicPr>
          <p:nvPr/>
        </p:nvPicPr>
        <p:blipFill>
          <a:blip r:embed="rId4"/>
          <a:stretch>
            <a:fillRect/>
          </a:stretch>
        </p:blipFill>
        <p:spPr>
          <a:xfrm>
            <a:off x="3661989" y="3268797"/>
            <a:ext cx="210678" cy="210678"/>
          </a:xfrm>
          <a:prstGeom prst="rect">
            <a:avLst/>
          </a:prstGeom>
        </p:spPr>
      </p:pic>
      <p:sp>
        <p:nvSpPr>
          <p:cNvPr id="21" name="Text 15"/>
          <p:cNvSpPr txBox="1"/>
          <p:nvPr/>
        </p:nvSpPr>
        <p:spPr>
          <a:xfrm>
            <a:off x="4096512" y="3136392"/>
            <a:ext cx="1554480" cy="475488"/>
          </a:xfrm>
          <a:prstGeom prst="rect">
            <a:avLst/>
          </a:prstGeom>
          <a:noFill/>
          <a:ln/>
        </p:spPr>
        <p:txBody>
          <a:bodyPr wrap="square" lIns="0" tIns="0" rIns="0" bIns="0" rtlCol="0" anchor="ctr"/>
          <a:lstStyle/>
          <a:p>
            <a:pPr indent="0" marL="0">
              <a:buNone/>
            </a:pPr>
            <a:r>
              <a:rPr lang="en-US" sz="1500" b="1" dirty="0">
                <a:solidFill>
                  <a:schemeClr val="tx2"/>
                </a:solidFill>
              </a:rPr>
              <a:t>Accounts &amp; results</a:t>
            </a:r>
            <a:endParaRPr lang="en-US" sz="1500" dirty="0"/>
          </a:p>
        </p:txBody>
      </p:sp>
      <p:sp>
        <p:nvSpPr>
          <p:cNvPr id="22" name="Text 16"/>
          <p:cNvSpPr txBox="1"/>
          <p:nvPr/>
        </p:nvSpPr>
        <p:spPr>
          <a:xfrm>
            <a:off x="3547872" y="3685032"/>
            <a:ext cx="2103120" cy="521208"/>
          </a:xfrm>
          <a:prstGeom prst="rect">
            <a:avLst/>
          </a:prstGeom>
          <a:noFill/>
          <a:ln/>
        </p:spPr>
        <p:txBody>
          <a:bodyPr wrap="square" lIns="0" tIns="0" rIns="0" bIns="0" rtlCol="0" anchor="t"/>
          <a:lstStyle/>
          <a:p>
            <a:pPr indent="0" marL="0">
              <a:buNone/>
            </a:pPr>
            <a:r>
              <a:rPr lang="en-US" sz="1200" dirty="0">
                <a:solidFill>
                  <a:schemeClr val="tx1"/>
                </a:solidFill>
              </a:rPr>
              <a:t>One JSON file to start; swap in a database later.</a:t>
            </a:r>
            <a:endParaRPr lang="en-US" sz="1200" dirty="0"/>
          </a:p>
        </p:txBody>
      </p:sp>
      <p:sp>
        <p:nvSpPr>
          <p:cNvPr id="23" name="counsellor box"/>
          <p:cNvSpPr/>
          <p:nvPr/>
        </p:nvSpPr>
        <p:spPr>
          <a:xfrm>
            <a:off x="6309360" y="2971800"/>
            <a:ext cx="2377440" cy="1325880"/>
          </a:xfrm>
          <a:prstGeom prst="roundRect">
            <a:avLst>
              <a:gd name="adj" fmla="val 8276"/>
            </a:avLst>
          </a:prstGeom>
          <a:solidFill>
            <a:schemeClr val="bg2"/>
          </a:solidFill>
          <a:ln w="12700">
            <a:solidFill>
              <a:srgbClr val="DBEAFE"/>
            </a:solidFill>
            <a:prstDash val="solid"/>
          </a:ln>
        </p:spPr>
      </p:sp>
      <p:sp>
        <p:nvSpPr>
          <p:cNvPr id="24" name="counsellor box badge circle"/>
          <p:cNvSpPr/>
          <p:nvPr/>
        </p:nvSpPr>
        <p:spPr>
          <a:xfrm>
            <a:off x="6473952" y="3154680"/>
            <a:ext cx="438912" cy="438912"/>
          </a:xfrm>
          <a:prstGeom prst="ellipse">
            <a:avLst/>
          </a:prstGeom>
          <a:solidFill>
            <a:schemeClr val="accent5"/>
          </a:solidFill>
          <a:ln/>
        </p:spPr>
      </p:sp>
      <p:pic>
        <p:nvPicPr>
          <p:cNvPr id="25" name="counsellor box badge icon" descr="preencoded.png">    </p:cNvPr>
          <p:cNvPicPr>
            <a:picLocks noChangeAspect="1"/>
          </p:cNvPicPr>
          <p:nvPr/>
        </p:nvPicPr>
        <p:blipFill>
          <a:blip r:embed="rId5"/>
          <a:stretch>
            <a:fillRect/>
          </a:stretch>
        </p:blipFill>
        <p:spPr>
          <a:xfrm>
            <a:off x="6588069" y="3268797"/>
            <a:ext cx="210678" cy="210678"/>
          </a:xfrm>
          <a:prstGeom prst="rect">
            <a:avLst/>
          </a:prstGeom>
        </p:spPr>
      </p:pic>
      <p:sp>
        <p:nvSpPr>
          <p:cNvPr id="26" name="Text 19"/>
          <p:cNvSpPr txBox="1"/>
          <p:nvPr/>
        </p:nvSpPr>
        <p:spPr>
          <a:xfrm>
            <a:off x="7022592" y="3136392"/>
            <a:ext cx="1554480" cy="475488"/>
          </a:xfrm>
          <a:prstGeom prst="rect">
            <a:avLst/>
          </a:prstGeom>
          <a:noFill/>
          <a:ln/>
        </p:spPr>
        <p:txBody>
          <a:bodyPr wrap="square" lIns="0" tIns="0" rIns="0" bIns="0" rtlCol="0" anchor="ctr"/>
          <a:lstStyle/>
          <a:p>
            <a:pPr indent="0" marL="0">
              <a:buNone/>
            </a:pPr>
            <a:r>
              <a:rPr lang="en-US" sz="1500" b="1" dirty="0">
                <a:solidFill>
                  <a:schemeClr val="tx2"/>
                </a:solidFill>
              </a:rPr>
              <a:t>Counsellor</a:t>
            </a:r>
            <a:endParaRPr lang="en-US" sz="1500" dirty="0"/>
          </a:p>
        </p:txBody>
      </p:sp>
      <p:sp>
        <p:nvSpPr>
          <p:cNvPr id="27" name="Text 20"/>
          <p:cNvSpPr txBox="1"/>
          <p:nvPr/>
        </p:nvSpPr>
        <p:spPr>
          <a:xfrm>
            <a:off x="6473952" y="3685032"/>
            <a:ext cx="2103120" cy="521208"/>
          </a:xfrm>
          <a:prstGeom prst="rect">
            <a:avLst/>
          </a:prstGeom>
          <a:noFill/>
          <a:ln/>
        </p:spPr>
        <p:txBody>
          <a:bodyPr wrap="square" lIns="0" tIns="0" rIns="0" bIns="0" rtlCol="0" anchor="t"/>
          <a:lstStyle/>
          <a:p>
            <a:pPr indent="0" marL="0">
              <a:buNone/>
            </a:pPr>
            <a:r>
              <a:rPr lang="en-US" sz="1200" dirty="0">
                <a:solidFill>
                  <a:schemeClr val="tx1"/>
                </a:solidFill>
              </a:rPr>
              <a:t>Scripted in the app; the AgentFoundry agent plugs in here.</a:t>
            </a:r>
            <a:endParaRPr lang="en-US" sz="1200" dirty="0"/>
          </a:p>
        </p:txBody>
      </p:sp>
      <p:sp>
        <p:nvSpPr>
          <p:cNvPr id="28" name="app to server"/>
          <p:cNvSpPr/>
          <p:nvPr/>
        </p:nvSpPr>
        <p:spPr>
          <a:xfrm>
            <a:off x="2880360" y="1938528"/>
            <a:ext cx="457200" cy="0"/>
          </a:xfrm>
          <a:prstGeom prst="line">
            <a:avLst/>
          </a:prstGeom>
          <a:noFill/>
          <a:ln w="25400">
            <a:solidFill>
              <a:srgbClr val="2563EB"/>
            </a:solidFill>
            <a:prstDash val="solid"/>
            <a:tailEnd type="triangle"/>
          </a:ln>
        </p:spPr>
      </p:sp>
      <p:sp>
        <p:nvSpPr>
          <p:cNvPr id="29" name="server to scoring"/>
          <p:cNvSpPr/>
          <p:nvPr/>
        </p:nvSpPr>
        <p:spPr>
          <a:xfrm>
            <a:off x="5806440" y="1938528"/>
            <a:ext cx="457200" cy="0"/>
          </a:xfrm>
          <a:prstGeom prst="line">
            <a:avLst/>
          </a:prstGeom>
          <a:noFill/>
          <a:ln w="25400">
            <a:solidFill>
              <a:srgbClr val="2563EB"/>
            </a:solidFill>
            <a:prstDash val="solid"/>
            <a:tailEnd type="triangle"/>
          </a:ln>
        </p:spPr>
      </p:sp>
      <p:sp>
        <p:nvSpPr>
          <p:cNvPr id="30" name="server to store"/>
          <p:cNvSpPr/>
          <p:nvPr/>
        </p:nvSpPr>
        <p:spPr>
          <a:xfrm>
            <a:off x="4572000" y="2697480"/>
            <a:ext cx="0" cy="256032"/>
          </a:xfrm>
          <a:prstGeom prst="line">
            <a:avLst/>
          </a:prstGeom>
          <a:noFill/>
          <a:ln w="25400">
            <a:solidFill>
              <a:srgbClr val="2563EB"/>
            </a:solidFill>
            <a:prstDash val="solid"/>
            <a:tailEnd type="triangle"/>
          </a:ln>
        </p:spPr>
      </p:sp>
      <p:sp>
        <p:nvSpPr>
          <p:cNvPr id="31" name="server to counsellor"/>
          <p:cNvSpPr/>
          <p:nvPr/>
        </p:nvSpPr>
        <p:spPr>
          <a:xfrm>
            <a:off x="5760720" y="2697480"/>
            <a:ext cx="1097280" cy="256032"/>
          </a:xfrm>
          <a:prstGeom prst="line">
            <a:avLst/>
          </a:prstGeom>
          <a:noFill/>
          <a:ln w="25400">
            <a:solidFill>
              <a:srgbClr val="2563EB"/>
            </a:solidFill>
            <a:prstDash val="solid"/>
            <a:tailEnd type="triangle"/>
          </a:ln>
        </p:spPr>
      </p:sp>
      <p:sp>
        <p:nvSpPr>
          <p:cNvPr id="32" name="security box"/>
          <p:cNvSpPr/>
          <p:nvPr/>
        </p:nvSpPr>
        <p:spPr>
          <a:xfrm>
            <a:off x="457200" y="2971800"/>
            <a:ext cx="2377440" cy="1325880"/>
          </a:xfrm>
          <a:prstGeom prst="roundRect">
            <a:avLst>
              <a:gd name="adj" fmla="val 8276"/>
            </a:avLst>
          </a:prstGeom>
          <a:solidFill>
            <a:schemeClr val="tx2"/>
          </a:solidFill>
          <a:ln/>
        </p:spPr>
      </p:sp>
      <p:sp>
        <p:nvSpPr>
          <p:cNvPr id="33" name="security circle"/>
          <p:cNvSpPr/>
          <p:nvPr/>
        </p:nvSpPr>
        <p:spPr>
          <a:xfrm>
            <a:off x="621792" y="3136392"/>
            <a:ext cx="402336" cy="402336"/>
          </a:xfrm>
          <a:prstGeom prst="ellipse">
            <a:avLst/>
          </a:prstGeom>
          <a:solidFill>
            <a:schemeClr val="accent2"/>
          </a:solidFill>
          <a:ln/>
        </p:spPr>
      </p:sp>
      <p:pic>
        <p:nvPicPr>
          <p:cNvPr id="34" name="security icon" descr="preencoded.png">    </p:cNvPr>
          <p:cNvPicPr>
            <a:picLocks noChangeAspect="1"/>
          </p:cNvPicPr>
          <p:nvPr/>
        </p:nvPicPr>
        <p:blipFill>
          <a:blip r:embed="rId6"/>
          <a:stretch>
            <a:fillRect/>
          </a:stretch>
        </p:blipFill>
        <p:spPr>
          <a:xfrm>
            <a:off x="726399" y="3240999"/>
            <a:ext cx="193121" cy="193121"/>
          </a:xfrm>
          <a:prstGeom prst="rect">
            <a:avLst/>
          </a:prstGeom>
        </p:spPr>
      </p:pic>
      <p:sp>
        <p:nvSpPr>
          <p:cNvPr id="35" name="Text 27"/>
          <p:cNvSpPr txBox="1"/>
          <p:nvPr/>
        </p:nvSpPr>
        <p:spPr>
          <a:xfrm>
            <a:off x="1143000" y="3136392"/>
            <a:ext cx="1600200" cy="402336"/>
          </a:xfrm>
          <a:prstGeom prst="rect">
            <a:avLst/>
          </a:prstGeom>
          <a:noFill/>
          <a:ln/>
        </p:spPr>
        <p:txBody>
          <a:bodyPr wrap="square" lIns="0" tIns="0" rIns="0" bIns="0" rtlCol="0" anchor="ctr"/>
          <a:lstStyle/>
          <a:p>
            <a:pPr indent="0" marL="0">
              <a:buNone/>
            </a:pPr>
            <a:r>
              <a:rPr lang="en-US" sz="1500" b="1" dirty="0">
                <a:solidFill>
                  <a:schemeClr val="bg1"/>
                </a:solidFill>
              </a:rPr>
              <a:t>Safe by default</a:t>
            </a:r>
            <a:endParaRPr lang="en-US" sz="1500" dirty="0"/>
          </a:p>
        </p:txBody>
      </p:sp>
      <p:sp>
        <p:nvSpPr>
          <p:cNvPr id="36" name="Text 28"/>
          <p:cNvSpPr txBox="1"/>
          <p:nvPr/>
        </p:nvSpPr>
        <p:spPr>
          <a:xfrm>
            <a:off x="621792" y="3611880"/>
            <a:ext cx="2103120" cy="640080"/>
          </a:xfrm>
          <a:prstGeom prst="rect">
            <a:avLst/>
          </a:prstGeom>
          <a:noFill/>
          <a:ln/>
        </p:spPr>
        <p:txBody>
          <a:bodyPr wrap="square" lIns="0" tIns="0" rIns="0" bIns="0" rtlCol="0" anchor="t"/>
          <a:lstStyle/>
          <a:p>
            <a:pPr indent="0" marL="0">
              <a:buNone/>
            </a:pPr>
            <a:r>
              <a:rPr lang="en-US" sz="1200" dirty="0">
                <a:solidFill>
                  <a:schemeClr val="accent6"/>
                </a:solidFill>
              </a:rPr>
              <a:t>Hashed passwords, a 5-try lock, signed sessions, pages gated by role.</a:t>
            </a:r>
            <a:endParaRPr lang="en-US" sz="1200" dirty="0"/>
          </a:p>
        </p:txBody>
      </p:sp>
      <p:sp>
        <p:nvSpPr>
          <p:cNvPr id="37" name="Text 29"/>
          <p:cNvSpPr txBox="1"/>
          <p:nvPr/>
        </p:nvSpPr>
        <p:spPr>
          <a:xfrm>
            <a:off x="457200" y="4407408"/>
            <a:ext cx="8229600" cy="329184"/>
          </a:xfrm>
          <a:prstGeom prst="rect">
            <a:avLst/>
          </a:prstGeom>
          <a:noFill/>
          <a:ln/>
        </p:spPr>
        <p:txBody>
          <a:bodyPr wrap="square" lIns="0" tIns="0" rIns="0" bIns="0" rtlCol="0" anchor="b"/>
          <a:lstStyle/>
          <a:p>
            <a:pPr indent="0" marL="0">
              <a:buNone/>
            </a:pPr>
            <a:r>
              <a:rPr lang="en-US" sz="900" dirty="0">
                <a:solidFill>
                  <a:schemeClr val="accent5"/>
                </a:solidFill>
              </a:rPr>
              <a:t>Open source under MIT · github.com/om-1115/hpc-career-agent · 23 automated tests for scoring, the API and the agent’s tools</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Honest about what a 10-minute test can say</a:t>
            </a:r>
            <a:endParaRPr lang="en-US" sz="2800" dirty="0"/>
          </a:p>
        </p:txBody>
      </p:sp>
      <p:sp>
        <p:nvSpPr>
          <p:cNvPr id="3" name="principle 1"/>
          <p:cNvSpPr/>
          <p:nvPr/>
        </p:nvSpPr>
        <p:spPr>
          <a:xfrm>
            <a:off x="457200" y="1143000"/>
            <a:ext cx="4023360" cy="1417320"/>
          </a:xfrm>
          <a:prstGeom prst="roundRect">
            <a:avLst>
              <a:gd name="adj" fmla="val 7742"/>
            </a:avLst>
          </a:prstGeom>
          <a:solidFill>
            <a:schemeClr val="bg2"/>
          </a:solidFill>
          <a:ln/>
        </p:spPr>
      </p:sp>
      <p:sp>
        <p:nvSpPr>
          <p:cNvPr id="4" name="principle 1 circle"/>
          <p:cNvSpPr/>
          <p:nvPr/>
        </p:nvSpPr>
        <p:spPr>
          <a:xfrm>
            <a:off x="685800" y="1417320"/>
            <a:ext cx="640080" cy="640080"/>
          </a:xfrm>
          <a:prstGeom prst="ellipse">
            <a:avLst/>
          </a:prstGeom>
          <a:solidFill>
            <a:schemeClr val="accent1"/>
          </a:solidFill>
          <a:ln/>
        </p:spPr>
      </p:sp>
      <p:pic>
        <p:nvPicPr>
          <p:cNvPr id="5" name="principle 1 icon" descr="preencoded.png">    </p:cNvPr>
          <p:cNvPicPr>
            <a:picLocks noChangeAspect="1"/>
          </p:cNvPicPr>
          <p:nvPr/>
        </p:nvPicPr>
        <p:blipFill>
          <a:blip r:embed="rId1"/>
          <a:stretch>
            <a:fillRect/>
          </a:stretch>
        </p:blipFill>
        <p:spPr>
          <a:xfrm>
            <a:off x="852221" y="1583741"/>
            <a:ext cx="307238" cy="307238"/>
          </a:xfrm>
          <a:prstGeom prst="rect">
            <a:avLst/>
          </a:prstGeom>
        </p:spPr>
      </p:pic>
      <p:sp>
        <p:nvSpPr>
          <p:cNvPr id="6" name="Text 3"/>
          <p:cNvSpPr txBox="1"/>
          <p:nvPr/>
        </p:nvSpPr>
        <p:spPr>
          <a:xfrm>
            <a:off x="1554480" y="1344168"/>
            <a:ext cx="2788920" cy="384048"/>
          </a:xfrm>
          <a:prstGeom prst="rect">
            <a:avLst/>
          </a:prstGeom>
          <a:noFill/>
          <a:ln/>
        </p:spPr>
        <p:txBody>
          <a:bodyPr wrap="square" lIns="0" tIns="0" rIns="0" bIns="0" rtlCol="0" anchor="ctr"/>
          <a:lstStyle/>
          <a:p>
            <a:pPr indent="0" marL="0">
              <a:buNone/>
            </a:pPr>
            <a:r>
              <a:rPr lang="en-US" sz="1600" b="1" dirty="0">
                <a:solidFill>
                  <a:schemeClr val="tx2"/>
                </a:solidFill>
              </a:rPr>
              <a:t>A starting point</a:t>
            </a:r>
            <a:endParaRPr lang="en-US" sz="1600" dirty="0"/>
          </a:p>
        </p:txBody>
      </p:sp>
      <p:sp>
        <p:nvSpPr>
          <p:cNvPr id="7" name="Text 4"/>
          <p:cNvSpPr txBox="1"/>
          <p:nvPr/>
        </p:nvSpPr>
        <p:spPr>
          <a:xfrm>
            <a:off x="1554480" y="1746504"/>
            <a:ext cx="2788920" cy="731520"/>
          </a:xfrm>
          <a:prstGeom prst="rect">
            <a:avLst/>
          </a:prstGeom>
          <a:noFill/>
          <a:ln/>
        </p:spPr>
        <p:txBody>
          <a:bodyPr wrap="square" lIns="0" tIns="0" rIns="0" bIns="0" rtlCol="0" anchor="t"/>
          <a:lstStyle/>
          <a:p>
            <a:pPr indent="0" marL="0">
              <a:buNone/>
            </a:pPr>
            <a:r>
              <a:rPr lang="en-US" sz="1300" dirty="0">
                <a:solidFill>
                  <a:schemeClr val="tx1"/>
                </a:solidFill>
              </a:rPr>
              <a:t>The report says so on the page. The interest questions are new and not yet validated.</a:t>
            </a:r>
            <a:endParaRPr lang="en-US" sz="1300" dirty="0"/>
          </a:p>
        </p:txBody>
      </p:sp>
      <p:sp>
        <p:nvSpPr>
          <p:cNvPr id="8" name="principle 2"/>
          <p:cNvSpPr/>
          <p:nvPr/>
        </p:nvSpPr>
        <p:spPr>
          <a:xfrm>
            <a:off x="4663440" y="1143000"/>
            <a:ext cx="4023360" cy="1417320"/>
          </a:xfrm>
          <a:prstGeom prst="roundRect">
            <a:avLst>
              <a:gd name="adj" fmla="val 7742"/>
            </a:avLst>
          </a:prstGeom>
          <a:solidFill>
            <a:schemeClr val="bg2"/>
          </a:solidFill>
          <a:ln/>
        </p:spPr>
      </p:sp>
      <p:sp>
        <p:nvSpPr>
          <p:cNvPr id="9" name="principle 2 circle"/>
          <p:cNvSpPr/>
          <p:nvPr/>
        </p:nvSpPr>
        <p:spPr>
          <a:xfrm>
            <a:off x="4892040" y="1417320"/>
            <a:ext cx="640080" cy="640080"/>
          </a:xfrm>
          <a:prstGeom prst="ellipse">
            <a:avLst/>
          </a:prstGeom>
          <a:solidFill>
            <a:schemeClr val="accent3"/>
          </a:solidFill>
          <a:ln/>
        </p:spPr>
      </p:sp>
      <p:pic>
        <p:nvPicPr>
          <p:cNvPr id="10" name="principle 2 icon" descr="preencoded.png">    </p:cNvPr>
          <p:cNvPicPr>
            <a:picLocks noChangeAspect="1"/>
          </p:cNvPicPr>
          <p:nvPr/>
        </p:nvPicPr>
        <p:blipFill>
          <a:blip r:embed="rId2"/>
          <a:stretch>
            <a:fillRect/>
          </a:stretch>
        </p:blipFill>
        <p:spPr>
          <a:xfrm>
            <a:off x="5058461" y="1583741"/>
            <a:ext cx="307238" cy="307238"/>
          </a:xfrm>
          <a:prstGeom prst="rect">
            <a:avLst/>
          </a:prstGeom>
        </p:spPr>
      </p:pic>
      <p:sp>
        <p:nvSpPr>
          <p:cNvPr id="11" name="Text 7"/>
          <p:cNvSpPr txBox="1"/>
          <p:nvPr/>
        </p:nvSpPr>
        <p:spPr>
          <a:xfrm>
            <a:off x="5760720" y="1344168"/>
            <a:ext cx="2788920" cy="384048"/>
          </a:xfrm>
          <a:prstGeom prst="rect">
            <a:avLst/>
          </a:prstGeom>
          <a:noFill/>
          <a:ln/>
        </p:spPr>
        <p:txBody>
          <a:bodyPr wrap="square" lIns="0" tIns="0" rIns="0" bIns="0" rtlCol="0" anchor="ctr"/>
          <a:lstStyle/>
          <a:p>
            <a:pPr indent="0" marL="0">
              <a:buNone/>
            </a:pPr>
            <a:r>
              <a:rPr lang="en-US" sz="1600" b="1" dirty="0">
                <a:solidFill>
                  <a:schemeClr val="tx2"/>
                </a:solidFill>
              </a:rPr>
              <a:t>Strength-based language</a:t>
            </a:r>
            <a:endParaRPr lang="en-US" sz="1600" dirty="0"/>
          </a:p>
        </p:txBody>
      </p:sp>
      <p:sp>
        <p:nvSpPr>
          <p:cNvPr id="12" name="Text 8"/>
          <p:cNvSpPr txBox="1"/>
          <p:nvPr/>
        </p:nvSpPr>
        <p:spPr>
          <a:xfrm>
            <a:off x="5760720" y="1746504"/>
            <a:ext cx="2788920" cy="731520"/>
          </a:xfrm>
          <a:prstGeom prst="rect">
            <a:avLst/>
          </a:prstGeom>
          <a:noFill/>
          <a:ln/>
        </p:spPr>
        <p:txBody>
          <a:bodyPr wrap="square" lIns="0" tIns="0" rIns="0" bIns="0" rtlCol="0" anchor="t"/>
          <a:lstStyle/>
          <a:p>
            <a:pPr indent="0" marL="0">
              <a:buNone/>
            </a:pPr>
            <a:r>
              <a:rPr lang="en-US" sz="1300" dirty="0">
                <a:solidFill>
                  <a:schemeClr val="tx1"/>
                </a:solidFill>
              </a:rPr>
              <a:t>No trait is a flaw. Scores show more or less for this student, not a ranking.</a:t>
            </a:r>
            <a:endParaRPr lang="en-US" sz="1300" dirty="0"/>
          </a:p>
        </p:txBody>
      </p:sp>
      <p:sp>
        <p:nvSpPr>
          <p:cNvPr id="13" name="principle 3"/>
          <p:cNvSpPr/>
          <p:nvPr/>
        </p:nvSpPr>
        <p:spPr>
          <a:xfrm>
            <a:off x="457200" y="2743200"/>
            <a:ext cx="4023360" cy="1417320"/>
          </a:xfrm>
          <a:prstGeom prst="roundRect">
            <a:avLst>
              <a:gd name="adj" fmla="val 7742"/>
            </a:avLst>
          </a:prstGeom>
          <a:solidFill>
            <a:schemeClr val="bg2"/>
          </a:solidFill>
          <a:ln/>
        </p:spPr>
      </p:sp>
      <p:sp>
        <p:nvSpPr>
          <p:cNvPr id="14" name="principle 3 circle"/>
          <p:cNvSpPr/>
          <p:nvPr/>
        </p:nvSpPr>
        <p:spPr>
          <a:xfrm>
            <a:off x="685800" y="3017520"/>
            <a:ext cx="640080" cy="640080"/>
          </a:xfrm>
          <a:prstGeom prst="ellipse">
            <a:avLst/>
          </a:prstGeom>
          <a:solidFill>
            <a:schemeClr val="accent2"/>
          </a:solidFill>
          <a:ln/>
        </p:spPr>
      </p:sp>
      <p:pic>
        <p:nvPicPr>
          <p:cNvPr id="15" name="principle 3 icon" descr="preencoded.png">    </p:cNvPr>
          <p:cNvPicPr>
            <a:picLocks noChangeAspect="1"/>
          </p:cNvPicPr>
          <p:nvPr/>
        </p:nvPicPr>
        <p:blipFill>
          <a:blip r:embed="rId3"/>
          <a:stretch>
            <a:fillRect/>
          </a:stretch>
        </p:blipFill>
        <p:spPr>
          <a:xfrm>
            <a:off x="852221" y="3183941"/>
            <a:ext cx="307238" cy="307238"/>
          </a:xfrm>
          <a:prstGeom prst="rect">
            <a:avLst/>
          </a:prstGeom>
        </p:spPr>
      </p:pic>
      <p:sp>
        <p:nvSpPr>
          <p:cNvPr id="16" name="Text 11"/>
          <p:cNvSpPr txBox="1"/>
          <p:nvPr/>
        </p:nvSpPr>
        <p:spPr>
          <a:xfrm>
            <a:off x="1554480" y="2944368"/>
            <a:ext cx="2788920" cy="384048"/>
          </a:xfrm>
          <a:prstGeom prst="rect">
            <a:avLst/>
          </a:prstGeom>
          <a:noFill/>
          <a:ln/>
        </p:spPr>
        <p:txBody>
          <a:bodyPr wrap="square" lIns="0" tIns="0" rIns="0" bIns="0" rtlCol="0" anchor="ctr"/>
          <a:lstStyle/>
          <a:p>
            <a:pPr indent="0" marL="0">
              <a:buNone/>
            </a:pPr>
            <a:r>
              <a:rPr lang="en-US" sz="1600" b="1" dirty="0">
                <a:solidFill>
                  <a:schemeClr val="tx2"/>
                </a:solidFill>
              </a:rPr>
              <a:t>Open content</a:t>
            </a:r>
            <a:endParaRPr lang="en-US" sz="1600" dirty="0"/>
          </a:p>
        </p:txBody>
      </p:sp>
      <p:sp>
        <p:nvSpPr>
          <p:cNvPr id="17" name="Text 12"/>
          <p:cNvSpPr txBox="1"/>
          <p:nvPr/>
        </p:nvSpPr>
        <p:spPr>
          <a:xfrm>
            <a:off x="1554480" y="3346704"/>
            <a:ext cx="2788920" cy="731520"/>
          </a:xfrm>
          <a:prstGeom prst="rect">
            <a:avLst/>
          </a:prstGeom>
          <a:noFill/>
          <a:ln/>
        </p:spPr>
        <p:txBody>
          <a:bodyPr wrap="square" lIns="0" tIns="0" rIns="0" bIns="0" rtlCol="0" anchor="t"/>
          <a:lstStyle/>
          <a:p>
            <a:pPr indent="0" marL="0">
              <a:buNone/>
            </a:pPr>
            <a:r>
              <a:rPr lang="en-US" sz="1300" dirty="0">
                <a:solidFill>
                  <a:schemeClr val="tx1"/>
                </a:solidFill>
              </a:rPr>
              <a:t>Personality items are public domain; interest items, careers and wording are ours and MIT-licensed.</a:t>
            </a:r>
            <a:endParaRPr lang="en-US" sz="1300" dirty="0"/>
          </a:p>
        </p:txBody>
      </p:sp>
      <p:sp>
        <p:nvSpPr>
          <p:cNvPr id="18" name="principle 4"/>
          <p:cNvSpPr/>
          <p:nvPr/>
        </p:nvSpPr>
        <p:spPr>
          <a:xfrm>
            <a:off x="4663440" y="2743200"/>
            <a:ext cx="4023360" cy="1417320"/>
          </a:xfrm>
          <a:prstGeom prst="roundRect">
            <a:avLst>
              <a:gd name="adj" fmla="val 7742"/>
            </a:avLst>
          </a:prstGeom>
          <a:solidFill>
            <a:schemeClr val="bg2"/>
          </a:solidFill>
          <a:ln/>
        </p:spPr>
      </p:sp>
      <p:sp>
        <p:nvSpPr>
          <p:cNvPr id="19" name="principle 4 circle"/>
          <p:cNvSpPr/>
          <p:nvPr/>
        </p:nvSpPr>
        <p:spPr>
          <a:xfrm>
            <a:off x="4892040" y="3017520"/>
            <a:ext cx="640080" cy="640080"/>
          </a:xfrm>
          <a:prstGeom prst="ellipse">
            <a:avLst/>
          </a:prstGeom>
          <a:solidFill>
            <a:schemeClr val="tx2"/>
          </a:solidFill>
          <a:ln/>
        </p:spPr>
      </p:sp>
      <p:pic>
        <p:nvPicPr>
          <p:cNvPr id="20" name="principle 4 icon" descr="preencoded.png">    </p:cNvPr>
          <p:cNvPicPr>
            <a:picLocks noChangeAspect="1"/>
          </p:cNvPicPr>
          <p:nvPr/>
        </p:nvPicPr>
        <p:blipFill>
          <a:blip r:embed="rId4"/>
          <a:stretch>
            <a:fillRect/>
          </a:stretch>
        </p:blipFill>
        <p:spPr>
          <a:xfrm>
            <a:off x="5058461" y="3183941"/>
            <a:ext cx="307238" cy="307238"/>
          </a:xfrm>
          <a:prstGeom prst="rect">
            <a:avLst/>
          </a:prstGeom>
        </p:spPr>
      </p:pic>
      <p:sp>
        <p:nvSpPr>
          <p:cNvPr id="21" name="Text 15"/>
          <p:cNvSpPr txBox="1"/>
          <p:nvPr/>
        </p:nvSpPr>
        <p:spPr>
          <a:xfrm>
            <a:off x="5760720" y="2944368"/>
            <a:ext cx="2788920" cy="384048"/>
          </a:xfrm>
          <a:prstGeom prst="rect">
            <a:avLst/>
          </a:prstGeom>
          <a:noFill/>
          <a:ln/>
        </p:spPr>
        <p:txBody>
          <a:bodyPr wrap="square" lIns="0" tIns="0" rIns="0" bIns="0" rtlCol="0" anchor="ctr"/>
          <a:lstStyle/>
          <a:p>
            <a:pPr indent="0" marL="0">
              <a:buNone/>
            </a:pPr>
            <a:r>
              <a:rPr lang="en-US" sz="1600" b="1" dirty="0">
                <a:solidFill>
                  <a:schemeClr val="tx2"/>
                </a:solidFill>
              </a:rPr>
              <a:t>Private by default</a:t>
            </a:r>
            <a:endParaRPr lang="en-US" sz="1600" dirty="0"/>
          </a:p>
        </p:txBody>
      </p:sp>
      <p:sp>
        <p:nvSpPr>
          <p:cNvPr id="22" name="Text 16"/>
          <p:cNvSpPr txBox="1"/>
          <p:nvPr/>
        </p:nvSpPr>
        <p:spPr>
          <a:xfrm>
            <a:off x="5760720" y="3346704"/>
            <a:ext cx="2788920" cy="731520"/>
          </a:xfrm>
          <a:prstGeom prst="rect">
            <a:avLst/>
          </a:prstGeom>
          <a:noFill/>
          <a:ln/>
        </p:spPr>
        <p:txBody>
          <a:bodyPr wrap="square" lIns="0" tIns="0" rIns="0" bIns="0" rtlCol="0" anchor="t"/>
          <a:lstStyle/>
          <a:p>
            <a:pPr indent="0" marL="0">
              <a:buNone/>
            </a:pPr>
            <a:r>
              <a:rPr lang="en-US" sz="1300" dirty="0">
                <a:solidFill>
                  <a:schemeClr val="tx1"/>
                </a:solidFill>
              </a:rPr>
              <a:t>Only the student and their teacher see a result. Nothing is kept on a shared phone after sign-out.</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How we will show impact</a:t>
            </a:r>
            <a:endParaRPr lang="en-US" sz="2800" dirty="0"/>
          </a:p>
        </p:txBody>
      </p:sp>
      <p:sp>
        <p:nvSpPr>
          <p:cNvPr id="3" name="criterion 1"/>
          <p:cNvSpPr/>
          <p:nvPr/>
        </p:nvSpPr>
        <p:spPr>
          <a:xfrm>
            <a:off x="457200" y="1188720"/>
            <a:ext cx="1920240" cy="3017520"/>
          </a:xfrm>
          <a:prstGeom prst="roundRect">
            <a:avLst>
              <a:gd name="adj" fmla="val 5714"/>
            </a:avLst>
          </a:prstGeom>
          <a:solidFill>
            <a:schemeClr val="tx2"/>
          </a:solidFill>
          <a:ln/>
        </p:spPr>
      </p:sp>
      <p:sp>
        <p:nvSpPr>
          <p:cNvPr id="4" name="Text 2"/>
          <p:cNvSpPr txBox="1"/>
          <p:nvPr/>
        </p:nvSpPr>
        <p:spPr>
          <a:xfrm>
            <a:off x="640080" y="1371600"/>
            <a:ext cx="1600200" cy="731520"/>
          </a:xfrm>
          <a:prstGeom prst="rect">
            <a:avLst/>
          </a:prstGeom>
          <a:noFill/>
          <a:ln/>
        </p:spPr>
        <p:txBody>
          <a:bodyPr wrap="square" lIns="0" tIns="0" rIns="0" bIns="0" rtlCol="0" anchor="t"/>
          <a:lstStyle/>
          <a:p>
            <a:pPr indent="0" marL="0">
              <a:buNone/>
            </a:pPr>
            <a:r>
              <a:rPr lang="en-US" sz="2000" b="1" dirty="0">
                <a:solidFill>
                  <a:schemeClr val="bg1"/>
                </a:solidFill>
              </a:rPr>
              <a:t>Size</a:t>
            </a:r>
            <a:endParaRPr lang="en-US" sz="2000" dirty="0"/>
          </a:p>
        </p:txBody>
      </p:sp>
      <p:sp>
        <p:nvSpPr>
          <p:cNvPr id="5" name="Text 3"/>
          <p:cNvSpPr txBox="1"/>
          <p:nvPr/>
        </p:nvSpPr>
        <p:spPr>
          <a:xfrm>
            <a:off x="640080" y="2194560"/>
            <a:ext cx="1600200" cy="1874520"/>
          </a:xfrm>
          <a:prstGeom prst="rect">
            <a:avLst/>
          </a:prstGeom>
          <a:noFill/>
          <a:ln/>
        </p:spPr>
        <p:txBody>
          <a:bodyPr wrap="square" lIns="0" tIns="0" rIns="0" bIns="0" rtlCol="0" anchor="t"/>
          <a:lstStyle/>
          <a:p>
            <a:pPr indent="0" marL="0">
              <a:buNone/>
            </a:pPr>
            <a:r>
              <a:rPr lang="en-US" sz="1400" dirty="0">
                <a:solidFill>
                  <a:schemeClr val="bg1"/>
                </a:solidFill>
              </a:rPr>
              <a:t>Built for any school with a phone and a browser — the 24.8 crore students in Indian schools.</a:t>
            </a:r>
            <a:endParaRPr lang="en-US" sz="1400" dirty="0"/>
          </a:p>
        </p:txBody>
      </p:sp>
      <p:sp>
        <p:nvSpPr>
          <p:cNvPr id="6" name="criterion 2"/>
          <p:cNvSpPr/>
          <p:nvPr/>
        </p:nvSpPr>
        <p:spPr>
          <a:xfrm>
            <a:off x="2560320" y="1188720"/>
            <a:ext cx="1920240" cy="3017520"/>
          </a:xfrm>
          <a:prstGeom prst="roundRect">
            <a:avLst>
              <a:gd name="adj" fmla="val 5714"/>
            </a:avLst>
          </a:prstGeom>
          <a:solidFill>
            <a:schemeClr val="accent2"/>
          </a:solidFill>
          <a:ln/>
        </p:spPr>
      </p:sp>
      <p:sp>
        <p:nvSpPr>
          <p:cNvPr id="7" name="Text 5"/>
          <p:cNvSpPr txBox="1"/>
          <p:nvPr/>
        </p:nvSpPr>
        <p:spPr>
          <a:xfrm>
            <a:off x="2743200" y="1371600"/>
            <a:ext cx="1600200" cy="731520"/>
          </a:xfrm>
          <a:prstGeom prst="rect">
            <a:avLst/>
          </a:prstGeom>
          <a:noFill/>
          <a:ln/>
        </p:spPr>
        <p:txBody>
          <a:bodyPr wrap="square" lIns="0" tIns="0" rIns="0" bIns="0" rtlCol="0" anchor="t"/>
          <a:lstStyle/>
          <a:p>
            <a:pPr indent="0" marL="0">
              <a:buNone/>
            </a:pPr>
            <a:r>
              <a:rPr lang="en-US" sz="2000" b="1" dirty="0">
                <a:solidFill>
                  <a:schemeClr val="bg1"/>
                </a:solidFill>
              </a:rPr>
              <a:t>Severity</a:t>
            </a:r>
            <a:endParaRPr lang="en-US" sz="2000" dirty="0"/>
          </a:p>
        </p:txBody>
      </p:sp>
      <p:sp>
        <p:nvSpPr>
          <p:cNvPr id="8" name="Text 6"/>
          <p:cNvSpPr txBox="1"/>
          <p:nvPr/>
        </p:nvSpPr>
        <p:spPr>
          <a:xfrm>
            <a:off x="2743200" y="2194560"/>
            <a:ext cx="1600200" cy="1874520"/>
          </a:xfrm>
          <a:prstGeom prst="rect">
            <a:avLst/>
          </a:prstGeom>
          <a:noFill/>
          <a:ln/>
        </p:spPr>
        <p:txBody>
          <a:bodyPr wrap="square" lIns="0" tIns="0" rIns="0" bIns="0" rtlCol="0" anchor="t"/>
          <a:lstStyle/>
          <a:p>
            <a:pPr indent="0" marL="0">
              <a:buNone/>
            </a:pPr>
            <a:r>
              <a:rPr lang="en-US" sz="1400" dirty="0">
                <a:solidFill>
                  <a:schemeClr val="bg1"/>
                </a:solidFill>
              </a:rPr>
              <a:t>A stream chosen at 15 shapes the next decade; fewer than 1 in 10 low-income students get guidance today.</a:t>
            </a:r>
            <a:endParaRPr lang="en-US" sz="1400" dirty="0"/>
          </a:p>
        </p:txBody>
      </p:sp>
      <p:sp>
        <p:nvSpPr>
          <p:cNvPr id="9" name="criterion 3"/>
          <p:cNvSpPr/>
          <p:nvPr/>
        </p:nvSpPr>
        <p:spPr>
          <a:xfrm>
            <a:off x="4663440" y="1188720"/>
            <a:ext cx="1920240" cy="3017520"/>
          </a:xfrm>
          <a:prstGeom prst="roundRect">
            <a:avLst>
              <a:gd name="adj" fmla="val 5714"/>
            </a:avLst>
          </a:prstGeom>
          <a:solidFill>
            <a:schemeClr val="accent1"/>
          </a:solidFill>
          <a:ln/>
        </p:spPr>
      </p:sp>
      <p:sp>
        <p:nvSpPr>
          <p:cNvPr id="10" name="Text 8"/>
          <p:cNvSpPr txBox="1"/>
          <p:nvPr/>
        </p:nvSpPr>
        <p:spPr>
          <a:xfrm>
            <a:off x="4846320" y="1371600"/>
            <a:ext cx="1600200" cy="731520"/>
          </a:xfrm>
          <a:prstGeom prst="rect">
            <a:avLst/>
          </a:prstGeom>
          <a:noFill/>
          <a:ln/>
        </p:spPr>
        <p:txBody>
          <a:bodyPr wrap="square" lIns="0" tIns="0" rIns="0" bIns="0" rtlCol="0" anchor="t"/>
          <a:lstStyle/>
          <a:p>
            <a:pPr indent="0" marL="0">
              <a:buNone/>
            </a:pPr>
            <a:r>
              <a:rPr lang="en-US" sz="2000" b="1" dirty="0">
                <a:solidFill>
                  <a:schemeClr val="bg1"/>
                </a:solidFill>
              </a:rPr>
              <a:t>Quality</a:t>
            </a:r>
            <a:endParaRPr lang="en-US" sz="2000" dirty="0"/>
          </a:p>
        </p:txBody>
      </p:sp>
      <p:sp>
        <p:nvSpPr>
          <p:cNvPr id="11" name="Text 9"/>
          <p:cNvSpPr txBox="1"/>
          <p:nvPr/>
        </p:nvSpPr>
        <p:spPr>
          <a:xfrm>
            <a:off x="4846320" y="2194560"/>
            <a:ext cx="1600200" cy="1874520"/>
          </a:xfrm>
          <a:prstGeom prst="rect">
            <a:avLst/>
          </a:prstGeom>
          <a:noFill/>
          <a:ln/>
        </p:spPr>
        <p:txBody>
          <a:bodyPr wrap="square" lIns="0" tIns="0" rIns="0" bIns="0" rtlCol="0" anchor="t"/>
          <a:lstStyle/>
          <a:p>
            <a:pPr indent="0" marL="0">
              <a:buNone/>
            </a:pPr>
            <a:r>
              <a:rPr lang="en-US" sz="1400" dirty="0">
                <a:solidFill>
                  <a:schemeClr val="bg1"/>
                </a:solidFill>
              </a:rPr>
              <a:t>Tested scoring and API, accessible screens, works on a shared phone, open source.</a:t>
            </a:r>
            <a:endParaRPr lang="en-US" sz="1400" dirty="0"/>
          </a:p>
        </p:txBody>
      </p:sp>
      <p:sp>
        <p:nvSpPr>
          <p:cNvPr id="12" name="criterion 4"/>
          <p:cNvSpPr/>
          <p:nvPr/>
        </p:nvSpPr>
        <p:spPr>
          <a:xfrm>
            <a:off x="6766560" y="1188720"/>
            <a:ext cx="1920240" cy="3017520"/>
          </a:xfrm>
          <a:prstGeom prst="roundRect">
            <a:avLst>
              <a:gd name="adj" fmla="val 5714"/>
            </a:avLst>
          </a:prstGeom>
          <a:solidFill>
            <a:schemeClr val="accent3"/>
          </a:solidFill>
          <a:ln/>
        </p:spPr>
      </p:sp>
      <p:sp>
        <p:nvSpPr>
          <p:cNvPr id="13" name="Text 11"/>
          <p:cNvSpPr txBox="1"/>
          <p:nvPr/>
        </p:nvSpPr>
        <p:spPr>
          <a:xfrm>
            <a:off x="6949440" y="1371600"/>
            <a:ext cx="1600200" cy="731520"/>
          </a:xfrm>
          <a:prstGeom prst="rect">
            <a:avLst/>
          </a:prstGeom>
          <a:noFill/>
          <a:ln/>
        </p:spPr>
        <p:txBody>
          <a:bodyPr wrap="square" lIns="0" tIns="0" rIns="0" bIns="0" rtlCol="0" anchor="t"/>
          <a:lstStyle/>
          <a:p>
            <a:pPr indent="0" marL="0">
              <a:buNone/>
            </a:pPr>
            <a:r>
              <a:rPr lang="en-US" sz="2000" b="1" dirty="0">
                <a:solidFill>
                  <a:schemeClr val="bg1"/>
                </a:solidFill>
              </a:rPr>
              <a:t>Proven impact</a:t>
            </a:r>
            <a:endParaRPr lang="en-US" sz="2000" dirty="0"/>
          </a:p>
        </p:txBody>
      </p:sp>
      <p:sp>
        <p:nvSpPr>
          <p:cNvPr id="14" name="Text 12"/>
          <p:cNvSpPr txBox="1"/>
          <p:nvPr/>
        </p:nvSpPr>
        <p:spPr>
          <a:xfrm>
            <a:off x="6949440" y="2194560"/>
            <a:ext cx="1600200" cy="1874520"/>
          </a:xfrm>
          <a:prstGeom prst="rect">
            <a:avLst/>
          </a:prstGeom>
          <a:noFill/>
          <a:ln/>
        </p:spPr>
        <p:txBody>
          <a:bodyPr wrap="square" lIns="0" tIns="0" rIns="0" bIns="0" rtlCol="0" anchor="t"/>
          <a:lstStyle/>
          <a:p>
            <a:pPr indent="0" marL="0">
              <a:buNone/>
            </a:pPr>
            <a:r>
              <a:rPr lang="en-US" sz="1400" dirty="0">
                <a:solidFill>
                  <a:schemeClr val="bg1"/>
                </a:solidFill>
              </a:rPr>
              <a:t>A pilot school: students who finish, reports discussed at home, teacher use in subject choice.</a:t>
            </a:r>
            <a:endParaRPr lang="en-US" sz="1400" dirty="0"/>
          </a:p>
        </p:txBody>
      </p:sp>
      <p:sp>
        <p:nvSpPr>
          <p:cNvPr id="15" name="Text 13"/>
          <p:cNvSpPr txBox="1"/>
          <p:nvPr/>
        </p:nvSpPr>
        <p:spPr>
          <a:xfrm>
            <a:off x="457200" y="4407408"/>
            <a:ext cx="8229600" cy="329184"/>
          </a:xfrm>
          <a:prstGeom prst="rect">
            <a:avLst/>
          </a:prstGeom>
          <a:noFill/>
          <a:ln/>
        </p:spPr>
        <p:txBody>
          <a:bodyPr wrap="square" lIns="0" tIns="0" rIns="0" bIns="0" rtlCol="0" anchor="b"/>
          <a:lstStyle/>
          <a:p>
            <a:pPr indent="0" marL="0">
              <a:buNone/>
            </a:pPr>
            <a:r>
              <a:rPr lang="en-US" sz="900" dirty="0">
                <a:solidFill>
                  <a:schemeClr val="accent5"/>
                </a:solidFill>
              </a:rPr>
              <a:t>Mapped to the Code for a Billion judging criteria: size, severity, quality of the solution and proven impact (25% each)</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comes next</a:t>
            </a:r>
            <a:endParaRPr lang="en-US" sz="2800" dirty="0"/>
          </a:p>
        </p:txBody>
      </p:sp>
      <p:sp>
        <p:nvSpPr>
          <p:cNvPr id="3" name="timeline"/>
          <p:cNvSpPr/>
          <p:nvPr/>
        </p:nvSpPr>
        <p:spPr>
          <a:xfrm>
            <a:off x="914400" y="1664208"/>
            <a:ext cx="7315200" cy="0"/>
          </a:xfrm>
          <a:prstGeom prst="line">
            <a:avLst/>
          </a:prstGeom>
          <a:noFill/>
          <a:ln w="38100">
            <a:solidFill>
              <a:srgbClr val="DBEAFE"/>
            </a:solidFill>
            <a:prstDash val="solid"/>
          </a:ln>
        </p:spPr>
      </p:sp>
      <p:sp>
        <p:nvSpPr>
          <p:cNvPr id="4" name="milestone 1 circle"/>
          <p:cNvSpPr/>
          <p:nvPr/>
        </p:nvSpPr>
        <p:spPr>
          <a:xfrm>
            <a:off x="1024128" y="1344168"/>
            <a:ext cx="640080" cy="640080"/>
          </a:xfrm>
          <a:prstGeom prst="ellipse">
            <a:avLst/>
          </a:prstGeom>
          <a:solidFill>
            <a:schemeClr val="accent3"/>
          </a:solidFill>
          <a:ln/>
        </p:spPr>
      </p:sp>
      <p:pic>
        <p:nvPicPr>
          <p:cNvPr id="5" name="milestone 1 icon" descr="preencoded.png">    </p:cNvPr>
          <p:cNvPicPr>
            <a:picLocks noChangeAspect="1"/>
          </p:cNvPicPr>
          <p:nvPr/>
        </p:nvPicPr>
        <p:blipFill>
          <a:blip r:embed="rId1"/>
          <a:stretch>
            <a:fillRect/>
          </a:stretch>
        </p:blipFill>
        <p:spPr>
          <a:xfrm>
            <a:off x="1190549" y="1510589"/>
            <a:ext cx="307238" cy="307238"/>
          </a:xfrm>
          <a:prstGeom prst="rect">
            <a:avLst/>
          </a:prstGeom>
        </p:spPr>
      </p:pic>
      <p:sp>
        <p:nvSpPr>
          <p:cNvPr id="6" name="Text 3"/>
          <p:cNvSpPr txBox="1"/>
          <p:nvPr/>
        </p:nvSpPr>
        <p:spPr>
          <a:xfrm>
            <a:off x="457200" y="2103120"/>
            <a:ext cx="1920240" cy="292608"/>
          </a:xfrm>
          <a:prstGeom prst="rect">
            <a:avLst/>
          </a:prstGeom>
          <a:noFill/>
          <a:ln/>
        </p:spPr>
        <p:txBody>
          <a:bodyPr wrap="square" lIns="0" tIns="0" rIns="0" bIns="0" rtlCol="0" anchor="ctr"/>
          <a:lstStyle/>
          <a:p>
            <a:pPr algn="ctr" indent="0" marL="0">
              <a:buNone/>
            </a:pPr>
            <a:r>
              <a:rPr lang="en-US" sz="1300" b="1" dirty="0">
                <a:solidFill>
                  <a:schemeClr val="accent3"/>
                </a:solidFill>
              </a:rPr>
              <a:t>Now</a:t>
            </a:r>
            <a:endParaRPr lang="en-US" sz="1300" dirty="0"/>
          </a:p>
        </p:txBody>
      </p:sp>
      <p:sp>
        <p:nvSpPr>
          <p:cNvPr id="7" name="Text 4"/>
          <p:cNvSpPr txBox="1"/>
          <p:nvPr/>
        </p:nvSpPr>
        <p:spPr>
          <a:xfrm>
            <a:off x="457200" y="2395728"/>
            <a:ext cx="1920240" cy="566928"/>
          </a:xfrm>
          <a:prstGeom prst="rect">
            <a:avLst/>
          </a:prstGeom>
          <a:noFill/>
          <a:ln/>
        </p:spPr>
        <p:txBody>
          <a:bodyPr wrap="square" lIns="0" tIns="0" rIns="0" bIns="0" rtlCol="0" anchor="t"/>
          <a:lstStyle/>
          <a:p>
            <a:pPr algn="ctr" indent="0" marL="0">
              <a:buNone/>
            </a:pPr>
            <a:r>
              <a:rPr lang="en-US" sz="1600" b="1" dirty="0">
                <a:solidFill>
                  <a:schemeClr val="tx2"/>
                </a:solidFill>
              </a:rPr>
              <a:t>Built and open</a:t>
            </a:r>
            <a:endParaRPr lang="en-US" sz="1600" dirty="0"/>
          </a:p>
        </p:txBody>
      </p:sp>
      <p:sp>
        <p:nvSpPr>
          <p:cNvPr id="8" name="Text 5"/>
          <p:cNvSpPr txBox="1"/>
          <p:nvPr/>
        </p:nvSpPr>
        <p:spPr>
          <a:xfrm>
            <a:off x="502920" y="2999232"/>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Test, report, careers, counsellor, teacher view.</a:t>
            </a:r>
            <a:endParaRPr lang="en-US" sz="1300" dirty="0"/>
          </a:p>
        </p:txBody>
      </p:sp>
      <p:sp>
        <p:nvSpPr>
          <p:cNvPr id="9" name="milestone 2 circle"/>
          <p:cNvSpPr/>
          <p:nvPr/>
        </p:nvSpPr>
        <p:spPr>
          <a:xfrm>
            <a:off x="3127248" y="1344168"/>
            <a:ext cx="640080" cy="640080"/>
          </a:xfrm>
          <a:prstGeom prst="ellipse">
            <a:avLst/>
          </a:prstGeom>
          <a:solidFill>
            <a:schemeClr val="tx2"/>
          </a:solidFill>
          <a:ln/>
        </p:spPr>
      </p:sp>
      <p:pic>
        <p:nvPicPr>
          <p:cNvPr id="10" name="milestone 2 icon" descr="preencoded.png">    </p:cNvPr>
          <p:cNvPicPr>
            <a:picLocks noChangeAspect="1"/>
          </p:cNvPicPr>
          <p:nvPr/>
        </p:nvPicPr>
        <p:blipFill>
          <a:blip r:embed="rId2"/>
          <a:stretch>
            <a:fillRect/>
          </a:stretch>
        </p:blipFill>
        <p:spPr>
          <a:xfrm>
            <a:off x="3293669" y="1510589"/>
            <a:ext cx="307238" cy="307238"/>
          </a:xfrm>
          <a:prstGeom prst="rect">
            <a:avLst/>
          </a:prstGeom>
        </p:spPr>
      </p:pic>
      <p:sp>
        <p:nvSpPr>
          <p:cNvPr id="11" name="Text 7"/>
          <p:cNvSpPr txBox="1"/>
          <p:nvPr/>
        </p:nvSpPr>
        <p:spPr>
          <a:xfrm>
            <a:off x="2560320" y="2103120"/>
            <a:ext cx="1920240" cy="292608"/>
          </a:xfrm>
          <a:prstGeom prst="rect">
            <a:avLst/>
          </a:prstGeom>
          <a:noFill/>
          <a:ln/>
        </p:spPr>
        <p:txBody>
          <a:bodyPr wrap="square" lIns="0" tIns="0" rIns="0" bIns="0" rtlCol="0" anchor="ctr"/>
          <a:lstStyle/>
          <a:p>
            <a:pPr algn="ctr" indent="0" marL="0">
              <a:buNone/>
            </a:pPr>
            <a:r>
              <a:rPr lang="en-US" sz="1300" b="1" dirty="0">
                <a:solidFill>
                  <a:schemeClr val="tx2"/>
                </a:solidFill>
              </a:rPr>
              <a:t>Built and evaluated</a:t>
            </a:r>
            <a:endParaRPr lang="en-US" sz="1300" dirty="0"/>
          </a:p>
        </p:txBody>
      </p:sp>
      <p:sp>
        <p:nvSpPr>
          <p:cNvPr id="12" name="Text 8"/>
          <p:cNvSpPr txBox="1"/>
          <p:nvPr/>
        </p:nvSpPr>
        <p:spPr>
          <a:xfrm>
            <a:off x="2560320" y="2395728"/>
            <a:ext cx="1920240" cy="566928"/>
          </a:xfrm>
          <a:prstGeom prst="rect">
            <a:avLst/>
          </a:prstGeom>
          <a:noFill/>
          <a:ln/>
        </p:spPr>
        <p:txBody>
          <a:bodyPr wrap="square" lIns="0" tIns="0" rIns="0" bIns="0" rtlCol="0" anchor="t"/>
          <a:lstStyle/>
          <a:p>
            <a:pPr algn="ctr" indent="0" marL="0">
              <a:buNone/>
            </a:pPr>
            <a:r>
              <a:rPr lang="en-US" sz="1600" b="1" dirty="0">
                <a:solidFill>
                  <a:schemeClr val="tx2"/>
                </a:solidFill>
              </a:rPr>
              <a:t>An AI counsellor agent</a:t>
            </a:r>
            <a:endParaRPr lang="en-US" sz="1600" dirty="0"/>
          </a:p>
        </p:txBody>
      </p:sp>
      <p:sp>
        <p:nvSpPr>
          <p:cNvPr id="13" name="Text 9"/>
          <p:cNvSpPr txBox="1"/>
          <p:nvPr/>
        </p:nvSpPr>
        <p:spPr>
          <a:xfrm>
            <a:off x="2606040" y="2999232"/>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In AgentFoundry: reads the result, finds careers, saves a plan. All 10 evals pass.</a:t>
            </a:r>
            <a:endParaRPr lang="en-US" sz="1300" dirty="0"/>
          </a:p>
        </p:txBody>
      </p:sp>
      <p:sp>
        <p:nvSpPr>
          <p:cNvPr id="14" name="milestone 3 circle"/>
          <p:cNvSpPr/>
          <p:nvPr/>
        </p:nvSpPr>
        <p:spPr>
          <a:xfrm>
            <a:off x="5230368" y="1344168"/>
            <a:ext cx="640080" cy="640080"/>
          </a:xfrm>
          <a:prstGeom prst="ellipse">
            <a:avLst/>
          </a:prstGeom>
          <a:solidFill>
            <a:schemeClr val="accent1"/>
          </a:solidFill>
          <a:ln/>
        </p:spPr>
      </p:sp>
      <p:pic>
        <p:nvPicPr>
          <p:cNvPr id="15" name="milestone 3 icon" descr="preencoded.png">    </p:cNvPr>
          <p:cNvPicPr>
            <a:picLocks noChangeAspect="1"/>
          </p:cNvPicPr>
          <p:nvPr/>
        </p:nvPicPr>
        <p:blipFill>
          <a:blip r:embed="rId3"/>
          <a:stretch>
            <a:fillRect/>
          </a:stretch>
        </p:blipFill>
        <p:spPr>
          <a:xfrm>
            <a:off x="5396789" y="1510589"/>
            <a:ext cx="307238" cy="307238"/>
          </a:xfrm>
          <a:prstGeom prst="rect">
            <a:avLst/>
          </a:prstGeom>
        </p:spPr>
      </p:pic>
      <p:sp>
        <p:nvSpPr>
          <p:cNvPr id="16" name="Text 11"/>
          <p:cNvSpPr txBox="1"/>
          <p:nvPr/>
        </p:nvSpPr>
        <p:spPr>
          <a:xfrm>
            <a:off x="4663440" y="2103120"/>
            <a:ext cx="1920240" cy="292608"/>
          </a:xfrm>
          <a:prstGeom prst="rect">
            <a:avLst/>
          </a:prstGeom>
          <a:noFill/>
          <a:ln/>
        </p:spPr>
        <p:txBody>
          <a:bodyPr wrap="square" lIns="0" tIns="0" rIns="0" bIns="0" rtlCol="0" anchor="ctr"/>
          <a:lstStyle/>
          <a:p>
            <a:pPr algn="ctr" indent="0" marL="0">
              <a:buNone/>
            </a:pPr>
            <a:r>
              <a:rPr lang="en-US" sz="1300" b="1" dirty="0">
                <a:solidFill>
                  <a:schemeClr val="accent1"/>
                </a:solidFill>
              </a:rPr>
              <a:t>Next</a:t>
            </a:r>
            <a:endParaRPr lang="en-US" sz="1300" dirty="0"/>
          </a:p>
        </p:txBody>
      </p:sp>
      <p:sp>
        <p:nvSpPr>
          <p:cNvPr id="17" name="Text 12"/>
          <p:cNvSpPr txBox="1"/>
          <p:nvPr/>
        </p:nvSpPr>
        <p:spPr>
          <a:xfrm>
            <a:off x="4663440" y="2395728"/>
            <a:ext cx="1920240" cy="566928"/>
          </a:xfrm>
          <a:prstGeom prst="rect">
            <a:avLst/>
          </a:prstGeom>
          <a:noFill/>
          <a:ln/>
        </p:spPr>
        <p:txBody>
          <a:bodyPr wrap="square" lIns="0" tIns="0" rIns="0" bIns="0" rtlCol="0" anchor="t"/>
          <a:lstStyle/>
          <a:p>
            <a:pPr algn="ctr" indent="0" marL="0">
              <a:buNone/>
            </a:pPr>
            <a:r>
              <a:rPr lang="en-US" sz="1600" b="1" dirty="0">
                <a:solidFill>
                  <a:schemeClr val="tx2"/>
                </a:solidFill>
              </a:rPr>
              <a:t>Into the app, then a pilot</a:t>
            </a:r>
            <a:endParaRPr lang="en-US" sz="1600" dirty="0"/>
          </a:p>
        </p:txBody>
      </p:sp>
      <p:sp>
        <p:nvSpPr>
          <p:cNvPr id="18" name="Text 13"/>
          <p:cNvSpPr txBox="1"/>
          <p:nvPr/>
        </p:nvSpPr>
        <p:spPr>
          <a:xfrm>
            <a:off x="4709160" y="2999232"/>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Agent in the app’s chat, then a partner school, measuring use and outcomes.</a:t>
            </a:r>
            <a:endParaRPr lang="en-US" sz="1300" dirty="0"/>
          </a:p>
        </p:txBody>
      </p:sp>
      <p:sp>
        <p:nvSpPr>
          <p:cNvPr id="19" name="milestone 4 circle"/>
          <p:cNvSpPr/>
          <p:nvPr/>
        </p:nvSpPr>
        <p:spPr>
          <a:xfrm>
            <a:off x="7333488" y="1344168"/>
            <a:ext cx="640080" cy="640080"/>
          </a:xfrm>
          <a:prstGeom prst="ellipse">
            <a:avLst/>
          </a:prstGeom>
          <a:solidFill>
            <a:schemeClr val="accent2"/>
          </a:solidFill>
          <a:ln/>
        </p:spPr>
      </p:sp>
      <p:pic>
        <p:nvPicPr>
          <p:cNvPr id="20" name="milestone 4 icon" descr="preencoded.png">    </p:cNvPr>
          <p:cNvPicPr>
            <a:picLocks noChangeAspect="1"/>
          </p:cNvPicPr>
          <p:nvPr/>
        </p:nvPicPr>
        <p:blipFill>
          <a:blip r:embed="rId4"/>
          <a:stretch>
            <a:fillRect/>
          </a:stretch>
        </p:blipFill>
        <p:spPr>
          <a:xfrm>
            <a:off x="7499909" y="1510589"/>
            <a:ext cx="307238" cy="307238"/>
          </a:xfrm>
          <a:prstGeom prst="rect">
            <a:avLst/>
          </a:prstGeom>
        </p:spPr>
      </p:pic>
      <p:sp>
        <p:nvSpPr>
          <p:cNvPr id="21" name="Text 15"/>
          <p:cNvSpPr txBox="1"/>
          <p:nvPr/>
        </p:nvSpPr>
        <p:spPr>
          <a:xfrm>
            <a:off x="6766560" y="2103120"/>
            <a:ext cx="1920240" cy="292608"/>
          </a:xfrm>
          <a:prstGeom prst="rect">
            <a:avLst/>
          </a:prstGeom>
          <a:noFill/>
          <a:ln/>
        </p:spPr>
        <p:txBody>
          <a:bodyPr wrap="square" lIns="0" tIns="0" rIns="0" bIns="0" rtlCol="0" anchor="ctr"/>
          <a:lstStyle/>
          <a:p>
            <a:pPr algn="ctr" indent="0" marL="0">
              <a:buNone/>
            </a:pPr>
            <a:r>
              <a:rPr lang="en-US" sz="1300" b="1" dirty="0">
                <a:solidFill>
                  <a:schemeClr val="accent2"/>
                </a:solidFill>
              </a:rPr>
              <a:t>Then</a:t>
            </a:r>
            <a:endParaRPr lang="en-US" sz="1300" dirty="0"/>
          </a:p>
        </p:txBody>
      </p:sp>
      <p:sp>
        <p:nvSpPr>
          <p:cNvPr id="22" name="Text 16"/>
          <p:cNvSpPr txBox="1"/>
          <p:nvPr/>
        </p:nvSpPr>
        <p:spPr>
          <a:xfrm>
            <a:off x="6766560" y="2395728"/>
            <a:ext cx="1920240" cy="566928"/>
          </a:xfrm>
          <a:prstGeom prst="rect">
            <a:avLst/>
          </a:prstGeom>
          <a:noFill/>
          <a:ln/>
        </p:spPr>
        <p:txBody>
          <a:bodyPr wrap="square" lIns="0" tIns="0" rIns="0" bIns="0" rtlCol="0" anchor="t"/>
          <a:lstStyle/>
          <a:p>
            <a:pPr algn="ctr" indent="0" marL="0">
              <a:buNone/>
            </a:pPr>
            <a:r>
              <a:rPr lang="en-US" sz="1600" b="1" dirty="0">
                <a:solidFill>
                  <a:schemeClr val="tx2"/>
                </a:solidFill>
              </a:rPr>
              <a:t>Hindi and more languages</a:t>
            </a:r>
            <a:endParaRPr lang="en-US" sz="1600" dirty="0"/>
          </a:p>
        </p:txBody>
      </p:sp>
      <p:sp>
        <p:nvSpPr>
          <p:cNvPr id="23" name="Text 17"/>
          <p:cNvSpPr txBox="1"/>
          <p:nvPr/>
        </p:nvSpPr>
        <p:spPr>
          <a:xfrm>
            <a:off x="6812280" y="2999232"/>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The test, report and careers in regional languages.</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554480"/>
          </a:xfrm>
          <a:prstGeom prst="rect">
            <a:avLst/>
          </a:prstGeom>
          <a:noFill/>
          <a:ln/>
        </p:spPr>
        <p:txBody>
          <a:bodyPr wrap="square" lIns="0" tIns="0" rIns="0" bIns="0" rtlCol="0" anchor="b"/>
          <a:lstStyle/>
          <a:p>
            <a:pPr algn="l" indent="0" marL="0">
              <a:buNone/>
            </a:pPr>
            <a:r>
              <a:rPr lang="en-US" sz="4000" b="1" dirty="0">
                <a:solidFill>
                  <a:schemeClr val="bg1"/>
                </a:solidFill>
              </a:rPr>
              <a:t>Try it today</a:t>
            </a:r>
            <a:endParaRPr lang="en-US" sz="4000" dirty="0"/>
          </a:p>
        </p:txBody>
      </p:sp>
      <p:sp>
        <p:nvSpPr>
          <p:cNvPr id="3" name="Text 0"/>
          <p:cNvSpPr/>
          <p:nvPr>
            <p:ph idx="101" type="body" hasCustomPrompt="1"/>
          </p:nvPr>
        </p:nvSpPr>
        <p:spPr>
          <a:xfrm>
            <a:off x="548640" y="2926080"/>
            <a:ext cx="4937760" cy="1188720"/>
          </a:xfrm>
          <a:prstGeom prst="rect">
            <a:avLst/>
          </a:prstGeom>
          <a:noFill/>
          <a:ln/>
        </p:spPr>
        <p:txBody>
          <a:bodyPr wrap="square" lIns="0" tIns="0" rIns="0" bIns="0" rtlCol="0" anchor="t"/>
          <a:lstStyle/>
          <a:p>
            <a:pPr algn="l" indent="0" marL="0">
              <a:buNone/>
            </a:pPr>
            <a:r>
              <a:rPr lang="en-US" sz="1600" b="1" dirty="0">
                <a:solidFill>
                  <a:schemeClr val="bg1"/>
                </a:solidFill>
              </a:rPr>
              <a:t>github.com/om-1115/hpc-career-agent</a:t>
            </a:r>
            <a:endParaRPr lang="en-US" sz="1600" dirty="0"/>
          </a:p>
          <a:p>
            <a:pPr algn="l" indent="0" marL="0">
              <a:buNone/>
            </a:pPr>
            <a:r>
              <a:rPr lang="en-US" sz="1600" dirty="0">
                <a:solidFill>
                  <a:schemeClr val="accent4"/>
                </a:solidFill>
              </a:rPr>
              <a:t>npm run seed:demo, then sign in as student S001 / student-demo or teacher T001 / teacher-demo</a:t>
            </a:r>
            <a:endParaRPr lang="en-US" sz="1600" dirty="0"/>
          </a:p>
          <a:p>
            <a:pPr algn="l" indent="0" marL="0">
              <a:buNone/>
            </a:pPr>
            <a:r>
              <a:rPr lang="en-US" sz="800" dirty="0">
                <a:solidFill>
                  <a:schemeClr val="accent4"/>
                </a:solidFill>
              </a:rPr>
              <a:t> </a:t>
            </a:r>
            <a:endParaRPr lang="en-US" sz="1600" dirty="0"/>
          </a:p>
          <a:p>
            <a:pPr algn="l" indent="0" marL="0">
              <a:buNone/>
            </a:pPr>
            <a:r>
              <a:rPr lang="en-US" sz="1400" b="1" dirty="0">
                <a:solidFill>
                  <a:schemeClr val="accent2"/>
                </a:solidFill>
              </a:rPr>
              <a:t>Open source · MIT · Code for a Billion 2026</a:t>
            </a:r>
            <a:endParaRPr lang="en-US" sz="1600" dirty="0"/>
          </a:p>
        </p:txBody>
      </p:sp>
      <p:sp>
        <p:nvSpPr>
          <p:cNvPr id="4" name="Career profile screen frame"/>
          <p:cNvSpPr/>
          <p:nvPr/>
        </p:nvSpPr>
        <p:spPr>
          <a:xfrm>
            <a:off x="6135624" y="374904"/>
            <a:ext cx="2079296" cy="4416552"/>
          </a:xfrm>
          <a:prstGeom prst="roundRect">
            <a:avLst>
              <a:gd name="adj" fmla="val 7036"/>
            </a:avLst>
          </a:prstGeom>
          <a:solidFill>
            <a:schemeClr val="bg1"/>
          </a:solidFill>
          <a:ln w="12700">
            <a:solidFill>
              <a:srgbClr val="DBEAFE"/>
            </a:solidFill>
            <a:prstDash val="solid"/>
          </a:ln>
          <a:effectLst>
            <a:outerShdw sx="100000" sy="100000" kx="0" ky="0" algn="bl" rotWithShape="0" blurRad="127000" dist="38100" dir="5400000">
              <a:srgbClr val="0F172A">
                <a:alpha val="18000"/>
              </a:srgbClr>
            </a:outerShdw>
          </a:effectLst>
        </p:spPr>
      </p:sp>
      <p:pic>
        <p:nvPicPr>
          <p:cNvPr id="5" name="Career profile screen" descr="Career profile screen">    </p:cNvPr>
          <p:cNvPicPr>
            <a:picLocks noChangeAspect="1"/>
          </p:cNvPicPr>
          <p:nvPr/>
        </p:nvPicPr>
        <p:blipFill>
          <a:blip r:embed="rId1"/>
          <a:stretch>
            <a:fillRect/>
          </a:stretch>
        </p:blipFill>
        <p:spPr>
          <a:xfrm>
            <a:off x="6172200" y="411480"/>
            <a:ext cx="2006144" cy="4343400"/>
          </a:xfrm>
          <a:prstGeom prst="rect">
            <a:avLst/>
          </a:prstGeom>
        </p:spPr>
      </p:pic>
    </p:spTree>
  </p:cSld>
  <p:clrMapOvr>
    <a:masterClrMapping/>
  </p:clrMapOvr>
</p:sld>
</file>

<file path=ppt/theme/theme1.xml><?xml version="1.0" encoding="utf-8"?>
<a:theme xmlns:a="http://schemas.openxmlformats.org/drawingml/2006/main" name="HPC Career">
  <a:themeElements>
    <a:clrScheme name="HPC Career">
      <a:dk1>
        <a:srgbClr val="0F172A"/>
      </a:dk1>
      <a:lt1>
        <a:srgbClr val="FFFFFF"/>
      </a:lt1>
      <a:dk2>
        <a:srgbClr val="022964"/>
      </a:dk2>
      <a:lt2>
        <a:srgbClr val="EFF6FF"/>
      </a:lt2>
      <a:accent1>
        <a:srgbClr val="2563EB"/>
      </a:accent1>
      <a:accent2>
        <a:srgbClr val="F59E0B"/>
      </a:accent2>
      <a:accent3>
        <a:srgbClr val="16A34A"/>
      </a:accent3>
      <a:accent4>
        <a:srgbClr val="93C5FD"/>
      </a:accent4>
      <a:accent5>
        <a:srgbClr val="64748B"/>
      </a:accent5>
      <a:accent6>
        <a:srgbClr val="DBEAFE"/>
      </a:accent6>
      <a:hlink>
        <a:srgbClr val="2563EB"/>
      </a:hlink>
      <a:folHlink>
        <a:srgbClr val="1D4ED8"/>
      </a:folHlink>
    </a:clrScheme>
    <a:fontScheme name="HPC Care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HPC Career — Holistic Progress Card with career guidance</dc:title>
  <dc:subject>PptxGenJS Presentation</dc:subject>
  <dc:creator>Om Kumar</dc:creator>
  <cp:lastModifiedBy>Om Kumar</cp:lastModifiedBy>
  <cp:revision>1</cp:revision>
  <dcterms:created xsi:type="dcterms:W3CDTF">2026-10-28T15:35:07Z</dcterms:created>
  <dcterms:modified xsi:type="dcterms:W3CDTF">2026-10-28T15:35:07Z</dcterms:modified>
</cp:coreProperties>
</file>