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aba159-63fb-4211-c480-7b1b54d01897}">
          <p14:sldIdLst>
            <p14:sldId id="256"/>
          </p14:sldIdLst>
        </p14:section>
        <p14:section name="Problem" id="{e86cb9de-12ae-029d-8834-87aed5d8d6ab}">
          <p14:sldIdLst>
            <p14:sldId id="257"/>
            <p14:sldId id="258"/>
          </p14:sldIdLst>
        </p14:section>
        <p14:section name="Solution" id="{8812f59b-289d-0960-a008-a48ca9a45cd7}">
          <p14:sldIdLst>
            <p14:sldId id="259"/>
            <p14:sldId id="260"/>
            <p14:sldId id="261"/>
            <p14:sldId id="262"/>
            <p14:sldId id="263"/>
            <p14:sldId id="264"/>
            <p14:sldId id="265"/>
            <p14:sldId id="266"/>
            <p14:sldId id="267"/>
          </p14:sldIdLst>
        </p14:section>
        <p14:section name="How it works" id="{f7a729ea-c36d-092f-c1ca-4652b6d629e1}">
          <p14:sldIdLst>
            <p14:sldId id="268"/>
            <p14:sldId id="269"/>
          </p14:sldIdLst>
        </p14:section>
        <p14:section name="Impact" id="{b2ae3279-c5ec-acea-ed7c-7d02d7a85e04}">
          <p14:sldIdLst>
            <p14:sldId id="270"/>
            <p14:sldId id="271"/>
          </p14:sldIdLst>
        </p14:section>
        <p14:section name="Close" id="{9cf0a5ae-4379-f838-09a6-812dd91b1fb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becomes every student’s career passbook. Just as a bank passbook records every deposit, it records every step of the career journey: each test, year after year, every plan they make, and their own reflections. From Class 9 to 12, students can look back, see how they have grown, and decide with evidence rather than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 half of the test uses Holland’s RIASEC model, one of the most widely used ideas in career guidance. People thrive in work that matches what they enjoy, and interests fall into six types: Realistic doers, Investigative thinkers, Artistic creators, Social helpers, Enterprising persuaders and Conventional organisers. A student’s three strongest types become their interest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Psychometrics means measuring interests and personality with carefully worded questions, and we do it responsibly. Interests come from 36 everyday activities; personality from the public-domain Mini-IPIP, a short form of the Big Five. Scores show more or less for this student, never a ranking against others; every trait is a strength; and the report calls itself a starting point,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it guides a student. Discover their interests with the test. Understand their code and strengths in plain words. Explore thirty-six careers ranked by fit, each with the route from Class 10. Make a plan for this year. Talk it through with family and teachers using the printed report. And reflect in the passbook, coming back each year to see how they have grown.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In progress: the counsellor becomes an AI agent, built in AgentFoundry, that reads the student’s result, finds careers and saves a plan. Next, a pilot with a partner school to measure real use and outcomes. Then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the Holistic Progress Card that becomes every student’s career passbook: a 10-minute test, a report they can read, real routes from Class 10, and a record of their whole journey.</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Career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becomes every student’s career passbook</a:t>
            </a:r>
            <a:endParaRPr lang="en-US" sz="2800" dirty="0"/>
          </a:p>
        </p:txBody>
      </p:sp>
      <p:sp>
        <p:nvSpPr>
          <p:cNvPr id="3" name="Text 1"/>
          <p:cNvSpPr txBox="1"/>
          <p:nvPr/>
        </p:nvSpPr>
        <p:spPr>
          <a:xfrm>
            <a:off x="457200" y="1097280"/>
            <a:ext cx="5120640" cy="731520"/>
          </a:xfrm>
          <a:prstGeom prst="rect">
            <a:avLst/>
          </a:prstGeom>
          <a:noFill/>
          <a:ln/>
        </p:spPr>
        <p:txBody>
          <a:bodyPr wrap="square" lIns="0" tIns="0" rIns="0" bIns="0" rtlCol="0" anchor="t"/>
          <a:lstStyle/>
          <a:p>
            <a:pPr indent="0" marL="0">
              <a:buNone/>
            </a:pPr>
            <a:r>
              <a:rPr lang="en-US" sz="1700" b="1" dirty="0">
                <a:solidFill>
                  <a:schemeClr val="tx2"/>
                </a:solidFill>
              </a:rPr>
              <a:t>Just as a bank passbook records every deposit, HPC Career records every step of a student’s career journey — from Class 9 to Class 12.</a:t>
            </a:r>
            <a:endParaRPr lang="en-US" sz="1700" dirty="0"/>
          </a:p>
        </p:txBody>
      </p:sp>
      <p:sp>
        <p:nvSpPr>
          <p:cNvPr id="4" name="passbook point 1 circle"/>
          <p:cNvSpPr/>
          <p:nvPr/>
        </p:nvSpPr>
        <p:spPr>
          <a:xfrm>
            <a:off x="457200" y="2103120"/>
            <a:ext cx="502920" cy="502920"/>
          </a:xfrm>
          <a:prstGeom prst="ellipse">
            <a:avLst/>
          </a:prstGeom>
          <a:solidFill>
            <a:schemeClr val="accent1"/>
          </a:solidFill>
          <a:ln/>
        </p:spPr>
      </p:sp>
      <p:pic>
        <p:nvPicPr>
          <p:cNvPr id="5" name="passbook point 1 icon" descr="preencoded.png">    </p:cNvPr>
          <p:cNvPicPr>
            <a:picLocks noChangeAspect="1"/>
          </p:cNvPicPr>
          <p:nvPr/>
        </p:nvPicPr>
        <p:blipFill>
          <a:blip r:embed="rId1"/>
          <a:stretch>
            <a:fillRect/>
          </a:stretch>
        </p:blipFill>
        <p:spPr>
          <a:xfrm>
            <a:off x="587959" y="2233879"/>
            <a:ext cx="241402" cy="241402"/>
          </a:xfrm>
          <a:prstGeom prst="rect">
            <a:avLst/>
          </a:prstGeom>
        </p:spPr>
      </p:pic>
      <p:sp>
        <p:nvSpPr>
          <p:cNvPr id="6" name="Text 3"/>
          <p:cNvSpPr txBox="1"/>
          <p:nvPr/>
        </p:nvSpPr>
        <p:spPr>
          <a:xfrm>
            <a:off x="1143000" y="2066544"/>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test, year after year</a:t>
            </a:r>
            <a:endParaRPr lang="en-US" sz="1600" dirty="0"/>
          </a:p>
        </p:txBody>
      </p:sp>
      <p:sp>
        <p:nvSpPr>
          <p:cNvPr id="7" name="Text 4"/>
          <p:cNvSpPr txBox="1"/>
          <p:nvPr/>
        </p:nvSpPr>
        <p:spPr>
          <a:xfrm>
            <a:off x="1143000" y="2359152"/>
            <a:ext cx="4389120" cy="292608"/>
          </a:xfrm>
          <a:prstGeom prst="rect">
            <a:avLst/>
          </a:prstGeom>
          <a:noFill/>
          <a:ln/>
        </p:spPr>
        <p:txBody>
          <a:bodyPr wrap="square" lIns="0" tIns="0" rIns="0" bIns="0" rtlCol="0" anchor="ctr"/>
          <a:lstStyle/>
          <a:p>
            <a:pPr indent="0" marL="0">
              <a:buNone/>
            </a:pPr>
            <a:r>
              <a:rPr lang="en-US" sz="1300" dirty="0">
                <a:solidFill>
                  <a:schemeClr val="tx1"/>
                </a:solidFill>
              </a:rPr>
              <a:t>Watch interests grow and change from Class 9 to 12.</a:t>
            </a:r>
            <a:endParaRPr lang="en-US" sz="1300" dirty="0"/>
          </a:p>
        </p:txBody>
      </p:sp>
      <p:sp>
        <p:nvSpPr>
          <p:cNvPr id="8" name="passbook point 2 circle"/>
          <p:cNvSpPr/>
          <p:nvPr/>
        </p:nvSpPr>
        <p:spPr>
          <a:xfrm>
            <a:off x="457200" y="2779776"/>
            <a:ext cx="502920" cy="502920"/>
          </a:xfrm>
          <a:prstGeom prst="ellipse">
            <a:avLst/>
          </a:prstGeom>
          <a:solidFill>
            <a:schemeClr val="accent3"/>
          </a:solidFill>
          <a:ln/>
        </p:spPr>
      </p:sp>
      <p:pic>
        <p:nvPicPr>
          <p:cNvPr id="9" name="passbook point 2 icon" descr="preencoded.png">    </p:cNvPr>
          <p:cNvPicPr>
            <a:picLocks noChangeAspect="1"/>
          </p:cNvPicPr>
          <p:nvPr/>
        </p:nvPicPr>
        <p:blipFill>
          <a:blip r:embed="rId2"/>
          <a:stretch>
            <a:fillRect/>
          </a:stretch>
        </p:blipFill>
        <p:spPr>
          <a:xfrm>
            <a:off x="587959" y="2910535"/>
            <a:ext cx="241402" cy="241402"/>
          </a:xfrm>
          <a:prstGeom prst="rect">
            <a:avLst/>
          </a:prstGeom>
        </p:spPr>
      </p:pic>
      <p:sp>
        <p:nvSpPr>
          <p:cNvPr id="10" name="Text 6"/>
          <p:cNvSpPr txBox="1"/>
          <p:nvPr/>
        </p:nvSpPr>
        <p:spPr>
          <a:xfrm>
            <a:off x="1143000" y="2743200"/>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plan they make</a:t>
            </a:r>
            <a:endParaRPr lang="en-US" sz="1600" dirty="0"/>
          </a:p>
        </p:txBody>
      </p:sp>
      <p:sp>
        <p:nvSpPr>
          <p:cNvPr id="11" name="Text 7"/>
          <p:cNvSpPr txBox="1"/>
          <p:nvPr/>
        </p:nvSpPr>
        <p:spPr>
          <a:xfrm>
            <a:off x="1143000" y="3035808"/>
            <a:ext cx="4389120" cy="292608"/>
          </a:xfrm>
          <a:prstGeom prst="rect">
            <a:avLst/>
          </a:prstGeom>
          <a:noFill/>
          <a:ln/>
        </p:spPr>
        <p:txBody>
          <a:bodyPr wrap="square" lIns="0" tIns="0" rIns="0" bIns="0" rtlCol="0" anchor="ctr"/>
          <a:lstStyle/>
          <a:p>
            <a:pPr indent="0" marL="0">
              <a:buNone/>
            </a:pPr>
            <a:r>
              <a:rPr lang="en-US" sz="1300" dirty="0">
                <a:solidFill>
                  <a:schemeClr val="tx1"/>
                </a:solidFill>
              </a:rPr>
              <a:t>Goals and next steps, saved and seen by their teacher.</a:t>
            </a:r>
            <a:endParaRPr lang="en-US" sz="1300" dirty="0"/>
          </a:p>
        </p:txBody>
      </p:sp>
      <p:sp>
        <p:nvSpPr>
          <p:cNvPr id="12" name="passbook point 3 circle"/>
          <p:cNvSpPr/>
          <p:nvPr/>
        </p:nvSpPr>
        <p:spPr>
          <a:xfrm>
            <a:off x="457200" y="3456432"/>
            <a:ext cx="502920" cy="502920"/>
          </a:xfrm>
          <a:prstGeom prst="ellipse">
            <a:avLst/>
          </a:prstGeom>
          <a:solidFill>
            <a:schemeClr val="accent2"/>
          </a:solidFill>
          <a:ln/>
        </p:spPr>
      </p:sp>
      <p:pic>
        <p:nvPicPr>
          <p:cNvPr id="13" name="passbook point 3 icon" descr="preencoded.png">    </p:cNvPr>
          <p:cNvPicPr>
            <a:picLocks noChangeAspect="1"/>
          </p:cNvPicPr>
          <p:nvPr/>
        </p:nvPicPr>
        <p:blipFill>
          <a:blip r:embed="rId3"/>
          <a:stretch>
            <a:fillRect/>
          </a:stretch>
        </p:blipFill>
        <p:spPr>
          <a:xfrm>
            <a:off x="587959" y="3587191"/>
            <a:ext cx="241402" cy="241402"/>
          </a:xfrm>
          <a:prstGeom prst="rect">
            <a:avLst/>
          </a:prstGeom>
        </p:spPr>
      </p:pic>
      <p:sp>
        <p:nvSpPr>
          <p:cNvPr id="14" name="Text 9"/>
          <p:cNvSpPr txBox="1"/>
          <p:nvPr/>
        </p:nvSpPr>
        <p:spPr>
          <a:xfrm>
            <a:off x="1143000" y="3419856"/>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Their own reflections</a:t>
            </a:r>
            <a:endParaRPr lang="en-US" sz="1600" dirty="0"/>
          </a:p>
        </p:txBody>
      </p:sp>
      <p:sp>
        <p:nvSpPr>
          <p:cNvPr id="15" name="Text 10"/>
          <p:cNvSpPr txBox="1"/>
          <p:nvPr/>
        </p:nvSpPr>
        <p:spPr>
          <a:xfrm>
            <a:off x="1143000" y="3712464"/>
            <a:ext cx="4389120" cy="292608"/>
          </a:xfrm>
          <a:prstGeom prst="rect">
            <a:avLst/>
          </a:prstGeom>
          <a:noFill/>
          <a:ln/>
        </p:spPr>
        <p:txBody>
          <a:bodyPr wrap="square" lIns="0" tIns="0" rIns="0" bIns="0" rtlCol="0" anchor="ctr"/>
          <a:lstStyle/>
          <a:p>
            <a:pPr indent="0" marL="0">
              <a:buNone/>
            </a:pPr>
            <a:r>
              <a:rPr lang="en-US" sz="1300" dirty="0">
                <a:solidFill>
                  <a:schemeClr val="tx1"/>
                </a:solidFill>
              </a:rPr>
              <a:t>What they learnt about themselves, in their own words.</a:t>
            </a:r>
            <a:endParaRPr lang="en-US" sz="1300" dirty="0"/>
          </a:p>
        </p:txBody>
      </p:sp>
      <p:sp>
        <p:nvSpPr>
          <p:cNvPr id="16" name="Text 11"/>
          <p:cNvSpPr txBox="1"/>
          <p:nvPr/>
        </p:nvSpPr>
        <p:spPr>
          <a:xfrm>
            <a:off x="457200" y="4160520"/>
            <a:ext cx="5120640" cy="457200"/>
          </a:xfrm>
          <a:prstGeom prst="rect">
            <a:avLst/>
          </a:prstGeom>
          <a:noFill/>
          <a:ln/>
        </p:spPr>
        <p:txBody>
          <a:bodyPr wrap="square" lIns="0" tIns="0" rIns="0" bIns="0" rtlCol="0" anchor="ctr"/>
          <a:lstStyle/>
          <a:p>
            <a:pPr indent="0" marL="0">
              <a:buNone/>
            </a:pPr>
            <a:r>
              <a:rPr lang="en-US" sz="1500" b="1" i="1" dirty="0">
                <a:solidFill>
                  <a:schemeClr val="accent2"/>
                </a:solidFill>
              </a:rPr>
              <a:t>Students look back, see how they have grown, and decide with evidence — not guesswork.</a:t>
            </a:r>
            <a:endParaRPr lang="en-US" sz="1500" dirty="0"/>
          </a:p>
        </p:txBody>
      </p:sp>
      <p:sp>
        <p:nvSpPr>
          <p:cNvPr id="17" name="Career passbook timeline screen frame"/>
          <p:cNvSpPr/>
          <p:nvPr/>
        </p:nvSpPr>
        <p:spPr>
          <a:xfrm>
            <a:off x="5998464" y="1014984"/>
            <a:ext cx="1720302" cy="3639312"/>
          </a:xfrm>
          <a:prstGeom prst="roundRect">
            <a:avLst>
              <a:gd name="adj" fmla="val 8505"/>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areer passbook timeline screen" descr="Career passbook timeline screen">    </p:cNvPr>
          <p:cNvPicPr>
            <a:picLocks noChangeAspect="1"/>
          </p:cNvPicPr>
          <p:nvPr/>
        </p:nvPicPr>
        <p:blipFill>
          <a:blip r:embed="rId4"/>
          <a:stretch>
            <a:fillRect/>
          </a:stretch>
        </p:blipFill>
        <p:spPr>
          <a:xfrm>
            <a:off x="6035040" y="1051560"/>
            <a:ext cx="1647150" cy="356616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Sign in</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With the code the school gives</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RIASEC: six ways people like to work</a:t>
            </a:r>
            <a:endParaRPr lang="en-US" sz="2800" dirty="0"/>
          </a:p>
        </p:txBody>
      </p:sp>
      <p:sp>
        <p:nvSpPr>
          <p:cNvPr id="3" name="Text 1"/>
          <p:cNvSpPr txBox="1"/>
          <p:nvPr/>
        </p:nvSpPr>
        <p:spPr>
          <a:xfrm>
            <a:off x="457200" y="987552"/>
            <a:ext cx="8229600" cy="365760"/>
          </a:xfrm>
          <a:prstGeom prst="rect">
            <a:avLst/>
          </a:prstGeom>
          <a:noFill/>
          <a:ln/>
        </p:spPr>
        <p:txBody>
          <a:bodyPr wrap="square" lIns="0" tIns="0" rIns="0" bIns="0" rtlCol="0" anchor="ctr"/>
          <a:lstStyle/>
          <a:p>
            <a:pPr indent="0" marL="0">
              <a:buNone/>
            </a:pPr>
            <a:r>
              <a:rPr lang="en-US" sz="1400" dirty="0">
                <a:solidFill>
                  <a:schemeClr val="accent5"/>
                </a:solidFill>
              </a:rPr>
              <a:t>Holland’s model: people thrive in work that matches what they enjoy. A student’s three strongest types become their interest code.</a:t>
            </a:r>
            <a:endParaRPr lang="en-US" sz="1400" dirty="0"/>
          </a:p>
        </p:txBody>
      </p:sp>
      <p:sp>
        <p:nvSpPr>
          <p:cNvPr id="4" name="riasec R card"/>
          <p:cNvSpPr/>
          <p:nvPr/>
        </p:nvSpPr>
        <p:spPr>
          <a:xfrm>
            <a:off x="457200" y="1463040"/>
            <a:ext cx="2606040" cy="1325880"/>
          </a:xfrm>
          <a:prstGeom prst="roundRect">
            <a:avLst>
              <a:gd name="adj" fmla="val 8276"/>
            </a:avLst>
          </a:prstGeom>
          <a:solidFill>
            <a:schemeClr val="bg2"/>
          </a:solidFill>
          <a:ln/>
        </p:spPr>
      </p:sp>
      <p:sp>
        <p:nvSpPr>
          <p:cNvPr id="5" name="riasec R circle"/>
          <p:cNvSpPr/>
          <p:nvPr/>
        </p:nvSpPr>
        <p:spPr>
          <a:xfrm>
            <a:off x="621792" y="1627632"/>
            <a:ext cx="502920" cy="502920"/>
          </a:xfrm>
          <a:prstGeom prst="ellipse">
            <a:avLst/>
          </a:prstGeom>
          <a:solidFill>
            <a:srgbClr val="0F766E"/>
          </a:solidFill>
          <a:ln/>
        </p:spPr>
      </p:sp>
      <p:sp>
        <p:nvSpPr>
          <p:cNvPr id="6" name="Text 4"/>
          <p:cNvSpPr txBox="1"/>
          <p:nvPr/>
        </p:nvSpPr>
        <p:spPr>
          <a:xfrm>
            <a:off x="62179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R</a:t>
            </a:r>
            <a:endParaRPr lang="en-US" sz="2200" dirty="0"/>
          </a:p>
        </p:txBody>
      </p:sp>
      <p:sp>
        <p:nvSpPr>
          <p:cNvPr id="7" name="Text 5"/>
          <p:cNvSpPr txBox="1"/>
          <p:nvPr/>
        </p:nvSpPr>
        <p:spPr>
          <a:xfrm>
            <a:off x="124358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Realistic</a:t>
            </a:r>
            <a:endParaRPr lang="en-US" sz="1500" dirty="0"/>
          </a:p>
          <a:p>
            <a:pPr indent="0" marL="0">
              <a:buNone/>
            </a:pPr>
            <a:r>
              <a:rPr lang="en-US" sz="1200" dirty="0">
                <a:solidFill>
                  <a:schemeClr val="accent5"/>
                </a:solidFill>
              </a:rPr>
              <a:t>Doer</a:t>
            </a:r>
            <a:endParaRPr lang="en-US" sz="1500" dirty="0"/>
          </a:p>
        </p:txBody>
      </p:sp>
      <p:sp>
        <p:nvSpPr>
          <p:cNvPr id="8" name="Text 6"/>
          <p:cNvSpPr txBox="1"/>
          <p:nvPr/>
        </p:nvSpPr>
        <p:spPr>
          <a:xfrm>
            <a:off x="62179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Tools, machines, the outdoors</a:t>
            </a:r>
            <a:endParaRPr lang="en-US" sz="1200" dirty="0"/>
          </a:p>
        </p:txBody>
      </p:sp>
      <p:sp>
        <p:nvSpPr>
          <p:cNvPr id="9" name="Text 7"/>
          <p:cNvSpPr txBox="1"/>
          <p:nvPr/>
        </p:nvSpPr>
        <p:spPr>
          <a:xfrm>
            <a:off x="62179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Electrician · Civil engineer</a:t>
            </a:r>
            <a:endParaRPr lang="en-US" sz="1100" dirty="0"/>
          </a:p>
        </p:txBody>
      </p:sp>
      <p:sp>
        <p:nvSpPr>
          <p:cNvPr id="10" name="riasec I card"/>
          <p:cNvSpPr/>
          <p:nvPr/>
        </p:nvSpPr>
        <p:spPr>
          <a:xfrm>
            <a:off x="3246120" y="1463040"/>
            <a:ext cx="2606040" cy="1325880"/>
          </a:xfrm>
          <a:prstGeom prst="roundRect">
            <a:avLst>
              <a:gd name="adj" fmla="val 8276"/>
            </a:avLst>
          </a:prstGeom>
          <a:solidFill>
            <a:schemeClr val="bg2"/>
          </a:solidFill>
          <a:ln/>
        </p:spPr>
      </p:sp>
      <p:sp>
        <p:nvSpPr>
          <p:cNvPr id="11" name="riasec I circle"/>
          <p:cNvSpPr/>
          <p:nvPr/>
        </p:nvSpPr>
        <p:spPr>
          <a:xfrm>
            <a:off x="3410712" y="1627632"/>
            <a:ext cx="502920" cy="502920"/>
          </a:xfrm>
          <a:prstGeom prst="ellipse">
            <a:avLst/>
          </a:prstGeom>
          <a:solidFill>
            <a:srgbClr val="2563EB"/>
          </a:solidFill>
          <a:ln/>
        </p:spPr>
      </p:sp>
      <p:sp>
        <p:nvSpPr>
          <p:cNvPr id="12" name="Text 10"/>
          <p:cNvSpPr txBox="1"/>
          <p:nvPr/>
        </p:nvSpPr>
        <p:spPr>
          <a:xfrm>
            <a:off x="341071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13" name="Text 11"/>
          <p:cNvSpPr txBox="1"/>
          <p:nvPr/>
        </p:nvSpPr>
        <p:spPr>
          <a:xfrm>
            <a:off x="403250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Investigative</a:t>
            </a:r>
            <a:endParaRPr lang="en-US" sz="1500" dirty="0"/>
          </a:p>
          <a:p>
            <a:pPr indent="0" marL="0">
              <a:buNone/>
            </a:pPr>
            <a:r>
              <a:rPr lang="en-US" sz="1200" dirty="0">
                <a:solidFill>
                  <a:schemeClr val="accent5"/>
                </a:solidFill>
              </a:rPr>
              <a:t>Thinker</a:t>
            </a:r>
            <a:endParaRPr lang="en-US" sz="1500" dirty="0"/>
          </a:p>
        </p:txBody>
      </p:sp>
      <p:sp>
        <p:nvSpPr>
          <p:cNvPr id="14" name="Text 12"/>
          <p:cNvSpPr txBox="1"/>
          <p:nvPr/>
        </p:nvSpPr>
        <p:spPr>
          <a:xfrm>
            <a:off x="341071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Science and solving problems</a:t>
            </a:r>
            <a:endParaRPr lang="en-US" sz="1200" dirty="0"/>
          </a:p>
        </p:txBody>
      </p:sp>
      <p:sp>
        <p:nvSpPr>
          <p:cNvPr id="15" name="Text 13"/>
          <p:cNvSpPr txBox="1"/>
          <p:nvPr/>
        </p:nvSpPr>
        <p:spPr>
          <a:xfrm>
            <a:off x="341071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Doctor · Data analyst</a:t>
            </a:r>
            <a:endParaRPr lang="en-US" sz="1100" dirty="0"/>
          </a:p>
        </p:txBody>
      </p:sp>
      <p:sp>
        <p:nvSpPr>
          <p:cNvPr id="16" name="riasec A card"/>
          <p:cNvSpPr/>
          <p:nvPr/>
        </p:nvSpPr>
        <p:spPr>
          <a:xfrm>
            <a:off x="6035040" y="1463040"/>
            <a:ext cx="2606040" cy="1325880"/>
          </a:xfrm>
          <a:prstGeom prst="roundRect">
            <a:avLst>
              <a:gd name="adj" fmla="val 8276"/>
            </a:avLst>
          </a:prstGeom>
          <a:solidFill>
            <a:schemeClr val="bg2"/>
          </a:solidFill>
          <a:ln/>
        </p:spPr>
      </p:sp>
      <p:sp>
        <p:nvSpPr>
          <p:cNvPr id="17" name="riasec A circle"/>
          <p:cNvSpPr/>
          <p:nvPr/>
        </p:nvSpPr>
        <p:spPr>
          <a:xfrm>
            <a:off x="6199632" y="1627632"/>
            <a:ext cx="502920" cy="502920"/>
          </a:xfrm>
          <a:prstGeom prst="ellipse">
            <a:avLst/>
          </a:prstGeom>
          <a:solidFill>
            <a:srgbClr val="9333EA"/>
          </a:solidFill>
          <a:ln/>
        </p:spPr>
      </p:sp>
      <p:sp>
        <p:nvSpPr>
          <p:cNvPr id="18" name="Text 16"/>
          <p:cNvSpPr txBox="1"/>
          <p:nvPr/>
        </p:nvSpPr>
        <p:spPr>
          <a:xfrm>
            <a:off x="619963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19" name="Text 17"/>
          <p:cNvSpPr txBox="1"/>
          <p:nvPr/>
        </p:nvSpPr>
        <p:spPr>
          <a:xfrm>
            <a:off x="682142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Artistic</a:t>
            </a:r>
            <a:endParaRPr lang="en-US" sz="1500" dirty="0"/>
          </a:p>
          <a:p>
            <a:pPr indent="0" marL="0">
              <a:buNone/>
            </a:pPr>
            <a:r>
              <a:rPr lang="en-US" sz="1200" dirty="0">
                <a:solidFill>
                  <a:schemeClr val="accent5"/>
                </a:solidFill>
              </a:rPr>
              <a:t>Creator</a:t>
            </a:r>
            <a:endParaRPr lang="en-US" sz="1500" dirty="0"/>
          </a:p>
        </p:txBody>
      </p:sp>
      <p:sp>
        <p:nvSpPr>
          <p:cNvPr id="20" name="Text 18"/>
          <p:cNvSpPr txBox="1"/>
          <p:nvPr/>
        </p:nvSpPr>
        <p:spPr>
          <a:xfrm>
            <a:off x="619963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Art, words, music and design</a:t>
            </a:r>
            <a:endParaRPr lang="en-US" sz="1200" dirty="0"/>
          </a:p>
        </p:txBody>
      </p:sp>
      <p:sp>
        <p:nvSpPr>
          <p:cNvPr id="21" name="Text 19"/>
          <p:cNvSpPr txBox="1"/>
          <p:nvPr/>
        </p:nvSpPr>
        <p:spPr>
          <a:xfrm>
            <a:off x="619963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Designer · Architect</a:t>
            </a:r>
            <a:endParaRPr lang="en-US" sz="1100" dirty="0"/>
          </a:p>
        </p:txBody>
      </p:sp>
      <p:sp>
        <p:nvSpPr>
          <p:cNvPr id="22" name="riasec S card"/>
          <p:cNvSpPr/>
          <p:nvPr/>
        </p:nvSpPr>
        <p:spPr>
          <a:xfrm>
            <a:off x="457200" y="2926080"/>
            <a:ext cx="2606040" cy="1325880"/>
          </a:xfrm>
          <a:prstGeom prst="roundRect">
            <a:avLst>
              <a:gd name="adj" fmla="val 8276"/>
            </a:avLst>
          </a:prstGeom>
          <a:solidFill>
            <a:schemeClr val="bg2"/>
          </a:solidFill>
          <a:ln/>
        </p:spPr>
      </p:sp>
      <p:sp>
        <p:nvSpPr>
          <p:cNvPr id="23" name="riasec S circle"/>
          <p:cNvSpPr/>
          <p:nvPr/>
        </p:nvSpPr>
        <p:spPr>
          <a:xfrm>
            <a:off x="621792" y="3090672"/>
            <a:ext cx="502920" cy="502920"/>
          </a:xfrm>
          <a:prstGeom prst="ellipse">
            <a:avLst/>
          </a:prstGeom>
          <a:solidFill>
            <a:srgbClr val="16A34A"/>
          </a:solidFill>
          <a:ln/>
        </p:spPr>
      </p:sp>
      <p:sp>
        <p:nvSpPr>
          <p:cNvPr id="24" name="Text 22"/>
          <p:cNvSpPr txBox="1"/>
          <p:nvPr/>
        </p:nvSpPr>
        <p:spPr>
          <a:xfrm>
            <a:off x="62179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25" name="Text 23"/>
          <p:cNvSpPr txBox="1"/>
          <p:nvPr/>
        </p:nvSpPr>
        <p:spPr>
          <a:xfrm>
            <a:off x="124358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Social</a:t>
            </a:r>
            <a:endParaRPr lang="en-US" sz="1500" dirty="0"/>
          </a:p>
          <a:p>
            <a:pPr indent="0" marL="0">
              <a:buNone/>
            </a:pPr>
            <a:r>
              <a:rPr lang="en-US" sz="1200" dirty="0">
                <a:solidFill>
                  <a:schemeClr val="accent5"/>
                </a:solidFill>
              </a:rPr>
              <a:t>Helper</a:t>
            </a:r>
            <a:endParaRPr lang="en-US" sz="1500" dirty="0"/>
          </a:p>
        </p:txBody>
      </p:sp>
      <p:sp>
        <p:nvSpPr>
          <p:cNvPr id="26" name="Text 24"/>
          <p:cNvSpPr txBox="1"/>
          <p:nvPr/>
        </p:nvSpPr>
        <p:spPr>
          <a:xfrm>
            <a:off x="62179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Teaching, caring, helping people</a:t>
            </a:r>
            <a:endParaRPr lang="en-US" sz="1200" dirty="0"/>
          </a:p>
        </p:txBody>
      </p:sp>
      <p:sp>
        <p:nvSpPr>
          <p:cNvPr id="27" name="Text 25"/>
          <p:cNvSpPr txBox="1"/>
          <p:nvPr/>
        </p:nvSpPr>
        <p:spPr>
          <a:xfrm>
            <a:off x="62179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Teacher · Nurse</a:t>
            </a:r>
            <a:endParaRPr lang="en-US" sz="1100" dirty="0"/>
          </a:p>
        </p:txBody>
      </p:sp>
      <p:sp>
        <p:nvSpPr>
          <p:cNvPr id="28" name="riasec E card"/>
          <p:cNvSpPr/>
          <p:nvPr/>
        </p:nvSpPr>
        <p:spPr>
          <a:xfrm>
            <a:off x="3246120" y="2926080"/>
            <a:ext cx="2606040" cy="1325880"/>
          </a:xfrm>
          <a:prstGeom prst="roundRect">
            <a:avLst>
              <a:gd name="adj" fmla="val 8276"/>
            </a:avLst>
          </a:prstGeom>
          <a:solidFill>
            <a:schemeClr val="bg2"/>
          </a:solidFill>
          <a:ln/>
        </p:spPr>
      </p:sp>
      <p:sp>
        <p:nvSpPr>
          <p:cNvPr id="29" name="riasec E circle"/>
          <p:cNvSpPr/>
          <p:nvPr/>
        </p:nvSpPr>
        <p:spPr>
          <a:xfrm>
            <a:off x="3410712" y="3090672"/>
            <a:ext cx="502920" cy="502920"/>
          </a:xfrm>
          <a:prstGeom prst="ellipse">
            <a:avLst/>
          </a:prstGeom>
          <a:solidFill>
            <a:srgbClr val="F59E0B"/>
          </a:solidFill>
          <a:ln/>
        </p:spPr>
      </p:sp>
      <p:sp>
        <p:nvSpPr>
          <p:cNvPr id="30" name="Text 28"/>
          <p:cNvSpPr txBox="1"/>
          <p:nvPr/>
        </p:nvSpPr>
        <p:spPr>
          <a:xfrm>
            <a:off x="341071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31" name="Text 29"/>
          <p:cNvSpPr txBox="1"/>
          <p:nvPr/>
        </p:nvSpPr>
        <p:spPr>
          <a:xfrm>
            <a:off x="403250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Enterprising</a:t>
            </a:r>
            <a:endParaRPr lang="en-US" sz="1500" dirty="0"/>
          </a:p>
          <a:p>
            <a:pPr indent="0" marL="0">
              <a:buNone/>
            </a:pPr>
            <a:r>
              <a:rPr lang="en-US" sz="1200" dirty="0">
                <a:solidFill>
                  <a:schemeClr val="accent5"/>
                </a:solidFill>
              </a:rPr>
              <a:t>Persuader</a:t>
            </a:r>
            <a:endParaRPr lang="en-US" sz="1500" dirty="0"/>
          </a:p>
        </p:txBody>
      </p:sp>
      <p:sp>
        <p:nvSpPr>
          <p:cNvPr id="32" name="Text 30"/>
          <p:cNvSpPr txBox="1"/>
          <p:nvPr/>
        </p:nvSpPr>
        <p:spPr>
          <a:xfrm>
            <a:off x="341071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Leading, selling, starting things</a:t>
            </a:r>
            <a:endParaRPr lang="en-US" sz="1200" dirty="0"/>
          </a:p>
        </p:txBody>
      </p:sp>
      <p:sp>
        <p:nvSpPr>
          <p:cNvPr id="33" name="Text 31"/>
          <p:cNvSpPr txBox="1"/>
          <p:nvPr/>
        </p:nvSpPr>
        <p:spPr>
          <a:xfrm>
            <a:off x="341071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Entrepreneur · Lawyer</a:t>
            </a:r>
            <a:endParaRPr lang="en-US" sz="1100" dirty="0"/>
          </a:p>
        </p:txBody>
      </p:sp>
      <p:sp>
        <p:nvSpPr>
          <p:cNvPr id="34" name="riasec C card"/>
          <p:cNvSpPr/>
          <p:nvPr/>
        </p:nvSpPr>
        <p:spPr>
          <a:xfrm>
            <a:off x="6035040" y="2926080"/>
            <a:ext cx="2606040" cy="1325880"/>
          </a:xfrm>
          <a:prstGeom prst="roundRect">
            <a:avLst>
              <a:gd name="adj" fmla="val 8276"/>
            </a:avLst>
          </a:prstGeom>
          <a:solidFill>
            <a:schemeClr val="bg2"/>
          </a:solidFill>
          <a:ln/>
        </p:spPr>
      </p:sp>
      <p:sp>
        <p:nvSpPr>
          <p:cNvPr id="35" name="riasec C circle"/>
          <p:cNvSpPr/>
          <p:nvPr/>
        </p:nvSpPr>
        <p:spPr>
          <a:xfrm>
            <a:off x="6199632" y="3090672"/>
            <a:ext cx="502920" cy="502920"/>
          </a:xfrm>
          <a:prstGeom prst="ellipse">
            <a:avLst/>
          </a:prstGeom>
          <a:solidFill>
            <a:srgbClr val="022964"/>
          </a:solidFill>
          <a:ln/>
        </p:spPr>
      </p:sp>
      <p:sp>
        <p:nvSpPr>
          <p:cNvPr id="36" name="Text 34"/>
          <p:cNvSpPr txBox="1"/>
          <p:nvPr/>
        </p:nvSpPr>
        <p:spPr>
          <a:xfrm>
            <a:off x="619963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C</a:t>
            </a:r>
            <a:endParaRPr lang="en-US" sz="2200" dirty="0"/>
          </a:p>
        </p:txBody>
      </p:sp>
      <p:sp>
        <p:nvSpPr>
          <p:cNvPr id="37" name="Text 35"/>
          <p:cNvSpPr txBox="1"/>
          <p:nvPr/>
        </p:nvSpPr>
        <p:spPr>
          <a:xfrm>
            <a:off x="682142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Conventional</a:t>
            </a:r>
            <a:endParaRPr lang="en-US" sz="1500" dirty="0"/>
          </a:p>
          <a:p>
            <a:pPr indent="0" marL="0">
              <a:buNone/>
            </a:pPr>
            <a:r>
              <a:rPr lang="en-US" sz="1200" dirty="0">
                <a:solidFill>
                  <a:schemeClr val="accent5"/>
                </a:solidFill>
              </a:rPr>
              <a:t>Organiser</a:t>
            </a:r>
            <a:endParaRPr lang="en-US" sz="1500" dirty="0"/>
          </a:p>
        </p:txBody>
      </p:sp>
      <p:sp>
        <p:nvSpPr>
          <p:cNvPr id="38" name="Text 36"/>
          <p:cNvSpPr txBox="1"/>
          <p:nvPr/>
        </p:nvSpPr>
        <p:spPr>
          <a:xfrm>
            <a:off x="619963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Order, numbers and detail</a:t>
            </a:r>
            <a:endParaRPr lang="en-US" sz="1200" dirty="0"/>
          </a:p>
        </p:txBody>
      </p:sp>
      <p:sp>
        <p:nvSpPr>
          <p:cNvPr id="39" name="Text 37"/>
          <p:cNvSpPr txBox="1"/>
          <p:nvPr/>
        </p:nvSpPr>
        <p:spPr>
          <a:xfrm>
            <a:off x="619963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Accountant · Bank officer</a:t>
            </a:r>
            <a:endParaRPr lang="en-US" sz="1100" dirty="0"/>
          </a:p>
        </p:txBody>
      </p:sp>
      <p:sp>
        <p:nvSpPr>
          <p:cNvPr id="40" name="Text 38"/>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Based on John Holland’s theory of vocational choice (RIASEC). The app’s 36 interest questions are original and not yet validated.</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Psychometrics, done responsibly</a:t>
            </a:r>
            <a:endParaRPr lang="en-US" sz="2800" dirty="0"/>
          </a:p>
        </p:txBody>
      </p:sp>
      <p:sp>
        <p:nvSpPr>
          <p:cNvPr id="3" name="psychometrics 1"/>
          <p:cNvSpPr/>
          <p:nvPr/>
        </p:nvSpPr>
        <p:spPr>
          <a:xfrm>
            <a:off x="457200" y="1143000"/>
            <a:ext cx="2606040" cy="3154680"/>
          </a:xfrm>
          <a:prstGeom prst="roundRect">
            <a:avLst>
              <a:gd name="adj" fmla="val 4211"/>
            </a:avLst>
          </a:prstGeom>
          <a:solidFill>
            <a:schemeClr val="bg2"/>
          </a:solidFill>
          <a:ln/>
        </p:spPr>
      </p:sp>
      <p:sp>
        <p:nvSpPr>
          <p:cNvPr id="4" name="psychometrics 1 circle"/>
          <p:cNvSpPr/>
          <p:nvPr/>
        </p:nvSpPr>
        <p:spPr>
          <a:xfrm>
            <a:off x="640080" y="1325880"/>
            <a:ext cx="457200" cy="457200"/>
          </a:xfrm>
          <a:prstGeom prst="ellipse">
            <a:avLst/>
          </a:prstGeom>
          <a:solidFill>
            <a:schemeClr val="accent1"/>
          </a:solidFill>
          <a:ln/>
        </p:spPr>
      </p:sp>
      <p:pic>
        <p:nvPicPr>
          <p:cNvPr id="5" name="psychometrics 1 icon" descr="preencoded.png">    </p:cNvPr>
          <p:cNvPicPr>
            <a:picLocks noChangeAspect="1"/>
          </p:cNvPicPr>
          <p:nvPr/>
        </p:nvPicPr>
        <p:blipFill>
          <a:blip r:embed="rId1"/>
          <a:stretch>
            <a:fillRect/>
          </a:stretch>
        </p:blipFill>
        <p:spPr>
          <a:xfrm>
            <a:off x="758952" y="1444752"/>
            <a:ext cx="219456" cy="219456"/>
          </a:xfrm>
          <a:prstGeom prst="rect">
            <a:avLst/>
          </a:prstGeom>
        </p:spPr>
      </p:pic>
      <p:sp>
        <p:nvSpPr>
          <p:cNvPr id="6" name="Text 3"/>
          <p:cNvSpPr txBox="1"/>
          <p:nvPr/>
        </p:nvSpPr>
        <p:spPr>
          <a:xfrm>
            <a:off x="120700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What we measure</a:t>
            </a:r>
            <a:endParaRPr lang="en-US" sz="1600" dirty="0"/>
          </a:p>
        </p:txBody>
      </p:sp>
      <p:sp>
        <p:nvSpPr>
          <p:cNvPr id="7" name="Text 4"/>
          <p:cNvSpPr txBox="1"/>
          <p:nvPr/>
        </p:nvSpPr>
        <p:spPr>
          <a:xfrm>
            <a:off x="64008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Interests: 36 everyday activities, six per RIASEC type, from “really dislike” to “really like”.</a:t>
            </a:r>
            <a:endParaRPr lang="en-US" sz="1200" dirty="0"/>
          </a:p>
          <a:p>
            <a:pPr marL="152400" indent="-152400">
              <a:spcAft>
                <a:spcPts val="600"/>
              </a:spcAft>
              <a:buSzPct val="100000"/>
              <a:buChar char="•"/>
            </a:pPr>
            <a:r>
              <a:rPr lang="en-US" sz="1200" dirty="0">
                <a:solidFill>
                  <a:schemeClr val="tx1"/>
                </a:solidFill>
              </a:rPr>
              <a:t>Personality: the Big Five, with the 20-item public-domain Mini-IPIP.</a:t>
            </a:r>
            <a:endParaRPr lang="en-US" sz="1200" dirty="0"/>
          </a:p>
        </p:txBody>
      </p:sp>
      <p:sp>
        <p:nvSpPr>
          <p:cNvPr id="8" name="psychometrics 2"/>
          <p:cNvSpPr/>
          <p:nvPr/>
        </p:nvSpPr>
        <p:spPr>
          <a:xfrm>
            <a:off x="3246120" y="1143000"/>
            <a:ext cx="2606040" cy="3154680"/>
          </a:xfrm>
          <a:prstGeom prst="roundRect">
            <a:avLst>
              <a:gd name="adj" fmla="val 4211"/>
            </a:avLst>
          </a:prstGeom>
          <a:solidFill>
            <a:schemeClr val="bg2"/>
          </a:solidFill>
          <a:ln/>
        </p:spPr>
      </p:sp>
      <p:sp>
        <p:nvSpPr>
          <p:cNvPr id="9" name="psychometrics 2 circle"/>
          <p:cNvSpPr/>
          <p:nvPr/>
        </p:nvSpPr>
        <p:spPr>
          <a:xfrm>
            <a:off x="3429000" y="1325880"/>
            <a:ext cx="457200" cy="457200"/>
          </a:xfrm>
          <a:prstGeom prst="ellipse">
            <a:avLst/>
          </a:prstGeom>
          <a:solidFill>
            <a:schemeClr val="accent2"/>
          </a:solidFill>
          <a:ln/>
        </p:spPr>
      </p:sp>
      <p:pic>
        <p:nvPicPr>
          <p:cNvPr id="10" name="psychometrics 2 icon" descr="preencoded.png">    </p:cNvPr>
          <p:cNvPicPr>
            <a:picLocks noChangeAspect="1"/>
          </p:cNvPicPr>
          <p:nvPr/>
        </p:nvPicPr>
        <p:blipFill>
          <a:blip r:embed="rId2"/>
          <a:stretch>
            <a:fillRect/>
          </a:stretch>
        </p:blipFill>
        <p:spPr>
          <a:xfrm>
            <a:off x="3547872" y="1444752"/>
            <a:ext cx="219456" cy="219456"/>
          </a:xfrm>
          <a:prstGeom prst="rect">
            <a:avLst/>
          </a:prstGeom>
        </p:spPr>
      </p:pic>
      <p:sp>
        <p:nvSpPr>
          <p:cNvPr id="11" name="Text 7"/>
          <p:cNvSpPr txBox="1"/>
          <p:nvPr/>
        </p:nvSpPr>
        <p:spPr>
          <a:xfrm>
            <a:off x="399592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How it is scored</a:t>
            </a:r>
            <a:endParaRPr lang="en-US" sz="1600" dirty="0"/>
          </a:p>
        </p:txBody>
      </p:sp>
      <p:sp>
        <p:nvSpPr>
          <p:cNvPr id="12" name="Text 8"/>
          <p:cNvSpPr txBox="1"/>
          <p:nvPr/>
        </p:nvSpPr>
        <p:spPr>
          <a:xfrm>
            <a:off x="342900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Each type scores the share of “really like” it got; the top three form the interest code.</a:t>
            </a:r>
            <a:endParaRPr lang="en-US" sz="1200" dirty="0"/>
          </a:p>
          <a:p>
            <a:pPr marL="152400" indent="-152400">
              <a:spcAft>
                <a:spcPts val="600"/>
              </a:spcAft>
              <a:buSzPct val="100000"/>
              <a:buChar char="•"/>
            </a:pPr>
            <a:r>
              <a:rPr lang="en-US" sz="1200" dirty="0">
                <a:solidFill>
                  <a:schemeClr val="tx1"/>
                </a:solidFill>
              </a:rPr>
              <a:t>Careers are ranked by how well their RIASEC code matches the student’s.</a:t>
            </a:r>
            <a:endParaRPr lang="en-US" sz="1200" dirty="0"/>
          </a:p>
          <a:p>
            <a:pPr marL="152400" indent="-152400">
              <a:spcAft>
                <a:spcPts val="600"/>
              </a:spcAft>
              <a:buSzPct val="100000"/>
              <a:buChar char="•"/>
            </a:pPr>
            <a:r>
              <a:rPr lang="en-US" sz="1200" dirty="0">
                <a:solidFill>
                  <a:schemeClr val="tx1"/>
                </a:solidFill>
              </a:rPr>
              <a:t>Scored on the server only.</a:t>
            </a:r>
            <a:endParaRPr lang="en-US" sz="1200" dirty="0"/>
          </a:p>
        </p:txBody>
      </p:sp>
      <p:sp>
        <p:nvSpPr>
          <p:cNvPr id="13" name="psychometrics 3"/>
          <p:cNvSpPr/>
          <p:nvPr/>
        </p:nvSpPr>
        <p:spPr>
          <a:xfrm>
            <a:off x="6035040" y="1143000"/>
            <a:ext cx="2606040" cy="3154680"/>
          </a:xfrm>
          <a:prstGeom prst="roundRect">
            <a:avLst>
              <a:gd name="adj" fmla="val 4211"/>
            </a:avLst>
          </a:prstGeom>
          <a:solidFill>
            <a:schemeClr val="bg2"/>
          </a:solidFill>
          <a:ln/>
        </p:spPr>
      </p:sp>
      <p:sp>
        <p:nvSpPr>
          <p:cNvPr id="14" name="psychometrics 3 circle"/>
          <p:cNvSpPr/>
          <p:nvPr/>
        </p:nvSpPr>
        <p:spPr>
          <a:xfrm>
            <a:off x="6217920" y="1325880"/>
            <a:ext cx="457200" cy="457200"/>
          </a:xfrm>
          <a:prstGeom prst="ellipse">
            <a:avLst/>
          </a:prstGeom>
          <a:solidFill>
            <a:schemeClr val="accent3"/>
          </a:solidFill>
          <a:ln/>
        </p:spPr>
      </p:sp>
      <p:pic>
        <p:nvPicPr>
          <p:cNvPr id="15" name="psychometrics 3 icon" descr="preencoded.png">    </p:cNvPr>
          <p:cNvPicPr>
            <a:picLocks noChangeAspect="1"/>
          </p:cNvPicPr>
          <p:nvPr/>
        </p:nvPicPr>
        <p:blipFill>
          <a:blip r:embed="rId3"/>
          <a:stretch>
            <a:fillRect/>
          </a:stretch>
        </p:blipFill>
        <p:spPr>
          <a:xfrm>
            <a:off x="6336792" y="1444752"/>
            <a:ext cx="219456" cy="219456"/>
          </a:xfrm>
          <a:prstGeom prst="rect">
            <a:avLst/>
          </a:prstGeom>
        </p:spPr>
      </p:pic>
      <p:sp>
        <p:nvSpPr>
          <p:cNvPr id="16" name="Text 11"/>
          <p:cNvSpPr txBox="1"/>
          <p:nvPr/>
        </p:nvSpPr>
        <p:spPr>
          <a:xfrm>
            <a:off x="678484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Safeguards</a:t>
            </a:r>
            <a:endParaRPr lang="en-US" sz="1600" dirty="0"/>
          </a:p>
        </p:txBody>
      </p:sp>
      <p:sp>
        <p:nvSpPr>
          <p:cNvPr id="17" name="Text 12"/>
          <p:cNvSpPr txBox="1"/>
          <p:nvPr/>
        </p:nvSpPr>
        <p:spPr>
          <a:xfrm>
            <a:off x="621792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No ranking against other students.</a:t>
            </a:r>
            <a:endParaRPr lang="en-US" sz="1200" dirty="0"/>
          </a:p>
          <a:p>
            <a:pPr marL="152400" indent="-152400">
              <a:spcAft>
                <a:spcPts val="600"/>
              </a:spcAft>
              <a:buSzPct val="100000"/>
              <a:buChar char="•"/>
            </a:pPr>
            <a:r>
              <a:rPr lang="en-US" sz="1200" dirty="0">
                <a:solidFill>
                  <a:schemeClr val="tx1"/>
                </a:solidFill>
              </a:rPr>
              <a:t>Every trait framed as a strength; Neuroticism shown as Calmness.</a:t>
            </a:r>
            <a:endParaRPr lang="en-US" sz="1200" dirty="0"/>
          </a:p>
          <a:p>
            <a:pPr marL="152400" indent="-152400">
              <a:spcAft>
                <a:spcPts val="600"/>
              </a:spcAft>
              <a:buSzPct val="100000"/>
              <a:buChar char="•"/>
            </a:pPr>
            <a:r>
              <a:rPr lang="en-US" sz="1200" dirty="0">
                <a:solidFill>
                  <a:schemeClr val="tx1"/>
                </a:solidFill>
              </a:rPr>
              <a:t>Flags “same answer to everything”.</a:t>
            </a:r>
            <a:endParaRPr lang="en-US" sz="1200" dirty="0"/>
          </a:p>
          <a:p>
            <a:pPr marL="152400" indent="-152400">
              <a:spcAft>
                <a:spcPts val="600"/>
              </a:spcAft>
              <a:buSzPct val="100000"/>
              <a:buChar char="•"/>
            </a:pPr>
            <a:r>
              <a:rPr lang="en-US" sz="1200" dirty="0">
                <a:solidFill>
                  <a:schemeClr val="tx1"/>
                </a:solidFill>
              </a:rPr>
              <a:t>Called a starting point, not a verdict.</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it guides a student, step by step</a:t>
            </a:r>
            <a:endParaRPr lang="en-US" sz="2800" dirty="0"/>
          </a:p>
        </p:txBody>
      </p:sp>
      <p:sp>
        <p:nvSpPr>
          <p:cNvPr id="3" name="guide step 1"/>
          <p:cNvSpPr/>
          <p:nvPr/>
        </p:nvSpPr>
        <p:spPr>
          <a:xfrm>
            <a:off x="457200" y="1143000"/>
            <a:ext cx="2606040" cy="1371600"/>
          </a:xfrm>
          <a:prstGeom prst="roundRect">
            <a:avLst>
              <a:gd name="adj" fmla="val 8000"/>
            </a:avLst>
          </a:prstGeom>
          <a:solidFill>
            <a:schemeClr val="bg2"/>
          </a:solidFill>
          <a:ln w="12700">
            <a:solidFill>
              <a:srgbClr val="DBEAFE"/>
            </a:solidFill>
            <a:prstDash val="solid"/>
          </a:ln>
        </p:spPr>
      </p:sp>
      <p:sp>
        <p:nvSpPr>
          <p:cNvPr id="4" name="guide step 1 number"/>
          <p:cNvSpPr/>
          <p:nvPr/>
        </p:nvSpPr>
        <p:spPr>
          <a:xfrm>
            <a:off x="621792" y="1307592"/>
            <a:ext cx="457200" cy="457200"/>
          </a:xfrm>
          <a:prstGeom prst="ellipse">
            <a:avLst/>
          </a:prstGeom>
          <a:solidFill>
            <a:schemeClr val="accent2"/>
          </a:solidFill>
          <a:ln/>
        </p:spPr>
      </p:sp>
      <p:sp>
        <p:nvSpPr>
          <p:cNvPr id="5" name="Text 3"/>
          <p:cNvSpPr txBox="1"/>
          <p:nvPr/>
        </p:nvSpPr>
        <p:spPr>
          <a:xfrm>
            <a:off x="62179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0700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Discover</a:t>
            </a:r>
            <a:endParaRPr lang="en-US" sz="1700" dirty="0"/>
          </a:p>
        </p:txBody>
      </p:sp>
      <p:sp>
        <p:nvSpPr>
          <p:cNvPr id="7" name="guide step 1 icon circle"/>
          <p:cNvSpPr/>
          <p:nvPr/>
        </p:nvSpPr>
        <p:spPr>
          <a:xfrm>
            <a:off x="2514600" y="1325880"/>
            <a:ext cx="402336" cy="402336"/>
          </a:xfrm>
          <a:prstGeom prst="ellipse">
            <a:avLst/>
          </a:prstGeom>
          <a:solidFill>
            <a:schemeClr val="accent1"/>
          </a:solidFill>
          <a:ln/>
        </p:spPr>
      </p:sp>
      <p:pic>
        <p:nvPicPr>
          <p:cNvPr id="8" name="guide step 1 icon icon" descr="preencoded.png">    </p:cNvPr>
          <p:cNvPicPr>
            <a:picLocks noChangeAspect="1"/>
          </p:cNvPicPr>
          <p:nvPr/>
        </p:nvPicPr>
        <p:blipFill>
          <a:blip r:embed="rId1"/>
          <a:stretch>
            <a:fillRect/>
          </a:stretch>
        </p:blipFill>
        <p:spPr>
          <a:xfrm>
            <a:off x="2619207" y="1430487"/>
            <a:ext cx="193121" cy="193121"/>
          </a:xfrm>
          <a:prstGeom prst="rect">
            <a:avLst/>
          </a:prstGeom>
        </p:spPr>
      </p:pic>
      <p:sp>
        <p:nvSpPr>
          <p:cNvPr id="9" name="Text 6"/>
          <p:cNvSpPr txBox="1"/>
          <p:nvPr/>
        </p:nvSpPr>
        <p:spPr>
          <a:xfrm>
            <a:off x="62179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Take the 10-minute test on any phone.</a:t>
            </a:r>
            <a:endParaRPr lang="en-US" sz="1300" dirty="0"/>
          </a:p>
        </p:txBody>
      </p:sp>
      <p:sp>
        <p:nvSpPr>
          <p:cNvPr id="10" name="guide step 2"/>
          <p:cNvSpPr/>
          <p:nvPr/>
        </p:nvSpPr>
        <p:spPr>
          <a:xfrm>
            <a:off x="3246120" y="1143000"/>
            <a:ext cx="2606040" cy="1371600"/>
          </a:xfrm>
          <a:prstGeom prst="roundRect">
            <a:avLst>
              <a:gd name="adj" fmla="val 8000"/>
            </a:avLst>
          </a:prstGeom>
          <a:solidFill>
            <a:schemeClr val="bg2"/>
          </a:solidFill>
          <a:ln w="12700">
            <a:solidFill>
              <a:srgbClr val="DBEAFE"/>
            </a:solidFill>
            <a:prstDash val="solid"/>
          </a:ln>
        </p:spPr>
      </p:sp>
      <p:sp>
        <p:nvSpPr>
          <p:cNvPr id="11" name="guide step 2 number"/>
          <p:cNvSpPr/>
          <p:nvPr/>
        </p:nvSpPr>
        <p:spPr>
          <a:xfrm>
            <a:off x="3410712" y="1307592"/>
            <a:ext cx="457200" cy="457200"/>
          </a:xfrm>
          <a:prstGeom prst="ellipse">
            <a:avLst/>
          </a:prstGeom>
          <a:solidFill>
            <a:schemeClr val="accent2"/>
          </a:solidFill>
          <a:ln/>
        </p:spPr>
      </p:sp>
      <p:sp>
        <p:nvSpPr>
          <p:cNvPr id="12" name="Text 9"/>
          <p:cNvSpPr txBox="1"/>
          <p:nvPr/>
        </p:nvSpPr>
        <p:spPr>
          <a:xfrm>
            <a:off x="341071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10"/>
          <p:cNvSpPr txBox="1"/>
          <p:nvPr/>
        </p:nvSpPr>
        <p:spPr>
          <a:xfrm>
            <a:off x="399592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Understand</a:t>
            </a:r>
            <a:endParaRPr lang="en-US" sz="1700" dirty="0"/>
          </a:p>
        </p:txBody>
      </p:sp>
      <p:sp>
        <p:nvSpPr>
          <p:cNvPr id="14" name="guide step 2 icon circle"/>
          <p:cNvSpPr/>
          <p:nvPr/>
        </p:nvSpPr>
        <p:spPr>
          <a:xfrm>
            <a:off x="5303520" y="1325880"/>
            <a:ext cx="402336" cy="402336"/>
          </a:xfrm>
          <a:prstGeom prst="ellipse">
            <a:avLst/>
          </a:prstGeom>
          <a:solidFill>
            <a:schemeClr val="accent1"/>
          </a:solidFill>
          <a:ln/>
        </p:spPr>
      </p:sp>
      <p:pic>
        <p:nvPicPr>
          <p:cNvPr id="15" name="guide step 2 icon icon" descr="preencoded.png">    </p:cNvPr>
          <p:cNvPicPr>
            <a:picLocks noChangeAspect="1"/>
          </p:cNvPicPr>
          <p:nvPr/>
        </p:nvPicPr>
        <p:blipFill>
          <a:blip r:embed="rId2"/>
          <a:stretch>
            <a:fillRect/>
          </a:stretch>
        </p:blipFill>
        <p:spPr>
          <a:xfrm>
            <a:off x="5408127" y="1430487"/>
            <a:ext cx="193121" cy="193121"/>
          </a:xfrm>
          <a:prstGeom prst="rect">
            <a:avLst/>
          </a:prstGeom>
        </p:spPr>
      </p:pic>
      <p:sp>
        <p:nvSpPr>
          <p:cNvPr id="16" name="Text 12"/>
          <p:cNvSpPr txBox="1"/>
          <p:nvPr/>
        </p:nvSpPr>
        <p:spPr>
          <a:xfrm>
            <a:off x="341071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their interest code and strengths in plain words.</a:t>
            </a:r>
            <a:endParaRPr lang="en-US" sz="1300" dirty="0"/>
          </a:p>
        </p:txBody>
      </p:sp>
      <p:sp>
        <p:nvSpPr>
          <p:cNvPr id="17" name="guide step 3"/>
          <p:cNvSpPr/>
          <p:nvPr/>
        </p:nvSpPr>
        <p:spPr>
          <a:xfrm>
            <a:off x="6035040" y="1143000"/>
            <a:ext cx="2606040" cy="1371600"/>
          </a:xfrm>
          <a:prstGeom prst="roundRect">
            <a:avLst>
              <a:gd name="adj" fmla="val 8000"/>
            </a:avLst>
          </a:prstGeom>
          <a:solidFill>
            <a:schemeClr val="bg2"/>
          </a:solidFill>
          <a:ln w="12700">
            <a:solidFill>
              <a:srgbClr val="DBEAFE"/>
            </a:solidFill>
            <a:prstDash val="solid"/>
          </a:ln>
        </p:spPr>
      </p:sp>
      <p:sp>
        <p:nvSpPr>
          <p:cNvPr id="18" name="guide step 3 number"/>
          <p:cNvSpPr/>
          <p:nvPr/>
        </p:nvSpPr>
        <p:spPr>
          <a:xfrm>
            <a:off x="6199632" y="1307592"/>
            <a:ext cx="457200" cy="457200"/>
          </a:xfrm>
          <a:prstGeom prst="ellipse">
            <a:avLst/>
          </a:prstGeom>
          <a:solidFill>
            <a:schemeClr val="accent2"/>
          </a:solidFill>
          <a:ln/>
        </p:spPr>
      </p:sp>
      <p:sp>
        <p:nvSpPr>
          <p:cNvPr id="19" name="Text 15"/>
          <p:cNvSpPr txBox="1"/>
          <p:nvPr/>
        </p:nvSpPr>
        <p:spPr>
          <a:xfrm>
            <a:off x="619963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0" name="Text 16"/>
          <p:cNvSpPr txBox="1"/>
          <p:nvPr/>
        </p:nvSpPr>
        <p:spPr>
          <a:xfrm>
            <a:off x="678484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Explore</a:t>
            </a:r>
            <a:endParaRPr lang="en-US" sz="1700" dirty="0"/>
          </a:p>
        </p:txBody>
      </p:sp>
      <p:sp>
        <p:nvSpPr>
          <p:cNvPr id="21" name="guide step 3 icon circle"/>
          <p:cNvSpPr/>
          <p:nvPr/>
        </p:nvSpPr>
        <p:spPr>
          <a:xfrm>
            <a:off x="8092440" y="1325880"/>
            <a:ext cx="402336" cy="402336"/>
          </a:xfrm>
          <a:prstGeom prst="ellipse">
            <a:avLst/>
          </a:prstGeom>
          <a:solidFill>
            <a:schemeClr val="accent1"/>
          </a:solidFill>
          <a:ln/>
        </p:spPr>
      </p:sp>
      <p:pic>
        <p:nvPicPr>
          <p:cNvPr id="22" name="guide step 3 icon icon" descr="preencoded.png">    </p:cNvPr>
          <p:cNvPicPr>
            <a:picLocks noChangeAspect="1"/>
          </p:cNvPicPr>
          <p:nvPr/>
        </p:nvPicPr>
        <p:blipFill>
          <a:blip r:embed="rId3"/>
          <a:stretch>
            <a:fillRect/>
          </a:stretch>
        </p:blipFill>
        <p:spPr>
          <a:xfrm>
            <a:off x="8197047" y="1430487"/>
            <a:ext cx="193121" cy="193121"/>
          </a:xfrm>
          <a:prstGeom prst="rect">
            <a:avLst/>
          </a:prstGeom>
        </p:spPr>
      </p:pic>
      <p:sp>
        <p:nvSpPr>
          <p:cNvPr id="23" name="Text 18"/>
          <p:cNvSpPr txBox="1"/>
          <p:nvPr/>
        </p:nvSpPr>
        <p:spPr>
          <a:xfrm>
            <a:off x="619963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36 careers ranked by fit, each with the route from Class 10.</a:t>
            </a:r>
            <a:endParaRPr lang="en-US" sz="1300" dirty="0"/>
          </a:p>
        </p:txBody>
      </p:sp>
      <p:sp>
        <p:nvSpPr>
          <p:cNvPr id="24" name="guide step 4"/>
          <p:cNvSpPr/>
          <p:nvPr/>
        </p:nvSpPr>
        <p:spPr>
          <a:xfrm>
            <a:off x="457200" y="2697480"/>
            <a:ext cx="2606040" cy="1371600"/>
          </a:xfrm>
          <a:prstGeom prst="roundRect">
            <a:avLst>
              <a:gd name="adj" fmla="val 8000"/>
            </a:avLst>
          </a:prstGeom>
          <a:solidFill>
            <a:schemeClr val="bg1"/>
          </a:solidFill>
          <a:ln w="12700">
            <a:solidFill>
              <a:srgbClr val="DBEAFE"/>
            </a:solidFill>
            <a:prstDash val="solid"/>
          </a:ln>
        </p:spPr>
      </p:sp>
      <p:sp>
        <p:nvSpPr>
          <p:cNvPr id="25" name="guide step 4 number"/>
          <p:cNvSpPr/>
          <p:nvPr/>
        </p:nvSpPr>
        <p:spPr>
          <a:xfrm>
            <a:off x="621792" y="2862072"/>
            <a:ext cx="457200" cy="457200"/>
          </a:xfrm>
          <a:prstGeom prst="ellipse">
            <a:avLst/>
          </a:prstGeom>
          <a:solidFill>
            <a:schemeClr val="accent2"/>
          </a:solidFill>
          <a:ln/>
        </p:spPr>
      </p:sp>
      <p:sp>
        <p:nvSpPr>
          <p:cNvPr id="26" name="Text 21"/>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7" name="Text 22"/>
          <p:cNvSpPr txBox="1"/>
          <p:nvPr/>
        </p:nvSpPr>
        <p:spPr>
          <a:xfrm>
            <a:off x="120700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Plan</a:t>
            </a:r>
            <a:endParaRPr lang="en-US" sz="1700" dirty="0"/>
          </a:p>
        </p:txBody>
      </p:sp>
      <p:sp>
        <p:nvSpPr>
          <p:cNvPr id="28" name="guide step 4 icon circle"/>
          <p:cNvSpPr/>
          <p:nvPr/>
        </p:nvSpPr>
        <p:spPr>
          <a:xfrm>
            <a:off x="2514600" y="2880360"/>
            <a:ext cx="402336" cy="402336"/>
          </a:xfrm>
          <a:prstGeom prst="ellipse">
            <a:avLst/>
          </a:prstGeom>
          <a:solidFill>
            <a:schemeClr val="accent1"/>
          </a:solidFill>
          <a:ln/>
        </p:spPr>
      </p:sp>
      <p:pic>
        <p:nvPicPr>
          <p:cNvPr id="29" name="guide step 4 icon icon" descr="preencoded.png">    </p:cNvPr>
          <p:cNvPicPr>
            <a:picLocks noChangeAspect="1"/>
          </p:cNvPicPr>
          <p:nvPr/>
        </p:nvPicPr>
        <p:blipFill>
          <a:blip r:embed="rId4"/>
          <a:stretch>
            <a:fillRect/>
          </a:stretch>
        </p:blipFill>
        <p:spPr>
          <a:xfrm>
            <a:off x="2619207" y="2984967"/>
            <a:ext cx="193121" cy="193121"/>
          </a:xfrm>
          <a:prstGeom prst="rect">
            <a:avLst/>
          </a:prstGeom>
        </p:spPr>
      </p:pic>
      <p:sp>
        <p:nvSpPr>
          <p:cNvPr id="30" name="Text 24"/>
          <p:cNvSpPr txBox="1"/>
          <p:nvPr/>
        </p:nvSpPr>
        <p:spPr>
          <a:xfrm>
            <a:off x="62179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Choose next steps for this year and save the plan.</a:t>
            </a:r>
            <a:endParaRPr lang="en-US" sz="1300" dirty="0"/>
          </a:p>
        </p:txBody>
      </p:sp>
      <p:sp>
        <p:nvSpPr>
          <p:cNvPr id="31" name="guide step 5"/>
          <p:cNvSpPr/>
          <p:nvPr/>
        </p:nvSpPr>
        <p:spPr>
          <a:xfrm>
            <a:off x="3246120" y="2697480"/>
            <a:ext cx="2606040" cy="1371600"/>
          </a:xfrm>
          <a:prstGeom prst="roundRect">
            <a:avLst>
              <a:gd name="adj" fmla="val 8000"/>
            </a:avLst>
          </a:prstGeom>
          <a:solidFill>
            <a:schemeClr val="bg1"/>
          </a:solidFill>
          <a:ln w="12700">
            <a:solidFill>
              <a:srgbClr val="DBEAFE"/>
            </a:solidFill>
            <a:prstDash val="solid"/>
          </a:ln>
        </p:spPr>
      </p:sp>
      <p:sp>
        <p:nvSpPr>
          <p:cNvPr id="32" name="guide step 5 number"/>
          <p:cNvSpPr/>
          <p:nvPr/>
        </p:nvSpPr>
        <p:spPr>
          <a:xfrm>
            <a:off x="3410712" y="2862072"/>
            <a:ext cx="457200" cy="457200"/>
          </a:xfrm>
          <a:prstGeom prst="ellipse">
            <a:avLst/>
          </a:prstGeom>
          <a:solidFill>
            <a:schemeClr val="accent2"/>
          </a:solidFill>
          <a:ln/>
        </p:spPr>
      </p:sp>
      <p:sp>
        <p:nvSpPr>
          <p:cNvPr id="33" name="Text 27"/>
          <p:cNvSpPr txBox="1"/>
          <p:nvPr/>
        </p:nvSpPr>
        <p:spPr>
          <a:xfrm>
            <a:off x="341071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34" name="Text 28"/>
          <p:cNvSpPr txBox="1"/>
          <p:nvPr/>
        </p:nvSpPr>
        <p:spPr>
          <a:xfrm>
            <a:off x="399592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Talk</a:t>
            </a:r>
            <a:endParaRPr lang="en-US" sz="1700" dirty="0"/>
          </a:p>
        </p:txBody>
      </p:sp>
      <p:sp>
        <p:nvSpPr>
          <p:cNvPr id="35" name="guide step 5 icon circle"/>
          <p:cNvSpPr/>
          <p:nvPr/>
        </p:nvSpPr>
        <p:spPr>
          <a:xfrm>
            <a:off x="5303520" y="2880360"/>
            <a:ext cx="402336" cy="402336"/>
          </a:xfrm>
          <a:prstGeom prst="ellipse">
            <a:avLst/>
          </a:prstGeom>
          <a:solidFill>
            <a:schemeClr val="accent1"/>
          </a:solidFill>
          <a:ln/>
        </p:spPr>
      </p:sp>
      <p:pic>
        <p:nvPicPr>
          <p:cNvPr id="36" name="guide step 5 icon icon" descr="preencoded.png">    </p:cNvPr>
          <p:cNvPicPr>
            <a:picLocks noChangeAspect="1"/>
          </p:cNvPicPr>
          <p:nvPr/>
        </p:nvPicPr>
        <p:blipFill>
          <a:blip r:embed="rId5"/>
          <a:stretch>
            <a:fillRect/>
          </a:stretch>
        </p:blipFill>
        <p:spPr>
          <a:xfrm>
            <a:off x="5408127" y="2984967"/>
            <a:ext cx="193121" cy="193121"/>
          </a:xfrm>
          <a:prstGeom prst="rect">
            <a:avLst/>
          </a:prstGeom>
        </p:spPr>
      </p:pic>
      <p:sp>
        <p:nvSpPr>
          <p:cNvPr id="37" name="Text 30"/>
          <p:cNvSpPr txBox="1"/>
          <p:nvPr/>
        </p:nvSpPr>
        <p:spPr>
          <a:xfrm>
            <a:off x="341071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Print the report; discuss it with family and teachers.</a:t>
            </a:r>
            <a:endParaRPr lang="en-US" sz="1300" dirty="0"/>
          </a:p>
        </p:txBody>
      </p:sp>
      <p:sp>
        <p:nvSpPr>
          <p:cNvPr id="38" name="guide step 6"/>
          <p:cNvSpPr/>
          <p:nvPr/>
        </p:nvSpPr>
        <p:spPr>
          <a:xfrm>
            <a:off x="6035040" y="2697480"/>
            <a:ext cx="2606040" cy="1371600"/>
          </a:xfrm>
          <a:prstGeom prst="roundRect">
            <a:avLst>
              <a:gd name="adj" fmla="val 8000"/>
            </a:avLst>
          </a:prstGeom>
          <a:solidFill>
            <a:schemeClr val="bg1"/>
          </a:solidFill>
          <a:ln w="12700">
            <a:solidFill>
              <a:srgbClr val="DBEAFE"/>
            </a:solidFill>
            <a:prstDash val="solid"/>
          </a:ln>
        </p:spPr>
      </p:sp>
      <p:sp>
        <p:nvSpPr>
          <p:cNvPr id="39" name="guide step 6 number"/>
          <p:cNvSpPr/>
          <p:nvPr/>
        </p:nvSpPr>
        <p:spPr>
          <a:xfrm>
            <a:off x="6199632" y="2862072"/>
            <a:ext cx="457200" cy="457200"/>
          </a:xfrm>
          <a:prstGeom prst="ellipse">
            <a:avLst/>
          </a:prstGeom>
          <a:solidFill>
            <a:schemeClr val="accent2"/>
          </a:solidFill>
          <a:ln/>
        </p:spPr>
      </p:sp>
      <p:sp>
        <p:nvSpPr>
          <p:cNvPr id="40" name="Text 33"/>
          <p:cNvSpPr txBox="1"/>
          <p:nvPr/>
        </p:nvSpPr>
        <p:spPr>
          <a:xfrm>
            <a:off x="619963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41" name="Text 34"/>
          <p:cNvSpPr txBox="1"/>
          <p:nvPr/>
        </p:nvSpPr>
        <p:spPr>
          <a:xfrm>
            <a:off x="678484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Reflect</a:t>
            </a:r>
            <a:endParaRPr lang="en-US" sz="1700" dirty="0"/>
          </a:p>
        </p:txBody>
      </p:sp>
      <p:sp>
        <p:nvSpPr>
          <p:cNvPr id="42" name="guide step 6 icon circle"/>
          <p:cNvSpPr/>
          <p:nvPr/>
        </p:nvSpPr>
        <p:spPr>
          <a:xfrm>
            <a:off x="8092440" y="2880360"/>
            <a:ext cx="402336" cy="402336"/>
          </a:xfrm>
          <a:prstGeom prst="ellipse">
            <a:avLst/>
          </a:prstGeom>
          <a:solidFill>
            <a:schemeClr val="accent1"/>
          </a:solidFill>
          <a:ln/>
        </p:spPr>
      </p:sp>
      <p:pic>
        <p:nvPicPr>
          <p:cNvPr id="43" name="guide step 6 icon icon" descr="preencoded.png">    </p:cNvPr>
          <p:cNvPicPr>
            <a:picLocks noChangeAspect="1"/>
          </p:cNvPicPr>
          <p:nvPr/>
        </p:nvPicPr>
        <p:blipFill>
          <a:blip r:embed="rId6"/>
          <a:stretch>
            <a:fillRect/>
          </a:stretch>
        </p:blipFill>
        <p:spPr>
          <a:xfrm>
            <a:off x="8197047" y="2984967"/>
            <a:ext cx="193121" cy="193121"/>
          </a:xfrm>
          <a:prstGeom prst="rect">
            <a:avLst/>
          </a:prstGeom>
        </p:spPr>
      </p:pic>
      <p:sp>
        <p:nvSpPr>
          <p:cNvPr id="44" name="Text 36"/>
          <p:cNvSpPr txBox="1"/>
          <p:nvPr/>
        </p:nvSpPr>
        <p:spPr>
          <a:xfrm>
            <a:off x="619963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Write in the passbook; retake each year and see how they have grown.</a:t>
            </a:r>
            <a:endParaRPr lang="en-US" sz="1300" dirty="0"/>
          </a:p>
        </p:txBody>
      </p:sp>
      <p:sp>
        <p:nvSpPr>
          <p:cNvPr id="45" name="Text 37"/>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Every step is recorded in the student’s career passbook.</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sign-in,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today; one function to plug in an AI model.</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Hashed passwords, a 5-try lock, signed sessions, pages gated by role.</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14 automated tests for scoring and the API</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fewer than 1 in 10 low-income students get guidance today.</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school: students who finish, reports discussed at home, teacher use in subject choice.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tx2"/>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In progress</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Built in AgentFoundry: reads the result, finds careers, saves a plan.</a:t>
            </a:r>
            <a:endParaRPr lang="en-US" sz="1300" dirty="0"/>
          </a:p>
        </p:txBody>
      </p:sp>
      <p:sp>
        <p:nvSpPr>
          <p:cNvPr id="14" name="milestone 3 circle"/>
          <p:cNvSpPr/>
          <p:nvPr/>
        </p:nvSpPr>
        <p:spPr>
          <a:xfrm>
            <a:off x="5230368" y="1344168"/>
            <a:ext cx="640080" cy="640080"/>
          </a:xfrm>
          <a:prstGeom prst="ellipse">
            <a:avLst/>
          </a:prstGeom>
          <a:solidFill>
            <a:schemeClr val="accent1"/>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Pilot with a school</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With a partner school, measuring use and outcomes.</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npm run seed:demo, then sign in as student S001 / student-demo or teacher T001 / teacher-demo</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2026-10-28T15:35:07Z</dcterms:created>
  <dcterms:modified xsi:type="dcterms:W3CDTF">2026-10-28T15:35:07Z</dcterms:modified>
</cp:coreProperties>
</file>